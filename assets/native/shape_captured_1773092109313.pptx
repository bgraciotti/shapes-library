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5FA55B-00EE-DCA0-96AF-007C16CA7F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054F84-841A-580E-A61E-C996464555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24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9D5E2F-C2E9-BA7F-2E20-98C0DEEB0E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2C5CB1-F59B-7EFE-FC4A-70AD8676F7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90BA01-CDBD-4574-4203-F03D82F06BBC}"/>
              </a:ext>
            </a:extLst>
          </p:cNvPr>
          <p:cNvSpPr/>
          <p:nvPr/>
        </p:nvSpPr>
        <p:spPr>
          <a:xfrm>
            <a:off x="357723" y="1170539"/>
            <a:ext cx="838589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800" tIns="45720" rIns="0" bIns="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Business Stage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EB1FEE-7DED-BB03-48E6-64E06070C72F}"/>
              </a:ext>
            </a:extLst>
          </p:cNvPr>
          <p:cNvCxnSpPr>
            <a:cxnSpLocks/>
          </p:cNvCxnSpPr>
          <p:nvPr/>
        </p:nvCxnSpPr>
        <p:spPr>
          <a:xfrm>
            <a:off x="357724" y="1588348"/>
            <a:ext cx="8385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C56A486-AC5B-F4F8-EBC4-43508E72781A}"/>
              </a:ext>
            </a:extLst>
          </p:cNvPr>
          <p:cNvSpPr/>
          <p:nvPr/>
        </p:nvSpPr>
        <p:spPr>
          <a:xfrm>
            <a:off x="357724" y="1669314"/>
            <a:ext cx="838589" cy="47340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Business Building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68566B-F924-1782-1E02-55AEC0D764F3}"/>
              </a:ext>
            </a:extLst>
          </p:cNvPr>
          <p:cNvSpPr/>
          <p:nvPr/>
        </p:nvSpPr>
        <p:spPr>
          <a:xfrm>
            <a:off x="2353347" y="1170539"/>
            <a:ext cx="4067998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800" tIns="45720" rIns="468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Risks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2A7476-62A9-FC0A-7BEB-0E08CA79D84E}"/>
              </a:ext>
            </a:extLst>
          </p:cNvPr>
          <p:cNvCxnSpPr>
            <a:cxnSpLocks/>
          </p:cNvCxnSpPr>
          <p:nvPr/>
        </p:nvCxnSpPr>
        <p:spPr>
          <a:xfrm>
            <a:off x="2353349" y="1588348"/>
            <a:ext cx="40679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51E57C-26DC-D752-CC15-39BA2299DE3D}"/>
              </a:ext>
            </a:extLst>
          </p:cNvPr>
          <p:cNvSpPr txBox="1"/>
          <p:nvPr/>
        </p:nvSpPr>
        <p:spPr>
          <a:xfrm>
            <a:off x="2353347" y="5604320"/>
            <a:ext cx="4067998" cy="37338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144000" indent="-1440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Lack of agility to implement product roadmap and/or to react to new market dynamics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D8C9F-B4F6-F4CA-EB8C-C2973A40F831}"/>
              </a:ext>
            </a:extLst>
          </p:cNvPr>
          <p:cNvSpPr txBox="1"/>
          <p:nvPr/>
        </p:nvSpPr>
        <p:spPr>
          <a:xfrm>
            <a:off x="2353347" y="6029932"/>
            <a:ext cx="4067998" cy="37338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144000" indent="-1440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Client misalignment with New Co´s risk sharing and penalization model, potentially leading to legal issues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36ABD-6978-EBE6-E1D9-D816AB1696B4}"/>
              </a:ext>
            </a:extLst>
          </p:cNvPr>
          <p:cNvSpPr txBox="1"/>
          <p:nvPr/>
        </p:nvSpPr>
        <p:spPr>
          <a:xfrm>
            <a:off x="2353347" y="5126473"/>
            <a:ext cx="4067998" cy="37338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144000" indent="-144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Limitation concerning facial data monetization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11AE22-EF5A-C7E6-FC50-DB0293976FA4}"/>
              </a:ext>
            </a:extLst>
          </p:cNvPr>
          <p:cNvSpPr txBox="1"/>
          <p:nvPr/>
        </p:nvSpPr>
        <p:spPr>
          <a:xfrm>
            <a:off x="2353347" y="2946162"/>
            <a:ext cx="4067998" cy="37338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144000" indent="-144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Increased presence of government solutions in the market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47F7F9-857C-5677-790E-508845C621ED}"/>
              </a:ext>
            </a:extLst>
          </p:cNvPr>
          <p:cNvSpPr txBox="1"/>
          <p:nvPr/>
        </p:nvSpPr>
        <p:spPr>
          <a:xfrm>
            <a:off x="2353347" y="2094930"/>
            <a:ext cx="4067998" cy="37338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144000" indent="-144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Disruption of biometric modality (from facial to others, such as iris, fingerprint, </a:t>
            </a:r>
            <a:r>
              <a:rPr lang="en-US" sz="1200" err="1"/>
              <a:t>etc</a:t>
            </a:r>
            <a:r>
              <a:rPr lang="en-US" sz="120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974FBC-3E76-E0ED-E599-A906234B6067}"/>
              </a:ext>
            </a:extLst>
          </p:cNvPr>
          <p:cNvSpPr txBox="1"/>
          <p:nvPr/>
        </p:nvSpPr>
        <p:spPr>
          <a:xfrm>
            <a:off x="2353347" y="2520546"/>
            <a:ext cx="4067998" cy="37338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144000" indent="-144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Restriction to subcontract vendors, impacting New Co´s intelligence orchestrator feature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445AB1-0953-B5F0-6B79-E5FBF817564E}"/>
              </a:ext>
            </a:extLst>
          </p:cNvPr>
          <p:cNvSpPr txBox="1"/>
          <p:nvPr/>
        </p:nvSpPr>
        <p:spPr>
          <a:xfrm>
            <a:off x="2353347" y="4223011"/>
            <a:ext cx="4067998" cy="37338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144000" indent="-144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Low client usage maturity, demanding additional effort from the commercial team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DED419-F657-7DE8-340B-2F396F6D2BEB}"/>
              </a:ext>
            </a:extLst>
          </p:cNvPr>
          <p:cNvSpPr txBox="1"/>
          <p:nvPr/>
        </p:nvSpPr>
        <p:spPr>
          <a:xfrm>
            <a:off x="2353347" y="3797395"/>
            <a:ext cx="4067998" cy="37338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144000" indent="-144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Low willingness to change solutions, given switching costs / inertia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45EF5E-29DD-A537-A6B5-CD74FBEA3FEC}"/>
              </a:ext>
            </a:extLst>
          </p:cNvPr>
          <p:cNvSpPr txBox="1"/>
          <p:nvPr/>
        </p:nvSpPr>
        <p:spPr>
          <a:xfrm>
            <a:off x="2353347" y="3371778"/>
            <a:ext cx="4067998" cy="37338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144000" indent="-144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Perception of low differentiating factors among other market players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D4C682-402E-975C-ABA3-842565C2B3A1}"/>
              </a:ext>
            </a:extLst>
          </p:cNvPr>
          <p:cNvSpPr txBox="1"/>
          <p:nvPr/>
        </p:nvSpPr>
        <p:spPr>
          <a:xfrm>
            <a:off x="2353347" y="1669314"/>
            <a:ext cx="4067998" cy="37338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144000" indent="-144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Low willingness from market players to share their data with New Co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AAD1F3-890B-BCD9-B358-C8D8B2E865F7}"/>
              </a:ext>
            </a:extLst>
          </p:cNvPr>
          <p:cNvSpPr txBox="1"/>
          <p:nvPr/>
        </p:nvSpPr>
        <p:spPr>
          <a:xfrm>
            <a:off x="2353347" y="4648627"/>
            <a:ext cx="4067998" cy="37338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144000" indent="-144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/>
              <a:t>Project benchmark study limited to local products and market trends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FA30164-D3D9-BDEB-E06F-A9F01BC44648}"/>
              </a:ext>
            </a:extLst>
          </p:cNvPr>
          <p:cNvCxnSpPr>
            <a:cxnSpLocks/>
          </p:cNvCxnSpPr>
          <p:nvPr/>
        </p:nvCxnSpPr>
        <p:spPr>
          <a:xfrm>
            <a:off x="6479581" y="1588348"/>
            <a:ext cx="7719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90C2456-08BE-333B-C8E9-D1569422041E}"/>
              </a:ext>
            </a:extLst>
          </p:cNvPr>
          <p:cNvSpPr/>
          <p:nvPr/>
        </p:nvSpPr>
        <p:spPr>
          <a:xfrm>
            <a:off x="6479581" y="1170539"/>
            <a:ext cx="771937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800" tIns="45720" rIns="468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Impact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658108-7861-A3E4-73B8-A4DADAFBEDEA}"/>
              </a:ext>
            </a:extLst>
          </p:cNvPr>
          <p:cNvSpPr txBox="1"/>
          <p:nvPr/>
        </p:nvSpPr>
        <p:spPr>
          <a:xfrm>
            <a:off x="6479581" y="5604320"/>
            <a:ext cx="771937" cy="373386"/>
          </a:xfrm>
          <a:prstGeom prst="rect">
            <a:avLst/>
          </a:prstGeom>
          <a:solidFill>
            <a:srgbClr val="FFF9E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Medium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068ABD-A237-6736-DCA0-5FF2072AE8B4}"/>
              </a:ext>
            </a:extLst>
          </p:cNvPr>
          <p:cNvSpPr txBox="1"/>
          <p:nvPr/>
        </p:nvSpPr>
        <p:spPr>
          <a:xfrm>
            <a:off x="6479581" y="6029932"/>
            <a:ext cx="771937" cy="373386"/>
          </a:xfrm>
          <a:prstGeom prst="rect">
            <a:avLst/>
          </a:prstGeom>
          <a:solidFill>
            <a:srgbClr val="FFF9E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Medium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5F05E5-ECD0-19EC-D17D-612EC56034CB}"/>
              </a:ext>
            </a:extLst>
          </p:cNvPr>
          <p:cNvSpPr txBox="1"/>
          <p:nvPr/>
        </p:nvSpPr>
        <p:spPr>
          <a:xfrm>
            <a:off x="6479581" y="5126473"/>
            <a:ext cx="771937" cy="373386"/>
          </a:xfrm>
          <a:prstGeom prst="rect">
            <a:avLst/>
          </a:prstGeom>
          <a:solidFill>
            <a:srgbClr val="FFF9E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Medium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57772A-50C2-B28E-EA65-9A78E0EABD9E}"/>
              </a:ext>
            </a:extLst>
          </p:cNvPr>
          <p:cNvSpPr txBox="1"/>
          <p:nvPr/>
        </p:nvSpPr>
        <p:spPr>
          <a:xfrm>
            <a:off x="6479581" y="2946162"/>
            <a:ext cx="771937" cy="373386"/>
          </a:xfrm>
          <a:prstGeom prst="rect">
            <a:avLst/>
          </a:prstGeom>
          <a:solidFill>
            <a:srgbClr val="F9E5E5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High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A03A10-48AF-877C-B91A-91C5657F3248}"/>
              </a:ext>
            </a:extLst>
          </p:cNvPr>
          <p:cNvSpPr txBox="1"/>
          <p:nvPr/>
        </p:nvSpPr>
        <p:spPr>
          <a:xfrm>
            <a:off x="6479581" y="2094930"/>
            <a:ext cx="771937" cy="373386"/>
          </a:xfrm>
          <a:prstGeom prst="rect">
            <a:avLst/>
          </a:prstGeom>
          <a:solidFill>
            <a:srgbClr val="C00000">
              <a:alpha val="10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High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142ABE-3DA4-2AD8-141E-549D48534242}"/>
              </a:ext>
            </a:extLst>
          </p:cNvPr>
          <p:cNvSpPr txBox="1"/>
          <p:nvPr/>
        </p:nvSpPr>
        <p:spPr>
          <a:xfrm>
            <a:off x="6479581" y="2520546"/>
            <a:ext cx="771937" cy="373386"/>
          </a:xfrm>
          <a:prstGeom prst="rect">
            <a:avLst/>
          </a:prstGeom>
          <a:solidFill>
            <a:srgbClr val="C00000">
              <a:alpha val="10000"/>
            </a:srgb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High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AC1B3E-A75A-035B-0958-B8914991D02B}"/>
              </a:ext>
            </a:extLst>
          </p:cNvPr>
          <p:cNvSpPr txBox="1"/>
          <p:nvPr/>
        </p:nvSpPr>
        <p:spPr>
          <a:xfrm>
            <a:off x="6479581" y="4223011"/>
            <a:ext cx="771937" cy="373386"/>
          </a:xfrm>
          <a:prstGeom prst="rect">
            <a:avLst/>
          </a:prstGeom>
          <a:solidFill>
            <a:srgbClr val="FFF9E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Medium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F74ABF-373A-A773-A31B-23ABA35A3299}"/>
              </a:ext>
            </a:extLst>
          </p:cNvPr>
          <p:cNvSpPr txBox="1"/>
          <p:nvPr/>
        </p:nvSpPr>
        <p:spPr>
          <a:xfrm>
            <a:off x="6479581" y="3797395"/>
            <a:ext cx="771937" cy="373386"/>
          </a:xfrm>
          <a:prstGeom prst="rect">
            <a:avLst/>
          </a:prstGeom>
          <a:solidFill>
            <a:srgbClr val="FFF9E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Medium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8F79DC-4F2C-19AE-342D-2BEDFCDEA5C7}"/>
              </a:ext>
            </a:extLst>
          </p:cNvPr>
          <p:cNvSpPr txBox="1"/>
          <p:nvPr/>
        </p:nvSpPr>
        <p:spPr>
          <a:xfrm>
            <a:off x="6479581" y="3371778"/>
            <a:ext cx="771937" cy="373386"/>
          </a:xfrm>
          <a:prstGeom prst="rect">
            <a:avLst/>
          </a:prstGeom>
          <a:solidFill>
            <a:srgbClr val="FFF9E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Medium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5F3846-3795-DA0C-FC43-C2117FE6C93C}"/>
              </a:ext>
            </a:extLst>
          </p:cNvPr>
          <p:cNvSpPr txBox="1"/>
          <p:nvPr/>
        </p:nvSpPr>
        <p:spPr>
          <a:xfrm>
            <a:off x="6479581" y="1669314"/>
            <a:ext cx="771937" cy="373386"/>
          </a:xfrm>
          <a:prstGeom prst="rect">
            <a:avLst/>
          </a:prstGeom>
          <a:solidFill>
            <a:srgbClr val="F9E5E5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High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31C446-8C2C-1176-417B-19A92B45295C}"/>
              </a:ext>
            </a:extLst>
          </p:cNvPr>
          <p:cNvSpPr txBox="1"/>
          <p:nvPr/>
        </p:nvSpPr>
        <p:spPr>
          <a:xfrm>
            <a:off x="6479581" y="4648627"/>
            <a:ext cx="771937" cy="373386"/>
          </a:xfrm>
          <a:prstGeom prst="rect">
            <a:avLst/>
          </a:prstGeom>
          <a:solidFill>
            <a:srgbClr val="FFF9E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Medium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B081A5C-846D-917E-F2DD-344779AF69DA}"/>
              </a:ext>
            </a:extLst>
          </p:cNvPr>
          <p:cNvCxnSpPr>
            <a:cxnSpLocks/>
          </p:cNvCxnSpPr>
          <p:nvPr/>
        </p:nvCxnSpPr>
        <p:spPr>
          <a:xfrm>
            <a:off x="7373858" y="1588348"/>
            <a:ext cx="7719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F143038-37A3-973A-C614-C7AD12C939E3}"/>
              </a:ext>
            </a:extLst>
          </p:cNvPr>
          <p:cNvSpPr/>
          <p:nvPr/>
        </p:nvSpPr>
        <p:spPr>
          <a:xfrm>
            <a:off x="7292804" y="1170539"/>
            <a:ext cx="934044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800" tIns="45720" rIns="468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Probability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6551AB-CC2C-321F-EB89-DF70A5A721E5}"/>
              </a:ext>
            </a:extLst>
          </p:cNvPr>
          <p:cNvSpPr txBox="1"/>
          <p:nvPr/>
        </p:nvSpPr>
        <p:spPr>
          <a:xfrm>
            <a:off x="7373858" y="5604320"/>
            <a:ext cx="771937" cy="373386"/>
          </a:xfrm>
          <a:prstGeom prst="rect">
            <a:avLst/>
          </a:prstGeom>
          <a:solidFill>
            <a:srgbClr val="FFF9E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pt-BR"/>
            </a:defPPr>
            <a:lvl1pPr algn="ctr">
              <a:lnSpc>
                <a:spcPct val="90000"/>
              </a:lnSpc>
              <a:spcAft>
                <a:spcPts val="600"/>
              </a:spcAft>
              <a:defRPr sz="1400"/>
            </a:lvl1pPr>
          </a:lstStyle>
          <a:p>
            <a:r>
              <a:rPr lang="en-US" sz="1200"/>
              <a:t>Medium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1EF378-1429-1E80-34D5-6CA6DC126F24}"/>
              </a:ext>
            </a:extLst>
          </p:cNvPr>
          <p:cNvSpPr txBox="1"/>
          <p:nvPr/>
        </p:nvSpPr>
        <p:spPr>
          <a:xfrm>
            <a:off x="7373858" y="6029932"/>
            <a:ext cx="771937" cy="373386"/>
          </a:xfrm>
          <a:prstGeom prst="rect">
            <a:avLst/>
          </a:prstGeom>
          <a:solidFill>
            <a:srgbClr val="EFF8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Low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D3B6B5-0EB3-B043-7DD0-104A43CC6F99}"/>
              </a:ext>
            </a:extLst>
          </p:cNvPr>
          <p:cNvSpPr txBox="1"/>
          <p:nvPr/>
        </p:nvSpPr>
        <p:spPr>
          <a:xfrm>
            <a:off x="7373858" y="5126473"/>
            <a:ext cx="771937" cy="373386"/>
          </a:xfrm>
          <a:prstGeom prst="rect">
            <a:avLst/>
          </a:prstGeom>
          <a:solidFill>
            <a:srgbClr val="EFF8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Low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38AEED-5FC0-416A-7BAB-96492586AB6C}"/>
              </a:ext>
            </a:extLst>
          </p:cNvPr>
          <p:cNvSpPr txBox="1"/>
          <p:nvPr/>
        </p:nvSpPr>
        <p:spPr>
          <a:xfrm>
            <a:off x="7373858" y="2946162"/>
            <a:ext cx="771937" cy="373386"/>
          </a:xfrm>
          <a:prstGeom prst="rect">
            <a:avLst/>
          </a:prstGeom>
          <a:solidFill>
            <a:srgbClr val="EFF8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Low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516B02-B60C-80F9-3DE7-7E62B917836C}"/>
              </a:ext>
            </a:extLst>
          </p:cNvPr>
          <p:cNvSpPr txBox="1"/>
          <p:nvPr/>
        </p:nvSpPr>
        <p:spPr>
          <a:xfrm>
            <a:off x="7373858" y="2094930"/>
            <a:ext cx="771937" cy="373386"/>
          </a:xfrm>
          <a:prstGeom prst="rect">
            <a:avLst/>
          </a:prstGeom>
          <a:solidFill>
            <a:srgbClr val="EFF8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Low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ECFAE0-5981-85D6-D20C-4E47CD967A80}"/>
              </a:ext>
            </a:extLst>
          </p:cNvPr>
          <p:cNvSpPr txBox="1"/>
          <p:nvPr/>
        </p:nvSpPr>
        <p:spPr>
          <a:xfrm>
            <a:off x="7373858" y="2520546"/>
            <a:ext cx="771937" cy="373386"/>
          </a:xfrm>
          <a:prstGeom prst="rect">
            <a:avLst/>
          </a:prstGeom>
          <a:solidFill>
            <a:srgbClr val="EFF8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Low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52F51B-6843-AC85-531B-44AD0FD1BBC6}"/>
              </a:ext>
            </a:extLst>
          </p:cNvPr>
          <p:cNvSpPr txBox="1"/>
          <p:nvPr/>
        </p:nvSpPr>
        <p:spPr>
          <a:xfrm>
            <a:off x="7373858" y="4223011"/>
            <a:ext cx="771937" cy="373386"/>
          </a:xfrm>
          <a:prstGeom prst="rect">
            <a:avLst/>
          </a:prstGeom>
          <a:solidFill>
            <a:srgbClr val="EFF8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Low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95DA2F-1A48-6BEC-21C6-7C8C480F7EF6}"/>
              </a:ext>
            </a:extLst>
          </p:cNvPr>
          <p:cNvSpPr txBox="1"/>
          <p:nvPr/>
        </p:nvSpPr>
        <p:spPr>
          <a:xfrm>
            <a:off x="7373858" y="3797395"/>
            <a:ext cx="771937" cy="373386"/>
          </a:xfrm>
          <a:prstGeom prst="rect">
            <a:avLst/>
          </a:prstGeom>
          <a:solidFill>
            <a:srgbClr val="EFF8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Low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1AE491-6621-CEC5-1A3B-338212AE5EAB}"/>
              </a:ext>
            </a:extLst>
          </p:cNvPr>
          <p:cNvSpPr txBox="1"/>
          <p:nvPr/>
        </p:nvSpPr>
        <p:spPr>
          <a:xfrm>
            <a:off x="7373858" y="3371778"/>
            <a:ext cx="771937" cy="373386"/>
          </a:xfrm>
          <a:prstGeom prst="rect">
            <a:avLst/>
          </a:prstGeom>
          <a:solidFill>
            <a:srgbClr val="FFF9E7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pt-BR"/>
            </a:defPPr>
            <a:lvl1pPr algn="ctr">
              <a:lnSpc>
                <a:spcPct val="90000"/>
              </a:lnSpc>
              <a:spcAft>
                <a:spcPts val="600"/>
              </a:spcAft>
              <a:defRPr sz="1400"/>
            </a:lvl1pPr>
          </a:lstStyle>
          <a:p>
            <a:r>
              <a:rPr lang="en-US" sz="1200"/>
              <a:t>Medium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A6C468-33C9-0C09-B6B7-25EC409CBF50}"/>
              </a:ext>
            </a:extLst>
          </p:cNvPr>
          <p:cNvSpPr txBox="1"/>
          <p:nvPr/>
        </p:nvSpPr>
        <p:spPr>
          <a:xfrm>
            <a:off x="7373858" y="1669314"/>
            <a:ext cx="771937" cy="373386"/>
          </a:xfrm>
          <a:prstGeom prst="rect">
            <a:avLst/>
          </a:prstGeom>
          <a:solidFill>
            <a:srgbClr val="EFF8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1200"/>
              <a:t>Low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55D2B9-E538-45BB-F56D-FE0CA380520B}"/>
              </a:ext>
            </a:extLst>
          </p:cNvPr>
          <p:cNvSpPr txBox="1"/>
          <p:nvPr/>
        </p:nvSpPr>
        <p:spPr>
          <a:xfrm>
            <a:off x="7373858" y="4648627"/>
            <a:ext cx="771937" cy="373386"/>
          </a:xfrm>
          <a:prstGeom prst="rect">
            <a:avLst/>
          </a:prstGeom>
          <a:solidFill>
            <a:srgbClr val="EFF8FF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0" tIns="0" rIns="0" bIns="0" rtlCol="0" anchor="ctr">
            <a:noAutofit/>
          </a:bodyPr>
          <a:lstStyle>
            <a:defPPr>
              <a:defRPr lang="pt-BR"/>
            </a:defPPr>
            <a:lvl1pPr algn="ctr">
              <a:lnSpc>
                <a:spcPct val="90000"/>
              </a:lnSpc>
              <a:spcAft>
                <a:spcPts val="600"/>
              </a:spcAft>
              <a:defRPr sz="1400"/>
            </a:lvl1pPr>
          </a:lstStyle>
          <a:p>
            <a:r>
              <a:rPr lang="en-US" sz="1200"/>
              <a:t>Low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2CD761C-BF77-C3B4-7BB8-EB1E14DB879F}"/>
              </a:ext>
            </a:extLst>
          </p:cNvPr>
          <p:cNvCxnSpPr>
            <a:cxnSpLocks/>
          </p:cNvCxnSpPr>
          <p:nvPr/>
        </p:nvCxnSpPr>
        <p:spPr>
          <a:xfrm>
            <a:off x="1328736" y="5552089"/>
            <a:ext cx="1050766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296DEBB-A9F5-4F8D-CE7B-F8406EB54B73}"/>
              </a:ext>
            </a:extLst>
          </p:cNvPr>
          <p:cNvCxnSpPr>
            <a:cxnSpLocks/>
          </p:cNvCxnSpPr>
          <p:nvPr/>
        </p:nvCxnSpPr>
        <p:spPr>
          <a:xfrm>
            <a:off x="1328737" y="5074243"/>
            <a:ext cx="1050766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34229DF-08AA-CB3F-ABDA-F70DBCAE6500}"/>
              </a:ext>
            </a:extLst>
          </p:cNvPr>
          <p:cNvSpPr/>
          <p:nvPr/>
        </p:nvSpPr>
        <p:spPr>
          <a:xfrm>
            <a:off x="1290836" y="1170539"/>
            <a:ext cx="926733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800" tIns="45720" rIns="468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Category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526F201-BC7E-2BDD-3C67-29197996E646}"/>
              </a:ext>
            </a:extLst>
          </p:cNvPr>
          <p:cNvCxnSpPr>
            <a:cxnSpLocks/>
          </p:cNvCxnSpPr>
          <p:nvPr/>
        </p:nvCxnSpPr>
        <p:spPr>
          <a:xfrm>
            <a:off x="1290837" y="1588348"/>
            <a:ext cx="9267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D44F9AB-5EF6-0D62-94F4-941F71E968E9}"/>
              </a:ext>
            </a:extLst>
          </p:cNvPr>
          <p:cNvSpPr txBox="1"/>
          <p:nvPr/>
        </p:nvSpPr>
        <p:spPr>
          <a:xfrm>
            <a:off x="1290837" y="1669313"/>
            <a:ext cx="926733" cy="3344968"/>
          </a:xfrm>
          <a:prstGeom prst="rect">
            <a:avLst/>
          </a:prstGeom>
          <a:solidFill>
            <a:schemeClr val="accent3"/>
          </a:solidFill>
        </p:spPr>
        <p:txBody>
          <a:bodyPr vert="horz" wrap="square" lIns="0" tIns="0" rIns="0" bIns="0" rtlCol="0" anchor="ctr">
            <a:noAutofit/>
          </a:bodyPr>
          <a:lstStyle>
            <a:defPPr>
              <a:defRPr lang="pt-BR"/>
            </a:defPPr>
            <a:lvl1pPr algn="ctr">
              <a:spcBef>
                <a:spcPts val="400"/>
              </a:spcBef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/>
              <a:t>Strategic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7DCB38-5B0A-E57D-87BF-E391309F58EB}"/>
              </a:ext>
            </a:extLst>
          </p:cNvPr>
          <p:cNvSpPr txBox="1"/>
          <p:nvPr/>
        </p:nvSpPr>
        <p:spPr>
          <a:xfrm>
            <a:off x="1290837" y="5604319"/>
            <a:ext cx="926733" cy="818956"/>
          </a:xfrm>
          <a:prstGeom prst="rect">
            <a:avLst/>
          </a:prstGeom>
          <a:solidFill>
            <a:schemeClr val="accent3"/>
          </a:solidFill>
        </p:spPr>
        <p:txBody>
          <a:bodyPr vert="horz" wrap="square" lIns="0" tIns="0" rIns="0" bIns="0" rtlCol="0" anchor="ctr">
            <a:noAutofit/>
          </a:bodyPr>
          <a:lstStyle>
            <a:defPPr>
              <a:defRPr lang="pt-BR"/>
            </a:defPPr>
            <a:lvl1pPr algn="ctr">
              <a:spcBef>
                <a:spcPts val="400"/>
              </a:spcBef>
              <a:defRPr sz="1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200"/>
              <a:t>Operational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BF58F3-27B9-D811-B621-FC9ADFCFA1E5}"/>
              </a:ext>
            </a:extLst>
          </p:cNvPr>
          <p:cNvSpPr txBox="1"/>
          <p:nvPr/>
        </p:nvSpPr>
        <p:spPr>
          <a:xfrm>
            <a:off x="1290837" y="5126473"/>
            <a:ext cx="926733" cy="373386"/>
          </a:xfrm>
          <a:prstGeom prst="rect">
            <a:avLst/>
          </a:prstGeom>
          <a:solidFill>
            <a:schemeClr val="accent3"/>
          </a:solidFill>
        </p:spPr>
        <p:txBody>
          <a:bodyPr vert="horz" wrap="square" lIns="0" tIns="0" rIns="0" bIns="0" rtlCol="0" anchor="ctr">
            <a:noAutofit/>
          </a:bodyPr>
          <a:lstStyle>
            <a:defPPr>
              <a:defRPr lang="pt-BR"/>
            </a:defPPr>
            <a:lvl1pPr algn="ctr">
              <a:spcBef>
                <a:spcPts val="400"/>
              </a:spcBef>
              <a:defRPr sz="14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200"/>
              <a:t>Regulatory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37522D2-4094-FB21-1E46-4067295ECECC}"/>
              </a:ext>
            </a:extLst>
          </p:cNvPr>
          <p:cNvCxnSpPr>
            <a:cxnSpLocks/>
          </p:cNvCxnSpPr>
          <p:nvPr/>
        </p:nvCxnSpPr>
        <p:spPr>
          <a:xfrm>
            <a:off x="8863330" y="1588348"/>
            <a:ext cx="29730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F1DB6D47-6E3F-E8D5-B4BA-21943CC0EE6E}"/>
              </a:ext>
            </a:extLst>
          </p:cNvPr>
          <p:cNvSpPr/>
          <p:nvPr/>
        </p:nvSpPr>
        <p:spPr>
          <a:xfrm>
            <a:off x="8238986" y="1170539"/>
            <a:ext cx="3597415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800" tIns="0" rIns="468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b="1">
                <a:solidFill>
                  <a:schemeClr val="tx1"/>
                </a:solidFill>
              </a:rPr>
              <a:t>Possible mitigating actions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03C6264-4AE1-F326-79BA-11C776DCF5C7}"/>
              </a:ext>
            </a:extLst>
          </p:cNvPr>
          <p:cNvCxnSpPr>
            <a:cxnSpLocks/>
          </p:cNvCxnSpPr>
          <p:nvPr/>
        </p:nvCxnSpPr>
        <p:spPr>
          <a:xfrm>
            <a:off x="8238986" y="1588348"/>
            <a:ext cx="3597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63DE2E0-5C5E-F2A2-FBA9-4676522FE2D0}"/>
              </a:ext>
            </a:extLst>
          </p:cNvPr>
          <p:cNvSpPr txBox="1"/>
          <p:nvPr/>
        </p:nvSpPr>
        <p:spPr>
          <a:xfrm>
            <a:off x="8238986" y="5604320"/>
            <a:ext cx="3597415" cy="373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36000" tIns="0" rIns="36000" bIns="0" rtlCol="0" anchor="ctr">
            <a:noAutofit/>
          </a:bodyPr>
          <a:lstStyle>
            <a:defPPr>
              <a:defRPr lang="pt-BR"/>
            </a:defPPr>
            <a:lvl1pPr algn="ctr">
              <a:lnSpc>
                <a:spcPct val="90000"/>
              </a:lnSpc>
              <a:spcAft>
                <a:spcPts val="600"/>
              </a:spcAft>
              <a:defRPr sz="1400"/>
            </a:lvl1pPr>
          </a:lstStyle>
          <a:p>
            <a:pPr algn="l">
              <a:lnSpc>
                <a:spcPct val="80000"/>
              </a:lnSpc>
              <a:spcAft>
                <a:spcPts val="0"/>
              </a:spcAft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Continuous market analysis to monitor global trends and guarantee proper analysis of product development effort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DB1B53A-3373-9AF0-E4A7-4AFB3F704616}"/>
              </a:ext>
            </a:extLst>
          </p:cNvPr>
          <p:cNvSpPr txBox="1"/>
          <p:nvPr/>
        </p:nvSpPr>
        <p:spPr>
          <a:xfrm>
            <a:off x="8238986" y="6029932"/>
            <a:ext cx="3597415" cy="373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36000" tIns="0" rIns="36000" bIns="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Guarantee client´s alignment with contractual terms since the beginning of negotiation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629CA7-8CF5-535A-198B-F1EE745F29FB}"/>
              </a:ext>
            </a:extLst>
          </p:cNvPr>
          <p:cNvSpPr txBox="1"/>
          <p:nvPr/>
        </p:nvSpPr>
        <p:spPr>
          <a:xfrm>
            <a:off x="8238986" y="5126473"/>
            <a:ext cx="3597415" cy="373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36000" tIns="0" rIns="36000" bIns="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Keep track of regulator movements and, if possible, leverage companies´ institutional relationship team to talk to regulators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2F775F-F08F-6823-D375-3DF6D5A6F75A}"/>
              </a:ext>
            </a:extLst>
          </p:cNvPr>
          <p:cNvSpPr txBox="1"/>
          <p:nvPr/>
        </p:nvSpPr>
        <p:spPr>
          <a:xfrm>
            <a:off x="8238986" y="2946162"/>
            <a:ext cx="3597415" cy="373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36000" tIns="0" rIns="36000" bIns="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Expand New Co's focus to target market segments that are less likely to be affected by government solutions or evaluate exit strategy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7277EF-296C-D0EF-4B2A-1CB3D7FAE65D}"/>
              </a:ext>
            </a:extLst>
          </p:cNvPr>
          <p:cNvSpPr txBox="1"/>
          <p:nvPr/>
        </p:nvSpPr>
        <p:spPr>
          <a:xfrm>
            <a:off x="8238986" y="2094930"/>
            <a:ext cx="3597415" cy="373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36000" tIns="0" rIns="36000" bIns="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Regularly monitor the biometric technology landscape for emerging modalities and trends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9AFD2B-7504-24E4-855D-E89C9A0601FA}"/>
              </a:ext>
            </a:extLst>
          </p:cNvPr>
          <p:cNvSpPr txBox="1"/>
          <p:nvPr/>
        </p:nvSpPr>
        <p:spPr>
          <a:xfrm>
            <a:off x="8238986" y="2520546"/>
            <a:ext cx="3597415" cy="373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36000" tIns="0" rIns="36000" bIns="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Establish relationships with multiple subcontract vendors and evaluate potential anticipation of proprietary solution development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FE0248-D3D1-9C47-1889-0FFD62D5591F}"/>
              </a:ext>
            </a:extLst>
          </p:cNvPr>
          <p:cNvSpPr txBox="1"/>
          <p:nvPr/>
        </p:nvSpPr>
        <p:spPr>
          <a:xfrm>
            <a:off x="8238986" y="4223011"/>
            <a:ext cx="3597415" cy="373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36000" tIns="0" rIns="36000" bIns="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Understand key clients pain points and willingness to adopt solution since development stage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628CA2-E1F1-2982-E7A0-281A62C33AD5}"/>
              </a:ext>
            </a:extLst>
          </p:cNvPr>
          <p:cNvSpPr txBox="1"/>
          <p:nvPr/>
        </p:nvSpPr>
        <p:spPr>
          <a:xfrm>
            <a:off x="8238986" y="3797395"/>
            <a:ext cx="3597415" cy="373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36000" tIns="0" rIns="36000" bIns="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Invest in the development of integration tools and services that make transitioning to New Co's solutions as smooth as possible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7CDEB5-CD32-38BD-FB20-82E6F32898CD}"/>
              </a:ext>
            </a:extLst>
          </p:cNvPr>
          <p:cNvSpPr txBox="1"/>
          <p:nvPr/>
        </p:nvSpPr>
        <p:spPr>
          <a:xfrm>
            <a:off x="8238986" y="3371778"/>
            <a:ext cx="3597415" cy="373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36000" tIns="0" rIns="36000" bIns="0" rtlCol="0" anchor="ctr">
            <a:noAutofit/>
          </a:bodyPr>
          <a:lstStyle>
            <a:defPPr>
              <a:defRPr lang="pt-BR"/>
            </a:defPPr>
            <a:lvl1pPr algn="ctr">
              <a:lnSpc>
                <a:spcPct val="90000"/>
              </a:lnSpc>
              <a:spcAft>
                <a:spcPts val="600"/>
              </a:spcAft>
              <a:defRPr sz="1400"/>
            </a:lvl1pPr>
          </a:lstStyle>
          <a:p>
            <a:pPr algn="l">
              <a:lnSpc>
                <a:spcPct val="80000"/>
              </a:lnSpc>
              <a:spcAft>
                <a:spcPts val="0"/>
              </a:spcAft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Re-evaluate key market differentiating factors and evaluate potential global trends that could be applied locally to anticipate potential disruptions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B083F7-8FFD-DA3A-B680-E5AD976AD300}"/>
              </a:ext>
            </a:extLst>
          </p:cNvPr>
          <p:cNvSpPr txBox="1"/>
          <p:nvPr/>
        </p:nvSpPr>
        <p:spPr>
          <a:xfrm>
            <a:off x="8238986" y="1669314"/>
            <a:ext cx="3597415" cy="373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36000" tIns="0" rIns="36000" bIns="0" rtlCol="0" anchor="ctr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Highlight the value of data sharing, offering improved services, insights, and cost savings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8D1182-4872-1F94-1061-CA3ED62B9CE6}"/>
              </a:ext>
            </a:extLst>
          </p:cNvPr>
          <p:cNvSpPr txBox="1"/>
          <p:nvPr/>
        </p:nvSpPr>
        <p:spPr>
          <a:xfrm>
            <a:off x="8238986" y="4648627"/>
            <a:ext cx="3597415" cy="373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vert="horz" wrap="square" lIns="36000" tIns="0" rIns="36000" bIns="0" rtlCol="0" anchor="ctr">
            <a:noAutofit/>
          </a:bodyPr>
          <a:lstStyle>
            <a:defPPr>
              <a:defRPr lang="pt-BR"/>
            </a:defPPr>
            <a:lvl1pPr algn="ctr">
              <a:lnSpc>
                <a:spcPct val="90000"/>
              </a:lnSpc>
              <a:spcAft>
                <a:spcPts val="600"/>
              </a:spcAft>
              <a:defRPr sz="1400"/>
            </a:lvl1pPr>
          </a:lstStyle>
          <a:p>
            <a:pPr algn="l">
              <a:lnSpc>
                <a:spcPct val="80000"/>
              </a:lnSpc>
              <a:spcAft>
                <a:spcPts val="0"/>
              </a:spcAft>
            </a:pPr>
            <a:r>
              <a:rPr lang="en-US" sz="1000">
                <a:solidFill>
                  <a:schemeClr val="bg1">
                    <a:lumMod val="50000"/>
                  </a:schemeClr>
                </a:solidFill>
              </a:rPr>
              <a:t>After local product, launch, continuous market analysis to monitor local and global trends</a:t>
            </a:r>
          </a:p>
        </p:txBody>
      </p:sp>
    </p:spTree>
    <p:extLst>
      <p:ext uri="{BB962C8B-B14F-4D97-AF65-F5344CB8AC3E}">
        <p14:creationId xmlns:p14="http://schemas.microsoft.com/office/powerpoint/2010/main" val="125687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366</Words>
  <Application>Microsoft Office PowerPoint</Application>
  <PresentationFormat>Widescreen</PresentationFormat>
  <Paragraphs>58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Graphik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2026-03-09T21:35:23Z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