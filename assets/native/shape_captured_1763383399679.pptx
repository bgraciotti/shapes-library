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B0C4A3-6624-BD7B-0504-E9BA803A4C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324303-19AC-1FF9-38C9-402D6BDD31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872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microsoft.com/office/2007/relationships/hdphoto" Target="../media/hdphoto4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FA35AA-B9EC-3F0C-DC5C-BB03B5E75B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FED579-731B-F443-7F32-5C3BD218E7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845FDE-9264-9420-E196-DFF489CEB12B}"/>
              </a:ext>
            </a:extLst>
          </p:cNvPr>
          <p:cNvSpPr/>
          <p:nvPr/>
        </p:nvSpPr>
        <p:spPr>
          <a:xfrm>
            <a:off x="0" y="1045030"/>
            <a:ext cx="12024338" cy="5264932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20000"/>
                  <a:lumOff val="80000"/>
                  <a:alpha val="10000"/>
                </a:schemeClr>
              </a:gs>
              <a:gs pos="0">
                <a:schemeClr val="accent3">
                  <a:lumMod val="20000"/>
                  <a:lumOff val="80000"/>
                  <a:alpha val="20000"/>
                </a:schemeClr>
              </a:gs>
            </a:gsLst>
            <a:lin ang="10800000" scaled="1"/>
            <a:tileRect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36000" bIns="36000" rtlCol="0" anchor="t"/>
          <a:lstStyle/>
          <a:p>
            <a:pPr algn="ctr"/>
            <a:endParaRPr lang="pt-BR" sz="1100" b="1" i="1" noProof="0">
              <a:solidFill>
                <a:schemeClr val="accent2"/>
              </a:solidFill>
            </a:endParaRPr>
          </a:p>
        </p:txBody>
      </p:sp>
      <p:grpSp>
        <p:nvGrpSpPr>
          <p:cNvPr id="5" name="Agrupar 46">
            <a:extLst>
              <a:ext uri="{FF2B5EF4-FFF2-40B4-BE49-F238E27FC236}">
                <a16:creationId xmlns:a16="http://schemas.microsoft.com/office/drawing/2014/main" id="{E81AE1A0-F609-6B66-2F6A-D8F4C9414CC0}"/>
              </a:ext>
            </a:extLst>
          </p:cNvPr>
          <p:cNvGrpSpPr/>
          <p:nvPr/>
        </p:nvGrpSpPr>
        <p:grpSpPr>
          <a:xfrm>
            <a:off x="356621" y="1733898"/>
            <a:ext cx="5042693" cy="4496432"/>
            <a:chOff x="356621" y="1929724"/>
            <a:chExt cx="3115421" cy="4496432"/>
          </a:xfrm>
        </p:grpSpPr>
        <p:grpSp>
          <p:nvGrpSpPr>
            <p:cNvPr id="6" name="Agrupar 56">
              <a:extLst>
                <a:ext uri="{FF2B5EF4-FFF2-40B4-BE49-F238E27FC236}">
                  <a16:creationId xmlns:a16="http://schemas.microsoft.com/office/drawing/2014/main" id="{0B767C7C-5B83-753E-9ED2-A7228B2D323A}"/>
                </a:ext>
              </a:extLst>
            </p:cNvPr>
            <p:cNvGrpSpPr/>
            <p:nvPr/>
          </p:nvGrpSpPr>
          <p:grpSpPr>
            <a:xfrm>
              <a:off x="356621" y="2291935"/>
              <a:ext cx="3115421" cy="4134221"/>
              <a:chOff x="356621" y="2291935"/>
              <a:chExt cx="3115421" cy="4134221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57DFD5F-199A-B4CB-A25A-7BDCDF54364E}"/>
                  </a:ext>
                </a:extLst>
              </p:cNvPr>
              <p:cNvSpPr/>
              <p:nvPr/>
            </p:nvSpPr>
            <p:spPr>
              <a:xfrm>
                <a:off x="418858" y="2361756"/>
                <a:ext cx="3053184" cy="4064400"/>
              </a:xfrm>
              <a:prstGeom prst="rect">
                <a:avLst/>
              </a:prstGeom>
              <a:solidFill>
                <a:schemeClr val="accent3"/>
              </a:solidFill>
              <a:ln w="1270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lIns="46800" rIns="46800"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" name="Rectangle 59">
                <a:extLst>
                  <a:ext uri="{FF2B5EF4-FFF2-40B4-BE49-F238E27FC236}">
                    <a16:creationId xmlns:a16="http://schemas.microsoft.com/office/drawing/2014/main" id="{0893E4C1-5199-776C-FC20-D5C4FA3E69D3}"/>
                  </a:ext>
                </a:extLst>
              </p:cNvPr>
              <p:cNvSpPr/>
              <p:nvPr/>
            </p:nvSpPr>
            <p:spPr>
              <a:xfrm>
                <a:off x="356621" y="2291935"/>
                <a:ext cx="3053184" cy="4107481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lIns="46800" rIns="46800"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  <p:sp>
          <p:nvSpPr>
            <p:cNvPr id="7" name="TextBox 15">
              <a:extLst>
                <a:ext uri="{FF2B5EF4-FFF2-40B4-BE49-F238E27FC236}">
                  <a16:creationId xmlns:a16="http://schemas.microsoft.com/office/drawing/2014/main" id="{BA427D8B-116E-55A1-B063-B1E856518005}"/>
                </a:ext>
              </a:extLst>
            </p:cNvPr>
            <p:cNvSpPr txBox="1"/>
            <p:nvPr/>
          </p:nvSpPr>
          <p:spPr>
            <a:xfrm>
              <a:off x="381000" y="1929724"/>
              <a:ext cx="2344783" cy="292388"/>
            </a:xfrm>
            <a:prstGeom prst="rect">
              <a:avLst/>
            </a:prstGeom>
            <a:noFill/>
          </p:spPr>
          <p:txBody>
            <a:bodyPr wrap="square" lIns="0" tIns="0" rIns="0" bIns="4572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Principais atividades</a:t>
              </a:r>
            </a:p>
          </p:txBody>
        </p:sp>
        <p:cxnSp>
          <p:nvCxnSpPr>
            <p:cNvPr id="8" name="Straight Connector 17">
              <a:extLst>
                <a:ext uri="{FF2B5EF4-FFF2-40B4-BE49-F238E27FC236}">
                  <a16:creationId xmlns:a16="http://schemas.microsoft.com/office/drawing/2014/main" id="{43CD8F5A-FCAB-D45F-7094-9BA3F7F977AE}"/>
                </a:ext>
              </a:extLst>
            </p:cNvPr>
            <p:cNvCxnSpPr>
              <a:cxnSpLocks/>
            </p:cNvCxnSpPr>
            <p:nvPr/>
          </p:nvCxnSpPr>
          <p:spPr>
            <a:xfrm>
              <a:off x="381000" y="2222112"/>
              <a:ext cx="3091042" cy="0"/>
            </a:xfrm>
            <a:prstGeom prst="line">
              <a:avLst/>
            </a:prstGeom>
            <a:noFill/>
            <a:ln w="28575" cap="flat" cmpd="sng" algn="ctr">
              <a:solidFill>
                <a:schemeClr val="accent3"/>
              </a:solidFill>
              <a:prstDash val="solid"/>
              <a:miter lim="800000"/>
            </a:ln>
            <a:effectLst/>
          </p:spPr>
        </p:cxnSp>
      </p:grpSp>
      <p:sp>
        <p:nvSpPr>
          <p:cNvPr id="11" name="Parallelogram 4">
            <a:extLst>
              <a:ext uri="{FF2B5EF4-FFF2-40B4-BE49-F238E27FC236}">
                <a16:creationId xmlns:a16="http://schemas.microsoft.com/office/drawing/2014/main" id="{8B470B0A-A636-AA38-12DA-1B4E3BF7AEE4}"/>
              </a:ext>
            </a:extLst>
          </p:cNvPr>
          <p:cNvSpPr/>
          <p:nvPr/>
        </p:nvSpPr>
        <p:spPr>
          <a:xfrm>
            <a:off x="-281940" y="1258811"/>
            <a:ext cx="8640000" cy="340957"/>
          </a:xfrm>
          <a:prstGeom prst="parallelogram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rPr>
              <a:t>Detalhamento da abordagem – Bloco I: Contexto </a:t>
            </a:r>
            <a:r>
              <a:rPr kumimoji="0" lang="pt-BR" sz="11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rPr>
              <a:t>(Interno e Externo) </a:t>
            </a: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Medium" panose="020B0603030202060203" pitchFamily="34" charset="0"/>
                <a:ea typeface="+mn-ea"/>
                <a:cs typeface="+mn-cs"/>
              </a:rPr>
              <a:t>e Possibilidades</a:t>
            </a:r>
          </a:p>
        </p:txBody>
      </p:sp>
      <p:sp>
        <p:nvSpPr>
          <p:cNvPr id="12" name="Rectangle 65">
            <a:extLst>
              <a:ext uri="{FF2B5EF4-FFF2-40B4-BE49-F238E27FC236}">
                <a16:creationId xmlns:a16="http://schemas.microsoft.com/office/drawing/2014/main" id="{30B9F1BA-25D0-2CB9-DACD-77490029168D}"/>
              </a:ext>
            </a:extLst>
          </p:cNvPr>
          <p:cNvSpPr/>
          <p:nvPr/>
        </p:nvSpPr>
        <p:spPr>
          <a:xfrm>
            <a:off x="491613" y="2227632"/>
            <a:ext cx="4752000" cy="400269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pt-BR" sz="1050" b="1"/>
              <a:t>1. Direcionadores Estratégicos</a:t>
            </a:r>
            <a:endParaRPr lang="pt-BR" sz="1050"/>
          </a:p>
          <a:p>
            <a:pPr marL="0" lvl="1">
              <a:spcAft>
                <a:spcPts val="500"/>
              </a:spcAft>
            </a:pPr>
            <a:r>
              <a:rPr lang="pt-BR" sz="1050"/>
              <a:t>Captura da visão dos executivos Grupo GC, incluindo:</a:t>
            </a:r>
          </a:p>
          <a:p>
            <a:pPr marL="360000" lvl="2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pt-BR" sz="1050"/>
              <a:t>hipóteses estratégicas e prioridades (ex. expandir para LATAM)</a:t>
            </a:r>
          </a:p>
          <a:p>
            <a:pPr marL="360000" lvl="2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pt-BR" sz="1050"/>
              <a:t>eventuais condições de contorno a serem seguidas (ex. não B2C)</a:t>
            </a:r>
          </a:p>
          <a:p>
            <a:pPr>
              <a:spcBef>
                <a:spcPts val="600"/>
              </a:spcBef>
              <a:spcAft>
                <a:spcPts val="500"/>
              </a:spcAft>
            </a:pPr>
            <a:r>
              <a:rPr lang="pt-BR" sz="1050" b="1"/>
              <a:t>2. Situação Atual Grupo GC:</a:t>
            </a:r>
            <a:endParaRPr lang="pt-BR" sz="1050"/>
          </a:p>
          <a:p>
            <a:pPr marL="0" lvl="1">
              <a:spcAft>
                <a:spcPts val="500"/>
              </a:spcAft>
            </a:pPr>
            <a:r>
              <a:rPr lang="pt-BR" sz="1050"/>
              <a:t>Mapeamento do cenário atual do Grupo GC em dimensões como:</a:t>
            </a:r>
          </a:p>
          <a:p>
            <a:pPr marL="360000" lvl="2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pt-BR" sz="1050"/>
              <a:t>portfólio de serviços, público-alvo</a:t>
            </a:r>
          </a:p>
          <a:p>
            <a:pPr marL="360000" lvl="2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pt-BR" sz="1050"/>
              <a:t>arquitetura técnica</a:t>
            </a:r>
          </a:p>
          <a:p>
            <a:pPr marL="360000" lvl="2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pt-BR" sz="1050"/>
              <a:t>modelo de operação de tecnologia</a:t>
            </a:r>
          </a:p>
          <a:p>
            <a:pPr>
              <a:spcBef>
                <a:spcPts val="600"/>
              </a:spcBef>
              <a:spcAft>
                <a:spcPts val="500"/>
              </a:spcAft>
            </a:pPr>
            <a:r>
              <a:rPr lang="pt-BR" sz="1050" b="1"/>
              <a:t>3. Tendências e Inovação:</a:t>
            </a:r>
            <a:endParaRPr lang="pt-BR" sz="1050"/>
          </a:p>
          <a:p>
            <a:pPr marL="171450" lvl="1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pt-BR" sz="1050"/>
              <a:t>Construção de um mapa de tendências no setor de seguros e intermediação</a:t>
            </a:r>
          </a:p>
          <a:p>
            <a:pPr marL="171450" lvl="1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pt-BR" sz="1050"/>
              <a:t>Levantamento do impacto de novas tecnologias no ramo (ex. IA/Agent)</a:t>
            </a:r>
          </a:p>
          <a:p>
            <a:pPr>
              <a:spcBef>
                <a:spcPts val="600"/>
              </a:spcBef>
              <a:spcAft>
                <a:spcPts val="500"/>
              </a:spcAft>
            </a:pPr>
            <a:r>
              <a:rPr lang="pt-BR" sz="1050" b="1"/>
              <a:t>4. Visão de Mercado </a:t>
            </a:r>
            <a:r>
              <a:rPr lang="pt-BR" sz="1050"/>
              <a:t>(Oferta e Demanda) e </a:t>
            </a:r>
            <a:r>
              <a:rPr lang="pt-BR" sz="1050" b="1"/>
              <a:t>Possibilidades</a:t>
            </a:r>
            <a:r>
              <a:rPr lang="pt-BR" sz="1050"/>
              <a:t>:</a:t>
            </a:r>
          </a:p>
          <a:p>
            <a:pPr marL="171450" lvl="1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pt-BR" sz="1050"/>
              <a:t>Análise do cenário competitivo e demanda, sob dimensões como: </a:t>
            </a:r>
            <a:r>
              <a:rPr lang="pt-BR" sz="1050">
                <a:solidFill>
                  <a:srgbClr val="000000"/>
                </a:solidFill>
                <a:latin typeface="Graphik" panose="020B0503030202060203" pitchFamily="34" charset="0"/>
              </a:rPr>
              <a:t>serviços, posicionamento, diferenciais, canais, público-alvo</a:t>
            </a:r>
            <a:endParaRPr lang="pt-BR" sz="1050"/>
          </a:p>
          <a:p>
            <a:pPr marL="171450" lvl="1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pt-BR" sz="1050"/>
              <a:t>Definição de possíveis caminhos para expansão de crescimento</a:t>
            </a:r>
            <a:endParaRPr lang="pt-BR" sz="1000" noProof="0">
              <a:solidFill>
                <a:schemeClr val="tx1"/>
              </a:solidFill>
              <a:latin typeface="Graphik" panose="020B0503030202060203" pitchFamily="34" charset="0"/>
            </a:endParaRPr>
          </a:p>
        </p:txBody>
      </p:sp>
      <p:sp>
        <p:nvSpPr>
          <p:cNvPr id="13" name="Rectangle 65">
            <a:extLst>
              <a:ext uri="{FF2B5EF4-FFF2-40B4-BE49-F238E27FC236}">
                <a16:creationId xmlns:a16="http://schemas.microsoft.com/office/drawing/2014/main" id="{A694CAC9-B6F9-9DF5-D8C1-81EDB33943B5}"/>
              </a:ext>
            </a:extLst>
          </p:cNvPr>
          <p:cNvSpPr/>
          <p:nvPr/>
        </p:nvSpPr>
        <p:spPr>
          <a:xfrm>
            <a:off x="5645033" y="1695777"/>
            <a:ext cx="3433114" cy="20853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pt-BR" sz="1100">
                <a:latin typeface="Graphik" panose="020B0503030202060203" pitchFamily="34" charset="0"/>
              </a:rPr>
              <a:t>Exemplos de entregáveis</a:t>
            </a:r>
            <a:endParaRPr lang="pt-BR" sz="1100" noProof="0">
              <a:latin typeface="Graphik" panose="020B050303020206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7A4E1F8-58F8-DA4D-0EDE-C6AAB7C6B364}"/>
              </a:ext>
            </a:extLst>
          </p:cNvPr>
          <p:cNvSpPr/>
          <p:nvPr/>
        </p:nvSpPr>
        <p:spPr>
          <a:xfrm>
            <a:off x="9007086" y="4053234"/>
            <a:ext cx="2124000" cy="199439"/>
          </a:xfrm>
          <a:custGeom>
            <a:avLst/>
            <a:gdLst>
              <a:gd name="connsiteX0" fmla="*/ 0 w 2124000"/>
              <a:gd name="connsiteY0" fmla="*/ 17391 h 199439"/>
              <a:gd name="connsiteX1" fmla="*/ 17391 w 2124000"/>
              <a:gd name="connsiteY1" fmla="*/ 0 h 199439"/>
              <a:gd name="connsiteX2" fmla="*/ 755581 w 2124000"/>
              <a:gd name="connsiteY2" fmla="*/ 0 h 199439"/>
              <a:gd name="connsiteX3" fmla="*/ 1431095 w 2124000"/>
              <a:gd name="connsiteY3" fmla="*/ 0 h 199439"/>
              <a:gd name="connsiteX4" fmla="*/ 2106609 w 2124000"/>
              <a:gd name="connsiteY4" fmla="*/ 0 h 199439"/>
              <a:gd name="connsiteX5" fmla="*/ 2124000 w 2124000"/>
              <a:gd name="connsiteY5" fmla="*/ 17391 h 199439"/>
              <a:gd name="connsiteX6" fmla="*/ 2124000 w 2124000"/>
              <a:gd name="connsiteY6" fmla="*/ 182048 h 199439"/>
              <a:gd name="connsiteX7" fmla="*/ 2106609 w 2124000"/>
              <a:gd name="connsiteY7" fmla="*/ 199439 h 199439"/>
              <a:gd name="connsiteX8" fmla="*/ 1451987 w 2124000"/>
              <a:gd name="connsiteY8" fmla="*/ 199439 h 199439"/>
              <a:gd name="connsiteX9" fmla="*/ 755581 w 2124000"/>
              <a:gd name="connsiteY9" fmla="*/ 199439 h 199439"/>
              <a:gd name="connsiteX10" fmla="*/ 17391 w 2124000"/>
              <a:gd name="connsiteY10" fmla="*/ 199439 h 199439"/>
              <a:gd name="connsiteX11" fmla="*/ 0 w 2124000"/>
              <a:gd name="connsiteY11" fmla="*/ 182048 h 199439"/>
              <a:gd name="connsiteX12" fmla="*/ 0 w 2124000"/>
              <a:gd name="connsiteY12" fmla="*/ 17391 h 199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24000" h="199439" extrusionOk="0">
                <a:moveTo>
                  <a:pt x="0" y="17391"/>
                </a:moveTo>
                <a:cubicBezTo>
                  <a:pt x="-1869" y="6633"/>
                  <a:pt x="6184" y="601"/>
                  <a:pt x="17391" y="0"/>
                </a:cubicBezTo>
                <a:cubicBezTo>
                  <a:pt x="227631" y="34794"/>
                  <a:pt x="479659" y="-16348"/>
                  <a:pt x="755581" y="0"/>
                </a:cubicBezTo>
                <a:cubicBezTo>
                  <a:pt x="1031503" y="16348"/>
                  <a:pt x="1173849" y="6831"/>
                  <a:pt x="1431095" y="0"/>
                </a:cubicBezTo>
                <a:cubicBezTo>
                  <a:pt x="1688341" y="-6831"/>
                  <a:pt x="1920595" y="-2408"/>
                  <a:pt x="2106609" y="0"/>
                </a:cubicBezTo>
                <a:cubicBezTo>
                  <a:pt x="2115712" y="-1617"/>
                  <a:pt x="2124231" y="6932"/>
                  <a:pt x="2124000" y="17391"/>
                </a:cubicBezTo>
                <a:cubicBezTo>
                  <a:pt x="2126304" y="66804"/>
                  <a:pt x="2124408" y="116299"/>
                  <a:pt x="2124000" y="182048"/>
                </a:cubicBezTo>
                <a:cubicBezTo>
                  <a:pt x="2123870" y="190412"/>
                  <a:pt x="2114938" y="201212"/>
                  <a:pt x="2106609" y="199439"/>
                </a:cubicBezTo>
                <a:cubicBezTo>
                  <a:pt x="1968470" y="176970"/>
                  <a:pt x="1703949" y="203077"/>
                  <a:pt x="1451987" y="199439"/>
                </a:cubicBezTo>
                <a:cubicBezTo>
                  <a:pt x="1200025" y="195801"/>
                  <a:pt x="1012627" y="215156"/>
                  <a:pt x="755581" y="199439"/>
                </a:cubicBezTo>
                <a:cubicBezTo>
                  <a:pt x="498535" y="183722"/>
                  <a:pt x="316142" y="184824"/>
                  <a:pt x="17391" y="199439"/>
                </a:cubicBezTo>
                <a:cubicBezTo>
                  <a:pt x="9117" y="198123"/>
                  <a:pt x="1369" y="190770"/>
                  <a:pt x="0" y="182048"/>
                </a:cubicBezTo>
                <a:cubicBezTo>
                  <a:pt x="3357" y="105489"/>
                  <a:pt x="2125" y="89078"/>
                  <a:pt x="0" y="17391"/>
                </a:cubicBezTo>
                <a:close/>
              </a:path>
            </a:pathLst>
          </a:custGeom>
          <a:noFill/>
          <a:ln>
            <a:noFill/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872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ctr">
            <a:spAutoFit/>
          </a:bodyPr>
          <a:lstStyle/>
          <a:p>
            <a:r>
              <a:rPr lang="pt-BR" sz="1000" b="1" i="1" noProof="0">
                <a:solidFill>
                  <a:schemeClr val="tx1"/>
                </a:solidFill>
              </a:rPr>
              <a:t>Visão de Mercado</a:t>
            </a:r>
            <a:endParaRPr lang="pt-BR" sz="1000" baseline="30000" noProof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D95751F-D11D-FC19-6870-2ACE82DF907B}"/>
              </a:ext>
            </a:extLst>
          </p:cNvPr>
          <p:cNvSpPr/>
          <p:nvPr/>
        </p:nvSpPr>
        <p:spPr>
          <a:xfrm>
            <a:off x="5694307" y="4053234"/>
            <a:ext cx="3787516" cy="199439"/>
          </a:xfrm>
          <a:custGeom>
            <a:avLst/>
            <a:gdLst>
              <a:gd name="connsiteX0" fmla="*/ 0 w 3787516"/>
              <a:gd name="connsiteY0" fmla="*/ 17391 h 199439"/>
              <a:gd name="connsiteX1" fmla="*/ 17391 w 3787516"/>
              <a:gd name="connsiteY1" fmla="*/ 0 h 199439"/>
              <a:gd name="connsiteX2" fmla="*/ 717901 w 3787516"/>
              <a:gd name="connsiteY2" fmla="*/ 0 h 199439"/>
              <a:gd name="connsiteX3" fmla="*/ 1305830 w 3787516"/>
              <a:gd name="connsiteY3" fmla="*/ 0 h 199439"/>
              <a:gd name="connsiteX4" fmla="*/ 1856231 w 3787516"/>
              <a:gd name="connsiteY4" fmla="*/ 0 h 199439"/>
              <a:gd name="connsiteX5" fmla="*/ 2519214 w 3787516"/>
              <a:gd name="connsiteY5" fmla="*/ 0 h 199439"/>
              <a:gd name="connsiteX6" fmla="*/ 3107142 w 3787516"/>
              <a:gd name="connsiteY6" fmla="*/ 0 h 199439"/>
              <a:gd name="connsiteX7" fmla="*/ 3770125 w 3787516"/>
              <a:gd name="connsiteY7" fmla="*/ 0 h 199439"/>
              <a:gd name="connsiteX8" fmla="*/ 3787516 w 3787516"/>
              <a:gd name="connsiteY8" fmla="*/ 17391 h 199439"/>
              <a:gd name="connsiteX9" fmla="*/ 3787516 w 3787516"/>
              <a:gd name="connsiteY9" fmla="*/ 182048 h 199439"/>
              <a:gd name="connsiteX10" fmla="*/ 3770125 w 3787516"/>
              <a:gd name="connsiteY10" fmla="*/ 199439 h 199439"/>
              <a:gd name="connsiteX11" fmla="*/ 3107142 w 3787516"/>
              <a:gd name="connsiteY11" fmla="*/ 199439 h 199439"/>
              <a:gd name="connsiteX12" fmla="*/ 2406632 w 3787516"/>
              <a:gd name="connsiteY12" fmla="*/ 199439 h 199439"/>
              <a:gd name="connsiteX13" fmla="*/ 1706121 w 3787516"/>
              <a:gd name="connsiteY13" fmla="*/ 199439 h 199439"/>
              <a:gd name="connsiteX14" fmla="*/ 1155720 w 3787516"/>
              <a:gd name="connsiteY14" fmla="*/ 199439 h 199439"/>
              <a:gd name="connsiteX15" fmla="*/ 17391 w 3787516"/>
              <a:gd name="connsiteY15" fmla="*/ 199439 h 199439"/>
              <a:gd name="connsiteX16" fmla="*/ 0 w 3787516"/>
              <a:gd name="connsiteY16" fmla="*/ 182048 h 199439"/>
              <a:gd name="connsiteX17" fmla="*/ 0 w 3787516"/>
              <a:gd name="connsiteY17" fmla="*/ 17391 h 199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787516" h="199439" extrusionOk="0">
                <a:moveTo>
                  <a:pt x="0" y="17391"/>
                </a:moveTo>
                <a:cubicBezTo>
                  <a:pt x="-1869" y="6633"/>
                  <a:pt x="6184" y="601"/>
                  <a:pt x="17391" y="0"/>
                </a:cubicBezTo>
                <a:cubicBezTo>
                  <a:pt x="258177" y="-11826"/>
                  <a:pt x="423183" y="6759"/>
                  <a:pt x="717901" y="0"/>
                </a:cubicBezTo>
                <a:cubicBezTo>
                  <a:pt x="1012619" y="-6759"/>
                  <a:pt x="1015821" y="-14116"/>
                  <a:pt x="1305830" y="0"/>
                </a:cubicBezTo>
                <a:cubicBezTo>
                  <a:pt x="1595839" y="14116"/>
                  <a:pt x="1703080" y="12163"/>
                  <a:pt x="1856231" y="0"/>
                </a:cubicBezTo>
                <a:cubicBezTo>
                  <a:pt x="2009382" y="-12163"/>
                  <a:pt x="2315744" y="13436"/>
                  <a:pt x="2519214" y="0"/>
                </a:cubicBezTo>
                <a:cubicBezTo>
                  <a:pt x="2722684" y="-13436"/>
                  <a:pt x="2823088" y="13592"/>
                  <a:pt x="3107142" y="0"/>
                </a:cubicBezTo>
                <a:cubicBezTo>
                  <a:pt x="3391196" y="-13592"/>
                  <a:pt x="3563979" y="1370"/>
                  <a:pt x="3770125" y="0"/>
                </a:cubicBezTo>
                <a:cubicBezTo>
                  <a:pt x="3779600" y="-1241"/>
                  <a:pt x="3786240" y="9559"/>
                  <a:pt x="3787516" y="17391"/>
                </a:cubicBezTo>
                <a:cubicBezTo>
                  <a:pt x="3783288" y="96276"/>
                  <a:pt x="3780939" y="139472"/>
                  <a:pt x="3787516" y="182048"/>
                </a:cubicBezTo>
                <a:cubicBezTo>
                  <a:pt x="3787031" y="191625"/>
                  <a:pt x="3780103" y="198416"/>
                  <a:pt x="3770125" y="199439"/>
                </a:cubicBezTo>
                <a:cubicBezTo>
                  <a:pt x="3559353" y="198388"/>
                  <a:pt x="3363864" y="184141"/>
                  <a:pt x="3107142" y="199439"/>
                </a:cubicBezTo>
                <a:cubicBezTo>
                  <a:pt x="2850420" y="214737"/>
                  <a:pt x="2604912" y="183744"/>
                  <a:pt x="2406632" y="199439"/>
                </a:cubicBezTo>
                <a:cubicBezTo>
                  <a:pt x="2208352" y="215135"/>
                  <a:pt x="2002109" y="193247"/>
                  <a:pt x="1706121" y="199439"/>
                </a:cubicBezTo>
                <a:cubicBezTo>
                  <a:pt x="1410133" y="205631"/>
                  <a:pt x="1294232" y="214674"/>
                  <a:pt x="1155720" y="199439"/>
                </a:cubicBezTo>
                <a:cubicBezTo>
                  <a:pt x="1017208" y="184204"/>
                  <a:pt x="516641" y="221892"/>
                  <a:pt x="17391" y="199439"/>
                </a:cubicBezTo>
                <a:cubicBezTo>
                  <a:pt x="7347" y="198543"/>
                  <a:pt x="160" y="189488"/>
                  <a:pt x="0" y="182048"/>
                </a:cubicBezTo>
                <a:cubicBezTo>
                  <a:pt x="692" y="131557"/>
                  <a:pt x="-2770" y="98301"/>
                  <a:pt x="0" y="17391"/>
                </a:cubicBezTo>
                <a:close/>
              </a:path>
            </a:pathLst>
          </a:custGeom>
          <a:noFill/>
          <a:ln>
            <a:noFill/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872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0" rtlCol="0" anchor="ctr">
            <a:spAutoFit/>
          </a:bodyPr>
          <a:lstStyle/>
          <a:p>
            <a:r>
              <a:rPr lang="pt-BR" sz="1000" b="1" i="1" noProof="0">
                <a:solidFill>
                  <a:schemeClr val="tx1"/>
                </a:solidFill>
              </a:rPr>
              <a:t>Análise da Situação atual</a:t>
            </a:r>
            <a:endParaRPr lang="pt-BR" sz="1000" baseline="30000" noProof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7711CF8-A6EC-6AB3-A1D3-377DE5876AF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ement/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07086" y="4358497"/>
            <a:ext cx="2898000" cy="162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A8BE5E1-6760-2820-E9F6-0D22303AC4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astelsSmooth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09274" y="5070189"/>
            <a:ext cx="2105248" cy="11251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96AAC78-B7F7-E3E0-8DC2-F71B48ABC0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Texturizer/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07086" y="2237783"/>
            <a:ext cx="2872575" cy="162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A9E8C9-17FC-CAA5-9148-E0D4209A1332}"/>
              </a:ext>
            </a:extLst>
          </p:cNvPr>
          <p:cNvSpPr/>
          <p:nvPr/>
        </p:nvSpPr>
        <p:spPr>
          <a:xfrm>
            <a:off x="5694307" y="1916417"/>
            <a:ext cx="3600000" cy="199439"/>
          </a:xfrm>
          <a:custGeom>
            <a:avLst/>
            <a:gdLst>
              <a:gd name="connsiteX0" fmla="*/ 0 w 3600000"/>
              <a:gd name="connsiteY0" fmla="*/ 17391 h 199439"/>
              <a:gd name="connsiteX1" fmla="*/ 17391 w 3600000"/>
              <a:gd name="connsiteY1" fmla="*/ 0 h 199439"/>
              <a:gd name="connsiteX2" fmla="*/ 682898 w 3600000"/>
              <a:gd name="connsiteY2" fmla="*/ 0 h 199439"/>
              <a:gd name="connsiteX3" fmla="*/ 1241449 w 3600000"/>
              <a:gd name="connsiteY3" fmla="*/ 0 h 199439"/>
              <a:gd name="connsiteX4" fmla="*/ 1764348 w 3600000"/>
              <a:gd name="connsiteY4" fmla="*/ 0 h 199439"/>
              <a:gd name="connsiteX5" fmla="*/ 2394203 w 3600000"/>
              <a:gd name="connsiteY5" fmla="*/ 0 h 199439"/>
              <a:gd name="connsiteX6" fmla="*/ 2952754 w 3600000"/>
              <a:gd name="connsiteY6" fmla="*/ 0 h 199439"/>
              <a:gd name="connsiteX7" fmla="*/ 3582609 w 3600000"/>
              <a:gd name="connsiteY7" fmla="*/ 0 h 199439"/>
              <a:gd name="connsiteX8" fmla="*/ 3600000 w 3600000"/>
              <a:gd name="connsiteY8" fmla="*/ 17391 h 199439"/>
              <a:gd name="connsiteX9" fmla="*/ 3600000 w 3600000"/>
              <a:gd name="connsiteY9" fmla="*/ 182048 h 199439"/>
              <a:gd name="connsiteX10" fmla="*/ 3582609 w 3600000"/>
              <a:gd name="connsiteY10" fmla="*/ 199439 h 199439"/>
              <a:gd name="connsiteX11" fmla="*/ 2952754 w 3600000"/>
              <a:gd name="connsiteY11" fmla="*/ 199439 h 199439"/>
              <a:gd name="connsiteX12" fmla="*/ 2287246 w 3600000"/>
              <a:gd name="connsiteY12" fmla="*/ 199439 h 199439"/>
              <a:gd name="connsiteX13" fmla="*/ 1621739 w 3600000"/>
              <a:gd name="connsiteY13" fmla="*/ 199439 h 199439"/>
              <a:gd name="connsiteX14" fmla="*/ 1098840 w 3600000"/>
              <a:gd name="connsiteY14" fmla="*/ 199439 h 199439"/>
              <a:gd name="connsiteX15" fmla="*/ 17391 w 3600000"/>
              <a:gd name="connsiteY15" fmla="*/ 199439 h 199439"/>
              <a:gd name="connsiteX16" fmla="*/ 0 w 3600000"/>
              <a:gd name="connsiteY16" fmla="*/ 182048 h 199439"/>
              <a:gd name="connsiteX17" fmla="*/ 0 w 3600000"/>
              <a:gd name="connsiteY17" fmla="*/ 17391 h 199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600000" h="199439" extrusionOk="0">
                <a:moveTo>
                  <a:pt x="0" y="17391"/>
                </a:moveTo>
                <a:cubicBezTo>
                  <a:pt x="-1869" y="6633"/>
                  <a:pt x="6184" y="601"/>
                  <a:pt x="17391" y="0"/>
                </a:cubicBezTo>
                <a:cubicBezTo>
                  <a:pt x="299832" y="7800"/>
                  <a:pt x="464323" y="21011"/>
                  <a:pt x="682898" y="0"/>
                </a:cubicBezTo>
                <a:cubicBezTo>
                  <a:pt x="901473" y="-21011"/>
                  <a:pt x="1029357" y="22229"/>
                  <a:pt x="1241449" y="0"/>
                </a:cubicBezTo>
                <a:cubicBezTo>
                  <a:pt x="1453541" y="-22229"/>
                  <a:pt x="1525504" y="25944"/>
                  <a:pt x="1764348" y="0"/>
                </a:cubicBezTo>
                <a:cubicBezTo>
                  <a:pt x="2003192" y="-25944"/>
                  <a:pt x="2167331" y="11419"/>
                  <a:pt x="2394203" y="0"/>
                </a:cubicBezTo>
                <a:cubicBezTo>
                  <a:pt x="2621075" y="-11419"/>
                  <a:pt x="2677842" y="-4489"/>
                  <a:pt x="2952754" y="0"/>
                </a:cubicBezTo>
                <a:cubicBezTo>
                  <a:pt x="3227666" y="4489"/>
                  <a:pt x="3303046" y="23178"/>
                  <a:pt x="3582609" y="0"/>
                </a:cubicBezTo>
                <a:cubicBezTo>
                  <a:pt x="3592084" y="-1241"/>
                  <a:pt x="3598724" y="9559"/>
                  <a:pt x="3600000" y="17391"/>
                </a:cubicBezTo>
                <a:cubicBezTo>
                  <a:pt x="3595772" y="96276"/>
                  <a:pt x="3593423" y="139472"/>
                  <a:pt x="3600000" y="182048"/>
                </a:cubicBezTo>
                <a:cubicBezTo>
                  <a:pt x="3599515" y="191625"/>
                  <a:pt x="3592587" y="198416"/>
                  <a:pt x="3582609" y="199439"/>
                </a:cubicBezTo>
                <a:cubicBezTo>
                  <a:pt x="3433204" y="185336"/>
                  <a:pt x="3249444" y="211078"/>
                  <a:pt x="2952754" y="199439"/>
                </a:cubicBezTo>
                <a:cubicBezTo>
                  <a:pt x="2656065" y="187800"/>
                  <a:pt x="2524115" y="196997"/>
                  <a:pt x="2287246" y="199439"/>
                </a:cubicBezTo>
                <a:cubicBezTo>
                  <a:pt x="2050377" y="201881"/>
                  <a:pt x="1917618" y="171741"/>
                  <a:pt x="1621739" y="199439"/>
                </a:cubicBezTo>
                <a:cubicBezTo>
                  <a:pt x="1325860" y="227137"/>
                  <a:pt x="1238475" y="210588"/>
                  <a:pt x="1098840" y="199439"/>
                </a:cubicBezTo>
                <a:cubicBezTo>
                  <a:pt x="959205" y="188290"/>
                  <a:pt x="289214" y="145427"/>
                  <a:pt x="17391" y="199439"/>
                </a:cubicBezTo>
                <a:cubicBezTo>
                  <a:pt x="7347" y="198543"/>
                  <a:pt x="160" y="189488"/>
                  <a:pt x="0" y="182048"/>
                </a:cubicBezTo>
                <a:cubicBezTo>
                  <a:pt x="692" y="131557"/>
                  <a:pt x="-2770" y="98301"/>
                  <a:pt x="0" y="17391"/>
                </a:cubicBezTo>
                <a:close/>
              </a:path>
            </a:pathLst>
          </a:custGeom>
          <a:noFill/>
          <a:ln>
            <a:noFill/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872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ctr">
            <a:spAutoFit/>
          </a:bodyPr>
          <a:lstStyle/>
          <a:p>
            <a:r>
              <a:rPr lang="pt-BR" sz="1000" b="1" i="1" noProof="0">
                <a:solidFill>
                  <a:schemeClr val="tx1"/>
                </a:solidFill>
              </a:rPr>
              <a:t>Direcionadores Estratégicos</a:t>
            </a:r>
            <a:endParaRPr lang="pt-BR" sz="1000" baseline="30000" noProof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1A89567-C880-B368-473F-BEFBF6720F23}"/>
              </a:ext>
            </a:extLst>
          </p:cNvPr>
          <p:cNvSpPr/>
          <p:nvPr/>
        </p:nvSpPr>
        <p:spPr>
          <a:xfrm>
            <a:off x="8961524" y="1916417"/>
            <a:ext cx="3600000" cy="199439"/>
          </a:xfrm>
          <a:custGeom>
            <a:avLst/>
            <a:gdLst>
              <a:gd name="connsiteX0" fmla="*/ 0 w 3600000"/>
              <a:gd name="connsiteY0" fmla="*/ 17391 h 199439"/>
              <a:gd name="connsiteX1" fmla="*/ 17391 w 3600000"/>
              <a:gd name="connsiteY1" fmla="*/ 0 h 199439"/>
              <a:gd name="connsiteX2" fmla="*/ 682898 w 3600000"/>
              <a:gd name="connsiteY2" fmla="*/ 0 h 199439"/>
              <a:gd name="connsiteX3" fmla="*/ 1241449 w 3600000"/>
              <a:gd name="connsiteY3" fmla="*/ 0 h 199439"/>
              <a:gd name="connsiteX4" fmla="*/ 1764348 w 3600000"/>
              <a:gd name="connsiteY4" fmla="*/ 0 h 199439"/>
              <a:gd name="connsiteX5" fmla="*/ 2394203 w 3600000"/>
              <a:gd name="connsiteY5" fmla="*/ 0 h 199439"/>
              <a:gd name="connsiteX6" fmla="*/ 2952754 w 3600000"/>
              <a:gd name="connsiteY6" fmla="*/ 0 h 199439"/>
              <a:gd name="connsiteX7" fmla="*/ 3582609 w 3600000"/>
              <a:gd name="connsiteY7" fmla="*/ 0 h 199439"/>
              <a:gd name="connsiteX8" fmla="*/ 3600000 w 3600000"/>
              <a:gd name="connsiteY8" fmla="*/ 17391 h 199439"/>
              <a:gd name="connsiteX9" fmla="*/ 3600000 w 3600000"/>
              <a:gd name="connsiteY9" fmla="*/ 182048 h 199439"/>
              <a:gd name="connsiteX10" fmla="*/ 3582609 w 3600000"/>
              <a:gd name="connsiteY10" fmla="*/ 199439 h 199439"/>
              <a:gd name="connsiteX11" fmla="*/ 2952754 w 3600000"/>
              <a:gd name="connsiteY11" fmla="*/ 199439 h 199439"/>
              <a:gd name="connsiteX12" fmla="*/ 2287246 w 3600000"/>
              <a:gd name="connsiteY12" fmla="*/ 199439 h 199439"/>
              <a:gd name="connsiteX13" fmla="*/ 1621739 w 3600000"/>
              <a:gd name="connsiteY13" fmla="*/ 199439 h 199439"/>
              <a:gd name="connsiteX14" fmla="*/ 1098840 w 3600000"/>
              <a:gd name="connsiteY14" fmla="*/ 199439 h 199439"/>
              <a:gd name="connsiteX15" fmla="*/ 17391 w 3600000"/>
              <a:gd name="connsiteY15" fmla="*/ 199439 h 199439"/>
              <a:gd name="connsiteX16" fmla="*/ 0 w 3600000"/>
              <a:gd name="connsiteY16" fmla="*/ 182048 h 199439"/>
              <a:gd name="connsiteX17" fmla="*/ 0 w 3600000"/>
              <a:gd name="connsiteY17" fmla="*/ 17391 h 199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600000" h="199439" extrusionOk="0">
                <a:moveTo>
                  <a:pt x="0" y="17391"/>
                </a:moveTo>
                <a:cubicBezTo>
                  <a:pt x="-1869" y="6633"/>
                  <a:pt x="6184" y="601"/>
                  <a:pt x="17391" y="0"/>
                </a:cubicBezTo>
                <a:cubicBezTo>
                  <a:pt x="299832" y="7800"/>
                  <a:pt x="464323" y="21011"/>
                  <a:pt x="682898" y="0"/>
                </a:cubicBezTo>
                <a:cubicBezTo>
                  <a:pt x="901473" y="-21011"/>
                  <a:pt x="1029357" y="22229"/>
                  <a:pt x="1241449" y="0"/>
                </a:cubicBezTo>
                <a:cubicBezTo>
                  <a:pt x="1453541" y="-22229"/>
                  <a:pt x="1525504" y="25944"/>
                  <a:pt x="1764348" y="0"/>
                </a:cubicBezTo>
                <a:cubicBezTo>
                  <a:pt x="2003192" y="-25944"/>
                  <a:pt x="2167331" y="11419"/>
                  <a:pt x="2394203" y="0"/>
                </a:cubicBezTo>
                <a:cubicBezTo>
                  <a:pt x="2621075" y="-11419"/>
                  <a:pt x="2677842" y="-4489"/>
                  <a:pt x="2952754" y="0"/>
                </a:cubicBezTo>
                <a:cubicBezTo>
                  <a:pt x="3227666" y="4489"/>
                  <a:pt x="3303046" y="23178"/>
                  <a:pt x="3582609" y="0"/>
                </a:cubicBezTo>
                <a:cubicBezTo>
                  <a:pt x="3592084" y="-1241"/>
                  <a:pt x="3598724" y="9559"/>
                  <a:pt x="3600000" y="17391"/>
                </a:cubicBezTo>
                <a:cubicBezTo>
                  <a:pt x="3595772" y="96276"/>
                  <a:pt x="3593423" y="139472"/>
                  <a:pt x="3600000" y="182048"/>
                </a:cubicBezTo>
                <a:cubicBezTo>
                  <a:pt x="3599515" y="191625"/>
                  <a:pt x="3592587" y="198416"/>
                  <a:pt x="3582609" y="199439"/>
                </a:cubicBezTo>
                <a:cubicBezTo>
                  <a:pt x="3433204" y="185336"/>
                  <a:pt x="3249444" y="211078"/>
                  <a:pt x="2952754" y="199439"/>
                </a:cubicBezTo>
                <a:cubicBezTo>
                  <a:pt x="2656065" y="187800"/>
                  <a:pt x="2524115" y="196997"/>
                  <a:pt x="2287246" y="199439"/>
                </a:cubicBezTo>
                <a:cubicBezTo>
                  <a:pt x="2050377" y="201881"/>
                  <a:pt x="1917618" y="171741"/>
                  <a:pt x="1621739" y="199439"/>
                </a:cubicBezTo>
                <a:cubicBezTo>
                  <a:pt x="1325860" y="227137"/>
                  <a:pt x="1238475" y="210588"/>
                  <a:pt x="1098840" y="199439"/>
                </a:cubicBezTo>
                <a:cubicBezTo>
                  <a:pt x="959205" y="188290"/>
                  <a:pt x="289214" y="145427"/>
                  <a:pt x="17391" y="199439"/>
                </a:cubicBezTo>
                <a:cubicBezTo>
                  <a:pt x="7347" y="198543"/>
                  <a:pt x="160" y="189488"/>
                  <a:pt x="0" y="182048"/>
                </a:cubicBezTo>
                <a:cubicBezTo>
                  <a:pt x="692" y="131557"/>
                  <a:pt x="-2770" y="98301"/>
                  <a:pt x="0" y="17391"/>
                </a:cubicBezTo>
                <a:close/>
              </a:path>
            </a:pathLst>
          </a:custGeom>
          <a:noFill/>
          <a:ln>
            <a:noFill/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872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ctr">
            <a:spAutoFit/>
          </a:bodyPr>
          <a:lstStyle/>
          <a:p>
            <a:r>
              <a:rPr lang="pt-BR" sz="1000" b="1" i="1" noProof="0">
                <a:solidFill>
                  <a:schemeClr val="tx1"/>
                </a:solidFill>
              </a:rPr>
              <a:t>Tendências e efeito na indústria</a:t>
            </a:r>
            <a:endParaRPr lang="pt-BR" sz="1000" baseline="30000" noProof="0">
              <a:solidFill>
                <a:schemeClr val="tx1"/>
              </a:solidFill>
            </a:endParaRP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4088FA17-9A3E-6DC4-3251-FDA852DAC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4307" y="4395710"/>
            <a:ext cx="2903211" cy="163543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4">
            <a:extLst>
              <a:ext uri="{FF2B5EF4-FFF2-40B4-BE49-F238E27FC236}">
                <a16:creationId xmlns:a16="http://schemas.microsoft.com/office/drawing/2014/main" id="{432CA449-4B15-04DD-4D28-24B80270D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4307" y="2237782"/>
            <a:ext cx="2862331" cy="1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A53A9D7-C6FF-6A3C-88AB-EACF5EB2A89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9762" y="2926187"/>
            <a:ext cx="1869157" cy="100311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4307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196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Graphik</vt:lpstr>
      <vt:lpstr>Graphik Medium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2025-11-17T12:43:22Z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