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2DA9ED-CAD0-D282-B316-6F7B8BED35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CFDA4-9903-3FD2-3026-FAD3CEE5B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8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763DB3-E90E-C624-D7AE-4A25D229B3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A6DAD-89E5-15A0-C4A1-FDFF789868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7598EF-393A-A2B5-C7BC-83E718CDB67F}"/>
              </a:ext>
            </a:extLst>
          </p:cNvPr>
          <p:cNvSpPr/>
          <p:nvPr/>
        </p:nvSpPr>
        <p:spPr>
          <a:xfrm>
            <a:off x="-4101" y="1689201"/>
            <a:ext cx="11815101" cy="4510512"/>
          </a:xfrm>
          <a:custGeom>
            <a:avLst/>
            <a:gdLst>
              <a:gd name="connsiteX0" fmla="*/ 0 w 5823031"/>
              <a:gd name="connsiteY0" fmla="*/ 0 h 5102427"/>
              <a:gd name="connsiteX1" fmla="*/ 5823031 w 5823031"/>
              <a:gd name="connsiteY1" fmla="*/ 0 h 5102427"/>
              <a:gd name="connsiteX2" fmla="*/ 5384898 w 5823031"/>
              <a:gd name="connsiteY2" fmla="*/ 5102427 h 5102427"/>
              <a:gd name="connsiteX3" fmla="*/ 0 w 5823031"/>
              <a:gd name="connsiteY3" fmla="*/ 5102427 h 5102427"/>
              <a:gd name="connsiteX0" fmla="*/ 0 w 5823031"/>
              <a:gd name="connsiteY0" fmla="*/ 0 h 5102427"/>
              <a:gd name="connsiteX1" fmla="*/ 5823031 w 5823031"/>
              <a:gd name="connsiteY1" fmla="*/ 0 h 5102427"/>
              <a:gd name="connsiteX2" fmla="*/ 5467935 w 5823031"/>
              <a:gd name="connsiteY2" fmla="*/ 5102427 h 5102427"/>
              <a:gd name="connsiteX3" fmla="*/ 0 w 5823031"/>
              <a:gd name="connsiteY3" fmla="*/ 5102427 h 5102427"/>
              <a:gd name="connsiteX4" fmla="*/ 0 w 5823031"/>
              <a:gd name="connsiteY4" fmla="*/ 0 h 5102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3031" h="5102427">
                <a:moveTo>
                  <a:pt x="0" y="0"/>
                </a:moveTo>
                <a:lnTo>
                  <a:pt x="5823031" y="0"/>
                </a:lnTo>
                <a:lnTo>
                  <a:pt x="5467935" y="5102427"/>
                </a:lnTo>
                <a:lnTo>
                  <a:pt x="0" y="510242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400" noProof="0">
              <a:solidFill>
                <a:sysClr val="windowText" lastClr="0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29473A-8E4F-00A7-A5A1-8A248D02D903}"/>
              </a:ext>
            </a:extLst>
          </p:cNvPr>
          <p:cNvGrpSpPr/>
          <p:nvPr/>
        </p:nvGrpSpPr>
        <p:grpSpPr>
          <a:xfrm>
            <a:off x="380999" y="1679417"/>
            <a:ext cx="5760000" cy="415850"/>
            <a:chOff x="380999" y="1679417"/>
            <a:chExt cx="5760000" cy="4158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BB6811-D6C5-8AD7-BCCD-BA9680858099}"/>
                </a:ext>
              </a:extLst>
            </p:cNvPr>
            <p:cNvSpPr/>
            <p:nvPr/>
          </p:nvSpPr>
          <p:spPr>
            <a:xfrm>
              <a:off x="380999" y="1679417"/>
              <a:ext cx="5760000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t"/>
            <a:lstStyle/>
            <a:p>
              <a:r>
                <a:rPr lang="pt-BR" sz="1600" b="1">
                  <a:solidFill>
                    <a:schemeClr val="tx1"/>
                  </a:solidFill>
                </a:rPr>
                <a:t>Recapitulando o contexto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5612A7-17AA-0A87-6B76-F2663CA1CB19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" y="2095267"/>
              <a:ext cx="576000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91">
            <a:extLst>
              <a:ext uri="{FF2B5EF4-FFF2-40B4-BE49-F238E27FC236}">
                <a16:creationId xmlns:a16="http://schemas.microsoft.com/office/drawing/2014/main" id="{130FACDE-6F81-EF05-6A81-07A2DC692651}"/>
              </a:ext>
            </a:extLst>
          </p:cNvPr>
          <p:cNvSpPr txBox="1">
            <a:spLocks/>
          </p:cNvSpPr>
          <p:nvPr/>
        </p:nvSpPr>
        <p:spPr bwMode="auto">
          <a:xfrm>
            <a:off x="381000" y="2295715"/>
            <a:ext cx="10584000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indent="0">
              <a:spcAft>
                <a:spcPts val="1200"/>
              </a:spcAft>
              <a:buNone/>
              <a:defRPr sz="1200"/>
            </a:lvl1pPr>
            <a:lvl2pPr marL="179388" indent="-179388">
              <a:defRPr sz="2100">
                <a:latin typeface="Graphik" panose="020B0503030202060203" pitchFamily="34" charset="0"/>
              </a:defRPr>
            </a:lvl2pPr>
            <a:lvl3pPr marL="574675" indent="-228600">
              <a:defRPr sz="2100">
                <a:latin typeface="Graphik" panose="020B0503030202060203" pitchFamily="34" charset="0"/>
              </a:defRPr>
            </a:lvl3pPr>
            <a:lvl4pPr marL="1600200" indent="-228600">
              <a:defRPr sz="2100">
                <a:latin typeface="Graphik" panose="020B0503030202060203" pitchFamily="34" charset="0"/>
              </a:defRPr>
            </a:lvl4pPr>
            <a:lvl5pPr marL="2057400" indent="-228600">
              <a:defRPr sz="2100">
                <a:latin typeface="Graphik" panose="020B0503030202060203" pitchFamily="34" charset="0"/>
              </a:defRPr>
            </a:lvl5pPr>
            <a:lvl6pPr marL="25146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latin typeface="Graphik" panose="020B0503030202060203" pitchFamily="34" charset="0"/>
              </a:defRPr>
            </a:lvl6pPr>
            <a:lvl7pPr marL="29718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latin typeface="Graphik" panose="020B0503030202060203" pitchFamily="34" charset="0"/>
              </a:defRPr>
            </a:lvl7pPr>
            <a:lvl8pPr marL="34290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latin typeface="Graphik" panose="020B0503030202060203" pitchFamily="34" charset="0"/>
              </a:defRPr>
            </a:lvl8pPr>
            <a:lvl9pPr marL="38862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latin typeface="Graphik" panose="020B0503030202060203" pitchFamily="34" charset="0"/>
              </a:defRPr>
            </a:lvl9pPr>
          </a:lstStyle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/>
              <a:t>O projeto </a:t>
            </a:r>
            <a:r>
              <a:rPr lang="pt-BR" sz="1400" b="1"/>
              <a:t>Cyborg BU PJ está em andamento desde novembro/25</a:t>
            </a:r>
            <a:r>
              <a:rPr lang="pt-BR" sz="1400"/>
              <a:t>; na primeira fase, apoiamos a seleção e detalhamento do </a:t>
            </a:r>
            <a:r>
              <a:rPr lang="pt-BR" sz="1400" b="1"/>
              <a:t>Resumo Inteligente</a:t>
            </a:r>
            <a:r>
              <a:rPr lang="pt-BR" sz="1400"/>
              <a:t> (produção prevista para final de janeiro) e a preparação de </a:t>
            </a:r>
            <a:r>
              <a:rPr lang="pt-BR" sz="1400" b="1"/>
              <a:t>bases de conhecimento</a:t>
            </a:r>
            <a:r>
              <a:rPr lang="pt-BR" sz="1400"/>
              <a:t> para uso com </a:t>
            </a:r>
            <a:r>
              <a:rPr lang="pt-BR" sz="1400" err="1"/>
              <a:t>LLMs</a:t>
            </a:r>
            <a:endParaRPr lang="pt-BR" sz="140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/>
              <a:t>O trabalho gerou </a:t>
            </a:r>
            <a:r>
              <a:rPr lang="pt-BR" sz="1400" b="1"/>
              <a:t>lições aprendidas relevantes</a:t>
            </a:r>
            <a:r>
              <a:rPr lang="pt-BR" sz="1400"/>
              <a:t> sobre o modelo de entrega: importância de engajamento conjunto desde a definição do backlog, necessidade de visão coordenada entre times, clareza sobre arquitetura de referência e destravamento rápido de acessos e governança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/>
              <a:t>O momento agora é de </a:t>
            </a:r>
            <a:r>
              <a:rPr lang="pt-BR" sz="1400" b="1"/>
              <a:t>tangibilizar a visão do Cyborg</a:t>
            </a:r>
            <a:r>
              <a:rPr lang="pt-BR" sz="1400"/>
              <a:t>: como ela conecta com as prioridades da BU PJ (eficiência, produtividade, satisfação) e como essas conexões orientam a priorização de novos casos de uso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1400"/>
              <a:t>Além do discovery, </a:t>
            </a:r>
            <a:r>
              <a:rPr lang="pt-BR" sz="1400" b="1"/>
              <a:t>alguns agentes já estão priorizados</a:t>
            </a:r>
            <a:r>
              <a:rPr lang="pt-BR" sz="1400"/>
              <a:t> e prontos para avançar — Resumo Inteligente 2.0, Agente Executor e </a:t>
            </a:r>
            <a:r>
              <a:rPr lang="pt-BR" sz="1400" err="1"/>
              <a:t>Copilot</a:t>
            </a:r>
            <a:r>
              <a:rPr lang="pt-BR" sz="1400"/>
              <a:t> de Resolução — com volumetria mapeada e alinhamento à visão Cyborg</a:t>
            </a:r>
          </a:p>
          <a:p>
            <a:pPr>
              <a:spcAft>
                <a:spcPts val="1800"/>
              </a:spcAft>
            </a:pPr>
            <a:r>
              <a:rPr lang="pt-BR" sz="1800" b="1"/>
              <a:t>Este material consolida nossa proposta para apoiar o banco na condução do discovery estruturante e na aceleração dos casos de uso priorizados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36854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202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2026-01-27T18:50:00Z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