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BCEE77-305F-860A-655C-0D0BA1782C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E6C1C1-1973-E839-1525-154D0D756E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41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emf"/><Relationship Id="rId4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136E3B-C0AE-5B39-34D2-75A2A3236C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379103-7003-B503-32DE-B3DDBE04C4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93E2BD-BFA2-E20A-554B-E79BBA78A8E3}"/>
              </a:ext>
            </a:extLst>
          </p:cNvPr>
          <p:cNvGrpSpPr/>
          <p:nvPr/>
        </p:nvGrpSpPr>
        <p:grpSpPr>
          <a:xfrm>
            <a:off x="381000" y="1467928"/>
            <a:ext cx="11476799" cy="5008121"/>
            <a:chOff x="381000" y="1467928"/>
            <a:chExt cx="11476799" cy="5008121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6F29A4CF-F43F-D217-0961-07A711482C55}"/>
                </a:ext>
              </a:extLst>
            </p:cNvPr>
            <p:cNvSpPr/>
            <p:nvPr/>
          </p:nvSpPr>
          <p:spPr>
            <a:xfrm>
              <a:off x="8890001" y="5334078"/>
              <a:ext cx="596907" cy="870505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11AD4B-F76E-CE3F-AA87-E8330B1BF475}"/>
                </a:ext>
              </a:extLst>
            </p:cNvPr>
            <p:cNvSpPr/>
            <p:nvPr/>
          </p:nvSpPr>
          <p:spPr>
            <a:xfrm>
              <a:off x="2230494" y="2739964"/>
              <a:ext cx="1061903" cy="1114579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rgbClr val="D31C5B"/>
                  </a:solidFill>
                </a:rPr>
                <a:t>Cenário 1</a:t>
              </a:r>
            </a:p>
            <a:p>
              <a:pPr algn="ctr"/>
              <a:r>
                <a:rPr lang="pt-BR" sz="105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(ex. descentralizar)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6B33FC-019D-ACCA-995F-4CD8C94C5BB0}"/>
                </a:ext>
              </a:extLst>
            </p:cNvPr>
            <p:cNvSpPr/>
            <p:nvPr/>
          </p:nvSpPr>
          <p:spPr>
            <a:xfrm>
              <a:off x="2230494" y="4041386"/>
              <a:ext cx="1061903" cy="1114579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rgbClr val="D31C5B"/>
                  </a:solidFill>
                </a:rPr>
                <a:t>Cenário 2</a:t>
              </a:r>
            </a:p>
            <a:p>
              <a:pPr algn="ctr"/>
              <a:r>
                <a:rPr lang="pt-BR" sz="105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(ex. híbrido)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35446D-C86D-5B64-04F6-93A8C0C57318}"/>
                </a:ext>
              </a:extLst>
            </p:cNvPr>
            <p:cNvSpPr/>
            <p:nvPr/>
          </p:nvSpPr>
          <p:spPr>
            <a:xfrm>
              <a:off x="2230494" y="5342808"/>
              <a:ext cx="1061903" cy="1114579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rgbClr val="D31C5B"/>
                  </a:solidFill>
                </a:rPr>
                <a:t>Cenário 3</a:t>
              </a:r>
            </a:p>
            <a:p>
              <a:pPr algn="ctr"/>
              <a:r>
                <a:rPr lang="pt-BR" sz="105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(ex. centralizar)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401C9B-ADC3-A0C4-A55C-506337A41D60}"/>
                </a:ext>
              </a:extLst>
            </p:cNvPr>
            <p:cNvSpPr/>
            <p:nvPr/>
          </p:nvSpPr>
          <p:spPr>
            <a:xfrm>
              <a:off x="4043109" y="392252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8BA7F1-5370-51E0-F35F-B071B86B9A31}"/>
                </a:ext>
              </a:extLst>
            </p:cNvPr>
            <p:cNvSpPr/>
            <p:nvPr/>
          </p:nvSpPr>
          <p:spPr>
            <a:xfrm>
              <a:off x="4043109" y="428945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490F67-AC2F-539F-1E27-BCF1232B139E}"/>
                </a:ext>
              </a:extLst>
            </p:cNvPr>
            <p:cNvSpPr/>
            <p:nvPr/>
          </p:nvSpPr>
          <p:spPr>
            <a:xfrm>
              <a:off x="4043109" y="465638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D7AB61-5B82-E04F-FE7E-73A0AFBABCD1}"/>
                </a:ext>
              </a:extLst>
            </p:cNvPr>
            <p:cNvSpPr/>
            <p:nvPr/>
          </p:nvSpPr>
          <p:spPr>
            <a:xfrm>
              <a:off x="4415069" y="392252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F764F5-4FF7-13CF-7832-3F3360290E1A}"/>
                </a:ext>
              </a:extLst>
            </p:cNvPr>
            <p:cNvSpPr/>
            <p:nvPr/>
          </p:nvSpPr>
          <p:spPr>
            <a:xfrm>
              <a:off x="4415069" y="428945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611291-A7DB-14D4-C098-6A9C18591A70}"/>
                </a:ext>
              </a:extLst>
            </p:cNvPr>
            <p:cNvSpPr/>
            <p:nvPr/>
          </p:nvSpPr>
          <p:spPr>
            <a:xfrm>
              <a:off x="4415069" y="4656388"/>
              <a:ext cx="343347" cy="343347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DB0F29E-4823-4D5C-DDE0-C889177C230A}"/>
                </a:ext>
              </a:extLst>
            </p:cNvPr>
            <p:cNvGrpSpPr/>
            <p:nvPr/>
          </p:nvGrpSpPr>
          <p:grpSpPr>
            <a:xfrm>
              <a:off x="4787029" y="3922527"/>
              <a:ext cx="343347" cy="1077209"/>
              <a:chOff x="5730236" y="2365120"/>
              <a:chExt cx="438910" cy="1377024"/>
            </a:xfrm>
            <a:solidFill>
              <a:srgbClr val="F2F2F2"/>
            </a:solidFill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33BDC284-A004-B02F-0014-C02F135B917D}"/>
                  </a:ext>
                </a:extLst>
              </p:cNvPr>
              <p:cNvSpPr/>
              <p:nvPr/>
            </p:nvSpPr>
            <p:spPr>
              <a:xfrm>
                <a:off x="5730236" y="2365120"/>
                <a:ext cx="438910" cy="438909"/>
              </a:xfrm>
              <a:prstGeom prst="rect">
                <a:avLst/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17A4128E-B809-5DF0-C48C-B3A40E965E0D}"/>
                  </a:ext>
                </a:extLst>
              </p:cNvPr>
              <p:cNvSpPr/>
              <p:nvPr/>
            </p:nvSpPr>
            <p:spPr>
              <a:xfrm>
                <a:off x="5730236" y="2834175"/>
                <a:ext cx="438910" cy="438909"/>
              </a:xfrm>
              <a:prstGeom prst="rect">
                <a:avLst/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340CF5F-4969-8E8F-9BF7-093F325584DA}"/>
                  </a:ext>
                </a:extLst>
              </p:cNvPr>
              <p:cNvSpPr/>
              <p:nvPr/>
            </p:nvSpPr>
            <p:spPr>
              <a:xfrm>
                <a:off x="5730236" y="3303235"/>
                <a:ext cx="438910" cy="438909"/>
              </a:xfrm>
              <a:prstGeom prst="rect">
                <a:avLst/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800" b="1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49EECDF-DEE8-BDD6-1996-5D8CF9AB1A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6337" y="3784749"/>
              <a:ext cx="0" cy="1305956"/>
            </a:xfrm>
            <a:prstGeom prst="straightConnector1">
              <a:avLst/>
            </a:prstGeom>
            <a:ln>
              <a:solidFill>
                <a:srgbClr val="D31C5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1C33C33-A3BB-4940-0F3B-2070BCE23923}"/>
                </a:ext>
              </a:extLst>
            </p:cNvPr>
            <p:cNvCxnSpPr>
              <a:cxnSpLocks/>
            </p:cNvCxnSpPr>
            <p:nvPr/>
          </p:nvCxnSpPr>
          <p:spPr>
            <a:xfrm>
              <a:off x="3946337" y="5090282"/>
              <a:ext cx="1394662" cy="0"/>
            </a:xfrm>
            <a:prstGeom prst="straightConnector1">
              <a:avLst/>
            </a:prstGeom>
            <a:ln>
              <a:solidFill>
                <a:srgbClr val="D31C5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B68FF76-01D1-5F92-99EF-0B2DB6246432}"/>
                </a:ext>
              </a:extLst>
            </p:cNvPr>
            <p:cNvSpPr txBox="1"/>
            <p:nvPr/>
          </p:nvSpPr>
          <p:spPr>
            <a:xfrm>
              <a:off x="4083332" y="5021417"/>
              <a:ext cx="9360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pt-BR" sz="900">
                  <a:solidFill>
                    <a:srgbClr val="D31C5B"/>
                  </a:solidFill>
                </a:rPr>
                <a:t>Complexidade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DB8F34E-6A90-C8DF-A8FC-E7CEEE9117EB}"/>
                </a:ext>
              </a:extLst>
            </p:cNvPr>
            <p:cNvSpPr txBox="1"/>
            <p:nvPr/>
          </p:nvSpPr>
          <p:spPr>
            <a:xfrm rot="16200000">
              <a:off x="3588681" y="4391881"/>
              <a:ext cx="71531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pt-BR" sz="900">
                  <a:solidFill>
                    <a:srgbClr val="D31C5B"/>
                  </a:solidFill>
                </a:rPr>
                <a:t>Benefícios</a:t>
              </a:r>
            </a:p>
          </p:txBody>
        </p:sp>
        <p:sp>
          <p:nvSpPr>
            <p:cNvPr id="20" name="Star: 5 Points 19">
              <a:extLst>
                <a:ext uri="{FF2B5EF4-FFF2-40B4-BE49-F238E27FC236}">
                  <a16:creationId xmlns:a16="http://schemas.microsoft.com/office/drawing/2014/main" id="{501A7DD9-3759-E4CB-5917-8F5FE260C8E7}"/>
                </a:ext>
              </a:extLst>
            </p:cNvPr>
            <p:cNvSpPr/>
            <p:nvPr/>
          </p:nvSpPr>
          <p:spPr>
            <a:xfrm>
              <a:off x="4894643" y="3914126"/>
              <a:ext cx="217549" cy="217549"/>
            </a:xfrm>
            <a:prstGeom prst="star5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6A54517-23CE-A772-3777-5FE72FDF5F22}"/>
                </a:ext>
              </a:extLst>
            </p:cNvPr>
            <p:cNvSpPr/>
            <p:nvPr/>
          </p:nvSpPr>
          <p:spPr>
            <a:xfrm>
              <a:off x="4540867" y="4420719"/>
              <a:ext cx="112773" cy="112773"/>
            </a:xfrm>
            <a:prstGeom prst="ellipse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FD31050-456B-7EDC-3E5A-8EDAED22404D}"/>
                </a:ext>
              </a:extLst>
            </p:cNvPr>
            <p:cNvSpPr/>
            <p:nvPr/>
          </p:nvSpPr>
          <p:spPr>
            <a:xfrm>
              <a:off x="4226273" y="4715183"/>
              <a:ext cx="112773" cy="112773"/>
            </a:xfrm>
            <a:prstGeom prst="ellipse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224C6E-57F2-5DF0-2FDC-654A61B4A8A1}"/>
                </a:ext>
              </a:extLst>
            </p:cNvPr>
            <p:cNvSpPr txBox="1"/>
            <p:nvPr/>
          </p:nvSpPr>
          <p:spPr>
            <a:xfrm>
              <a:off x="1965089" y="1789387"/>
              <a:ext cx="1564917" cy="70788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pt-BR" sz="1200" b="1" dirty="0"/>
                <a:t>Definição dos cenários </a:t>
              </a:r>
              <a:br>
                <a:rPr lang="pt-BR" sz="1200" b="1" dirty="0"/>
              </a:br>
              <a:r>
                <a:rPr lang="pt-BR" sz="1100" dirty="0"/>
                <a:t>(</a:t>
              </a:r>
              <a:r>
                <a:rPr lang="pt-BR" sz="1100" i="1" dirty="0"/>
                <a:t>trade-</a:t>
              </a:r>
              <a:r>
                <a:rPr lang="pt-BR" sz="1100" i="1" dirty="0" err="1"/>
                <a:t>offs</a:t>
              </a:r>
              <a:r>
                <a:rPr lang="pt-BR" sz="1100" i="1" dirty="0"/>
                <a:t> p/ ADH</a:t>
              </a:r>
            </a:p>
            <a:p>
              <a:pPr algn="ctr"/>
              <a:r>
                <a:rPr lang="pt-BR" sz="1100" i="1" dirty="0"/>
                <a:t> e </a:t>
              </a:r>
              <a:r>
                <a:rPr lang="pt-BR" sz="1100" i="1" dirty="0" err="1"/>
                <a:t>Educon</a:t>
              </a:r>
              <a:r>
                <a:rPr lang="pt-BR" sz="1100" dirty="0"/>
                <a:t>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2C47B5-80A8-CE68-4FE8-AA5813312988}"/>
                </a:ext>
              </a:extLst>
            </p:cNvPr>
            <p:cNvSpPr txBox="1"/>
            <p:nvPr/>
          </p:nvSpPr>
          <p:spPr>
            <a:xfrm>
              <a:off x="3803570" y="1789387"/>
              <a:ext cx="1564918" cy="52322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pt-BR" sz="1200" b="1"/>
                <a:t>Seleção de cenário </a:t>
              </a:r>
              <a:br>
                <a:rPr lang="pt-BR" sz="1200" b="1"/>
              </a:br>
              <a:r>
                <a:rPr lang="pt-BR" sz="1100"/>
                <a:t>(de acordo com os critérios estabelecidos)</a:t>
              </a:r>
              <a:endParaRPr lang="pt-BR" sz="12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DA1A6C2-2CC7-41C1-72E0-74B3ACAF8744}"/>
                </a:ext>
              </a:extLst>
            </p:cNvPr>
            <p:cNvSpPr txBox="1"/>
            <p:nvPr/>
          </p:nvSpPr>
          <p:spPr>
            <a:xfrm>
              <a:off x="5867619" y="1789387"/>
              <a:ext cx="4529014" cy="52322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pt-BR" sz="1200" b="1"/>
                <a:t>Detalhamento de cenário escolhido</a:t>
              </a:r>
              <a:br>
                <a:rPr lang="pt-BR" sz="1200" b="1"/>
              </a:br>
              <a:r>
                <a:rPr lang="pt-BR" sz="1100"/>
                <a:t>(modelo operacional da ADH e </a:t>
              </a:r>
              <a:r>
                <a:rPr lang="pt-BR" sz="1100" err="1"/>
                <a:t>Educon</a:t>
              </a:r>
              <a:r>
                <a:rPr lang="pt-BR" sz="1100"/>
                <a:t>, estrutura organizacional, gestão de portifólio – governança, e tecnologia e dados)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4F99A48-A7B9-DAAC-6EF4-BA34754951F1}"/>
                </a:ext>
              </a:extLst>
            </p:cNvPr>
            <p:cNvCxnSpPr>
              <a:cxnSpLocks/>
              <a:stCxn id="27" idx="2"/>
              <a:endCxn id="20" idx="0"/>
            </p:cNvCxnSpPr>
            <p:nvPr/>
          </p:nvCxnSpPr>
          <p:spPr>
            <a:xfrm>
              <a:off x="4837351" y="3648406"/>
              <a:ext cx="166067" cy="26572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5A3C51C-4897-5716-5C87-036C13263C04}"/>
                </a:ext>
              </a:extLst>
            </p:cNvPr>
            <p:cNvSpPr txBox="1"/>
            <p:nvPr/>
          </p:nvSpPr>
          <p:spPr>
            <a:xfrm>
              <a:off x="4221901" y="3486823"/>
              <a:ext cx="1230899" cy="16158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pt-BR" sz="1050"/>
                <a:t>Cenário escolhido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CD5B159-D0DF-1560-AC6E-A13831BC0B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3731" y="5152860"/>
              <a:ext cx="269752" cy="394088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CEEFCE-826C-5D34-16A9-37D0F32CB99B}"/>
                </a:ext>
              </a:extLst>
            </p:cNvPr>
            <p:cNvSpPr txBox="1"/>
            <p:nvPr/>
          </p:nvSpPr>
          <p:spPr>
            <a:xfrm>
              <a:off x="3601742" y="5607155"/>
              <a:ext cx="1492536" cy="769441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pt-BR" sz="1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EXEMPLOS: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Riscos de Execução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Gestão de Mudanças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Custo e Investimento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Perda de agilidade</a:t>
              </a:r>
            </a:p>
          </p:txBody>
        </p:sp>
        <p:sp>
          <p:nvSpPr>
            <p:cNvPr id="30" name="Arrow: Pentagon 29">
              <a:extLst>
                <a:ext uri="{FF2B5EF4-FFF2-40B4-BE49-F238E27FC236}">
                  <a16:creationId xmlns:a16="http://schemas.microsoft.com/office/drawing/2014/main" id="{CE69AE74-BDA2-9E31-B6C5-1C60AD2D2C6F}"/>
                </a:ext>
              </a:extLst>
            </p:cNvPr>
            <p:cNvSpPr/>
            <p:nvPr/>
          </p:nvSpPr>
          <p:spPr>
            <a:xfrm>
              <a:off x="381000" y="2578705"/>
              <a:ext cx="1547121" cy="2022585"/>
            </a:xfrm>
            <a:prstGeom prst="homePlate">
              <a:avLst>
                <a:gd name="adj" fmla="val 11696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2000" tIns="0" rIns="0" bIns="0" numCol="1" spcCol="1270" anchor="ctr" anchorCtr="0">
              <a:noAutofit/>
            </a:bodyPr>
            <a:lstStyle/>
            <a:p>
              <a:pPr marL="0" lvl="0" indent="0" defTabSz="622300">
                <a:spcBef>
                  <a:spcPct val="0"/>
                </a:spcBef>
                <a:spcAft>
                  <a:spcPts val="300"/>
                </a:spcAft>
                <a:buNone/>
              </a:pPr>
              <a:r>
                <a:rPr lang="pt-BR" sz="1200" b="1" kern="1200" dirty="0">
                  <a:solidFill>
                    <a:srgbClr val="D31C5B"/>
                  </a:solidFill>
                </a:rPr>
                <a:t>Direcionadores estratégicos</a:t>
              </a: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Expectativas</a:t>
              </a: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Hipóteses de cenários de solução</a:t>
              </a: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Critérios para seleção de cenário alvo</a:t>
              </a:r>
            </a:p>
            <a:p>
              <a:pPr lvl="0" algn="ctr" defTabSz="622300">
                <a:spcBef>
                  <a:spcPct val="0"/>
                </a:spcBef>
                <a:spcAft>
                  <a:spcPts val="300"/>
                </a:spcAft>
              </a:pPr>
              <a:r>
                <a:rPr lang="pt-BR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(Capturados em entrevistas)</a:t>
              </a:r>
            </a:p>
          </p:txBody>
        </p:sp>
        <p:sp>
          <p:nvSpPr>
            <p:cNvPr id="31" name="Arrow: Pentagon 30">
              <a:extLst>
                <a:ext uri="{FF2B5EF4-FFF2-40B4-BE49-F238E27FC236}">
                  <a16:creationId xmlns:a16="http://schemas.microsoft.com/office/drawing/2014/main" id="{CFB888EA-426B-A1D7-AC8B-4440F5C84E9F}"/>
                </a:ext>
              </a:extLst>
            </p:cNvPr>
            <p:cNvSpPr/>
            <p:nvPr/>
          </p:nvSpPr>
          <p:spPr>
            <a:xfrm>
              <a:off x="381000" y="4658433"/>
              <a:ext cx="1547121" cy="1817616"/>
            </a:xfrm>
            <a:prstGeom prst="homePlate">
              <a:avLst>
                <a:gd name="adj" fmla="val 15179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2000" tIns="72000" rIns="72000" bIns="72000" numCol="1" spcCol="1270" anchor="ctr" anchorCtr="0">
              <a:noAutofit/>
            </a:bodyPr>
            <a:lstStyle/>
            <a:p>
              <a:pPr marL="0" lvl="0" indent="0" defTabSz="622300">
                <a:spcBef>
                  <a:spcPct val="0"/>
                </a:spcBef>
                <a:spcAft>
                  <a:spcPts val="300"/>
                </a:spcAft>
                <a:buNone/>
              </a:pPr>
              <a:r>
                <a:rPr lang="pt-BR" sz="1200" b="1" kern="1200">
                  <a:solidFill>
                    <a:srgbClr val="D31C5B"/>
                  </a:solidFill>
                </a:rPr>
                <a:t>Assessment da situação atual</a:t>
              </a: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1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Modelo operacional ADH e </a:t>
              </a:r>
              <a:r>
                <a:rPr lang="pt-BR" sz="110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Educon</a:t>
              </a:r>
              <a:endParaRPr lang="pt-BR" sz="11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44000" lvl="0" indent="-144000" defTabSz="622300">
                <a:spcBef>
                  <a:spcPct val="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1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Arquitetura técnica</a:t>
              </a:r>
            </a:p>
            <a:p>
              <a:pPr lvl="0" algn="ctr" defTabSz="622300">
                <a:spcBef>
                  <a:spcPct val="0"/>
                </a:spcBef>
                <a:spcAft>
                  <a:spcPts val="300"/>
                </a:spcAft>
              </a:pPr>
              <a:r>
                <a:rPr lang="pt-BR" sz="1000" i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(Capturados em entrevistas &amp; data </a:t>
              </a:r>
              <a:r>
                <a:rPr lang="pt-BR" sz="1000" i="1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request</a:t>
              </a:r>
              <a:r>
                <a:rPr lang="pt-BR" sz="1000" i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C6B2A4C-3C10-C5F4-C524-8B3BE94AD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927703" y="4288178"/>
              <a:ext cx="245547" cy="319001"/>
            </a:xfrm>
            <a:prstGeom prst="rect">
              <a:avLst/>
            </a:prstGeom>
            <a:ln>
              <a:noFill/>
            </a:ln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95167A-5BF6-24C8-A4BC-CEE6D1F0C533}"/>
                </a:ext>
              </a:extLst>
            </p:cNvPr>
            <p:cNvSpPr txBox="1"/>
            <p:nvPr/>
          </p:nvSpPr>
          <p:spPr>
            <a:xfrm>
              <a:off x="381000" y="1789387"/>
              <a:ext cx="1564917" cy="73866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pt-BR" sz="1200" b="1" dirty="0"/>
                <a:t>Assessment &amp; Benchmark</a:t>
              </a:r>
            </a:p>
            <a:p>
              <a:r>
                <a:rPr lang="pt-BR" sz="1200" dirty="0"/>
                <a:t>(direcionadores, hipóteses, dores)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E715965-030E-450C-9765-CEE02F549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3349800" y="4288178"/>
              <a:ext cx="245547" cy="31900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2A205E1-FA74-C016-3A6E-301B0B186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5549249" y="4288177"/>
              <a:ext cx="245547" cy="319001"/>
            </a:xfrm>
            <a:prstGeom prst="rect">
              <a:avLst/>
            </a:prstGeom>
            <a:ln>
              <a:noFill/>
            </a:ln>
          </p:spPr>
        </p:pic>
        <p:sp>
          <p:nvSpPr>
            <p:cNvPr id="36" name="Arrow: Chevron 35">
              <a:extLst>
                <a:ext uri="{FF2B5EF4-FFF2-40B4-BE49-F238E27FC236}">
                  <a16:creationId xmlns:a16="http://schemas.microsoft.com/office/drawing/2014/main" id="{D5232813-EE9F-01D4-CAA8-793F4DA062B4}"/>
                </a:ext>
              </a:extLst>
            </p:cNvPr>
            <p:cNvSpPr/>
            <p:nvPr/>
          </p:nvSpPr>
          <p:spPr>
            <a:xfrm>
              <a:off x="1984659" y="1789387"/>
              <a:ext cx="192899" cy="563671"/>
            </a:xfrm>
            <a:prstGeom prst="chevron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37" name="Arrow: Chevron 36">
              <a:extLst>
                <a:ext uri="{FF2B5EF4-FFF2-40B4-BE49-F238E27FC236}">
                  <a16:creationId xmlns:a16="http://schemas.microsoft.com/office/drawing/2014/main" id="{95AA3817-5C96-E470-1088-254065FF2047}"/>
                </a:ext>
              </a:extLst>
            </p:cNvPr>
            <p:cNvSpPr/>
            <p:nvPr/>
          </p:nvSpPr>
          <p:spPr>
            <a:xfrm>
              <a:off x="3403585" y="1789387"/>
              <a:ext cx="192899" cy="563671"/>
            </a:xfrm>
            <a:prstGeom prst="chevron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38" name="Arrow: Chevron 37">
              <a:extLst>
                <a:ext uri="{FF2B5EF4-FFF2-40B4-BE49-F238E27FC236}">
                  <a16:creationId xmlns:a16="http://schemas.microsoft.com/office/drawing/2014/main" id="{664A2784-4E26-70CD-CDF5-65AA4C33C1AF}"/>
                </a:ext>
              </a:extLst>
            </p:cNvPr>
            <p:cNvSpPr/>
            <p:nvPr/>
          </p:nvSpPr>
          <p:spPr>
            <a:xfrm>
              <a:off x="5575573" y="1789387"/>
              <a:ext cx="192899" cy="563671"/>
            </a:xfrm>
            <a:prstGeom prst="chevron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85B178E-004F-F6E0-27CA-4CD7140E8B20}"/>
                </a:ext>
              </a:extLst>
            </p:cNvPr>
            <p:cNvGrpSpPr/>
            <p:nvPr/>
          </p:nvGrpSpPr>
          <p:grpSpPr>
            <a:xfrm>
              <a:off x="2064452" y="2432265"/>
              <a:ext cx="1" cy="4030827"/>
              <a:chOff x="1961667" y="2684411"/>
              <a:chExt cx="1" cy="2901946"/>
            </a:xfrm>
          </p:grpSpPr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B22597A1-57B2-C863-7476-275C031215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667" y="4292485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7F90E185-69CF-6751-5C1F-3B1DB8448C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1668" y="2684411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FA39AEB-9BF1-543C-D2AB-A1F1D592868C}"/>
                </a:ext>
              </a:extLst>
            </p:cNvPr>
            <p:cNvGrpSpPr/>
            <p:nvPr/>
          </p:nvGrpSpPr>
          <p:grpSpPr>
            <a:xfrm>
              <a:off x="3463103" y="2432265"/>
              <a:ext cx="1" cy="4030827"/>
              <a:chOff x="1961667" y="2684411"/>
              <a:chExt cx="1" cy="2901946"/>
            </a:xfrm>
          </p:grpSpPr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F2C800EC-6750-B3DC-A86F-73EEEAD75C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667" y="4292485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279D62D5-553B-9B38-4159-9F2AFA12AF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1668" y="2684411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3481983-AFB5-6B5D-A7C8-E84714A0EED8}"/>
                </a:ext>
              </a:extLst>
            </p:cNvPr>
            <p:cNvGrpSpPr/>
            <p:nvPr/>
          </p:nvGrpSpPr>
          <p:grpSpPr>
            <a:xfrm>
              <a:off x="5672022" y="2432265"/>
              <a:ext cx="1" cy="4030827"/>
              <a:chOff x="1961667" y="2684411"/>
              <a:chExt cx="1" cy="2901946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ACFC5964-64B6-7116-2872-E774A235CB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667" y="4292485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DD1ABDF4-8973-12C2-7F70-1A58027EE7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1668" y="2684411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2C5C905-2209-1E5D-DB74-AEAC68864483}"/>
                </a:ext>
              </a:extLst>
            </p:cNvPr>
            <p:cNvGrpSpPr/>
            <p:nvPr/>
          </p:nvGrpSpPr>
          <p:grpSpPr>
            <a:xfrm>
              <a:off x="10647443" y="2432264"/>
              <a:ext cx="1" cy="4030828"/>
              <a:chOff x="1961667" y="2684411"/>
              <a:chExt cx="1" cy="2901948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29A32E09-9FE0-08FC-7E79-302A909EF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667" y="4292487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2E33B3B5-AD55-357F-9B89-EF77E0FAA3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1668" y="2684411"/>
                <a:ext cx="0" cy="12938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5D3207B-7DF8-C6D1-4BF5-B67A8FA68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524670" y="4288177"/>
              <a:ext cx="245547" cy="319001"/>
            </a:xfrm>
            <a:prstGeom prst="rect">
              <a:avLst/>
            </a:prstGeom>
            <a:ln>
              <a:noFill/>
            </a:ln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A80B888-6D00-81F0-4705-6ABB2AEEC302}"/>
                </a:ext>
              </a:extLst>
            </p:cNvPr>
            <p:cNvSpPr txBox="1"/>
            <p:nvPr/>
          </p:nvSpPr>
          <p:spPr>
            <a:xfrm>
              <a:off x="5959983" y="4832323"/>
              <a:ext cx="1813228" cy="402987"/>
            </a:xfrm>
            <a:prstGeom prst="rect">
              <a:avLst/>
            </a:prstGeom>
            <a:solidFill>
              <a:srgbClr val="D31C5B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pt-BR" sz="1050" b="1">
                  <a:solidFill>
                    <a:srgbClr val="FFFFFF"/>
                  </a:solidFill>
                </a:rPr>
                <a:t>TECNOLOGIA E DADOS</a:t>
              </a:r>
              <a:endParaRPr lang="pt-BR" sz="1050">
                <a:solidFill>
                  <a:srgbClr val="FFFFFF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2579066-AEA1-E658-983B-28AF0C46BBC5}"/>
                </a:ext>
              </a:extLst>
            </p:cNvPr>
            <p:cNvSpPr/>
            <p:nvPr/>
          </p:nvSpPr>
          <p:spPr>
            <a:xfrm>
              <a:off x="5959982" y="5291369"/>
              <a:ext cx="864000" cy="337597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050" b="1">
                  <a:solidFill>
                    <a:schemeClr val="tx1"/>
                  </a:solidFill>
                </a:rPr>
                <a:t>Produtos</a:t>
              </a:r>
            </a:p>
            <a:p>
              <a:r>
                <a:rPr lang="pt-BR" sz="1050" b="1">
                  <a:solidFill>
                    <a:schemeClr val="tx1"/>
                  </a:solidFill>
                </a:rPr>
                <a:t>B2B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1377768-5D92-EC9A-E6D5-9A99C3FB1994}"/>
                </a:ext>
              </a:extLst>
            </p:cNvPr>
            <p:cNvSpPr/>
            <p:nvPr/>
          </p:nvSpPr>
          <p:spPr>
            <a:xfrm>
              <a:off x="5959983" y="5666567"/>
              <a:ext cx="1813228" cy="337597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050" b="1">
                  <a:solidFill>
                    <a:schemeClr val="tx1"/>
                  </a:solidFill>
                </a:rPr>
                <a:t>Cross-Prod.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B3D3D3C-C22C-C6E0-7F57-C12C86F02310}"/>
                </a:ext>
              </a:extLst>
            </p:cNvPr>
            <p:cNvSpPr/>
            <p:nvPr/>
          </p:nvSpPr>
          <p:spPr>
            <a:xfrm>
              <a:off x="5959983" y="6041765"/>
              <a:ext cx="1813228" cy="337597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050" b="1">
                  <a:solidFill>
                    <a:schemeClr val="tx1"/>
                  </a:solidFill>
                </a:rPr>
                <a:t>Tech </a:t>
              </a:r>
              <a:r>
                <a:rPr lang="pt-BR" sz="1050" b="1" err="1">
                  <a:solidFill>
                    <a:schemeClr val="tx1"/>
                  </a:solidFill>
                </a:rPr>
                <a:t>Platf</a:t>
              </a:r>
              <a:r>
                <a:rPr lang="pt-BR" sz="1050" b="1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A986D1D-1A5B-BA5B-FA14-7B0BF69A34FD}"/>
                </a:ext>
              </a:extLst>
            </p:cNvPr>
            <p:cNvSpPr txBox="1"/>
            <p:nvPr/>
          </p:nvSpPr>
          <p:spPr>
            <a:xfrm>
              <a:off x="5959983" y="2680992"/>
              <a:ext cx="1813228" cy="402987"/>
            </a:xfrm>
            <a:prstGeom prst="rect">
              <a:avLst/>
            </a:prstGeom>
            <a:solidFill>
              <a:srgbClr val="D31C5B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pt-BR" sz="1050" b="1">
                  <a:solidFill>
                    <a:srgbClr val="FFFFFF"/>
                  </a:solidFill>
                </a:rPr>
                <a:t>MODELO OPERACIONAL </a:t>
              </a:r>
              <a:r>
                <a:rPr lang="pt-BR" sz="900">
                  <a:solidFill>
                    <a:srgbClr val="FFFFFF"/>
                  </a:solidFill>
                </a:rPr>
                <a:t>(Governança)</a:t>
              </a:r>
            </a:p>
          </p:txBody>
        </p:sp>
        <p:sp>
          <p:nvSpPr>
            <p:cNvPr id="49" name="Arrow: Pentagon 48">
              <a:extLst>
                <a:ext uri="{FF2B5EF4-FFF2-40B4-BE49-F238E27FC236}">
                  <a16:creationId xmlns:a16="http://schemas.microsoft.com/office/drawing/2014/main" id="{246A930C-54B2-D861-4133-242B3B042995}"/>
                </a:ext>
              </a:extLst>
            </p:cNvPr>
            <p:cNvSpPr/>
            <p:nvPr/>
          </p:nvSpPr>
          <p:spPr>
            <a:xfrm>
              <a:off x="10942160" y="2512858"/>
              <a:ext cx="725813" cy="3944529"/>
            </a:xfrm>
            <a:prstGeom prst="homePlate">
              <a:avLst>
                <a:gd name="adj" fmla="val 27346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vert270" wrap="square" lIns="72000" tIns="0" rIns="0" bIns="0" numCol="1" spcCol="1270" anchor="ctr" anchorCtr="0">
              <a:noAutofit/>
            </a:bodyPr>
            <a:lstStyle/>
            <a:p>
              <a:pPr marL="0" lvl="0" indent="0" algn="ctr" defTabSz="622300">
                <a:spcBef>
                  <a:spcPct val="0"/>
                </a:spcBef>
                <a:spcAft>
                  <a:spcPts val="300"/>
                </a:spcAft>
                <a:buNone/>
              </a:pPr>
              <a:r>
                <a:rPr lang="pt-BR" sz="1200" b="1">
                  <a:solidFill>
                    <a:srgbClr val="D31C5B"/>
                  </a:solidFill>
                </a:rPr>
                <a:t>PLANO DE TRANSFORMAÇÃO</a:t>
              </a:r>
              <a:endParaRPr lang="pt-BR" sz="1050">
                <a:solidFill>
                  <a:srgbClr val="D31C5B"/>
                </a:solidFill>
              </a:endParaRPr>
            </a:p>
          </p:txBody>
        </p:sp>
        <p:sp>
          <p:nvSpPr>
            <p:cNvPr id="50" name="Arrow: Chevron 49">
              <a:extLst>
                <a:ext uri="{FF2B5EF4-FFF2-40B4-BE49-F238E27FC236}">
                  <a16:creationId xmlns:a16="http://schemas.microsoft.com/office/drawing/2014/main" id="{C47F2CCE-B722-BE37-E20D-41AE16834291}"/>
                </a:ext>
              </a:extLst>
            </p:cNvPr>
            <p:cNvSpPr/>
            <p:nvPr/>
          </p:nvSpPr>
          <p:spPr>
            <a:xfrm>
              <a:off x="10550994" y="1789387"/>
              <a:ext cx="192899" cy="563671"/>
            </a:xfrm>
            <a:prstGeom prst="chevron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800" b="1">
                <a:solidFill>
                  <a:schemeClr val="bg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6610DD-BF3E-FFC1-310A-5D1904DD41F2}"/>
                </a:ext>
              </a:extLst>
            </p:cNvPr>
            <p:cNvSpPr txBox="1"/>
            <p:nvPr/>
          </p:nvSpPr>
          <p:spPr>
            <a:xfrm>
              <a:off x="10752334" y="1832396"/>
              <a:ext cx="1105465" cy="52322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pt-BR" sz="1200" b="1"/>
                <a:t>Plano </a:t>
              </a:r>
              <a:r>
                <a:rPr lang="pt-BR" sz="1200" b="1" err="1"/>
                <a:t>Transf</a:t>
              </a:r>
              <a:r>
                <a:rPr lang="pt-BR" sz="1200" b="1"/>
                <a:t>.</a:t>
              </a:r>
            </a:p>
            <a:p>
              <a:pPr algn="ctr"/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(iniciativas, prazo, custo)</a:t>
              </a:r>
              <a:endParaRPr lang="pt-BR" sz="1200" b="1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07E3BF8-7D74-D692-747E-C3140C4789E4}"/>
                </a:ext>
              </a:extLst>
            </p:cNvPr>
            <p:cNvSpPr txBox="1"/>
            <p:nvPr/>
          </p:nvSpPr>
          <p:spPr>
            <a:xfrm>
              <a:off x="4042558" y="3781559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072C342-A207-4974-53BA-58B8A6FEE7D5}"/>
                </a:ext>
              </a:extLst>
            </p:cNvPr>
            <p:cNvSpPr txBox="1"/>
            <p:nvPr/>
          </p:nvSpPr>
          <p:spPr>
            <a:xfrm>
              <a:off x="7295516" y="2512858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4CC208E-1577-6C9F-C5F0-CFBED45D7206}"/>
                </a:ext>
              </a:extLst>
            </p:cNvPr>
            <p:cNvSpPr txBox="1"/>
            <p:nvPr/>
          </p:nvSpPr>
          <p:spPr>
            <a:xfrm>
              <a:off x="7295516" y="4688502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57D0A73-9809-63CD-FD12-75160D1CC6D4}"/>
                </a:ext>
              </a:extLst>
            </p:cNvPr>
            <p:cNvSpPr txBox="1"/>
            <p:nvPr/>
          </p:nvSpPr>
          <p:spPr>
            <a:xfrm>
              <a:off x="3567495" y="2465091"/>
              <a:ext cx="1634919" cy="769441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pt-BR" sz="1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EXEMPLOS: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Viabilização de Tese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Alinhamento estratégico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Sinergia operacional</a:t>
              </a: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pt-BR" sz="1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Eficiência e crescimento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55EF38E-E9C9-1CE8-0379-A21184080A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890" y="3222660"/>
              <a:ext cx="196061" cy="933377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E3FCFEC-CD70-997B-EE8A-ABA9B96A0F83}"/>
                </a:ext>
              </a:extLst>
            </p:cNvPr>
            <p:cNvSpPr/>
            <p:nvPr/>
          </p:nvSpPr>
          <p:spPr>
            <a:xfrm>
              <a:off x="5959983" y="3593833"/>
              <a:ext cx="51376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>
                  <a:solidFill>
                    <a:srgbClr val="D31C5B"/>
                  </a:solidFill>
                </a:rPr>
                <a:t>B2B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DDCE8E4-E1C9-6A05-FFE1-0FDD66610939}"/>
                </a:ext>
              </a:extLst>
            </p:cNvPr>
            <p:cNvSpPr/>
            <p:nvPr/>
          </p:nvSpPr>
          <p:spPr>
            <a:xfrm>
              <a:off x="6600897" y="3593833"/>
              <a:ext cx="51376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>
                  <a:solidFill>
                    <a:srgbClr val="D31C5B"/>
                  </a:solidFill>
                </a:rPr>
                <a:t>Cross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4339F67-D301-F99E-0BED-6EF5B049A865}"/>
                </a:ext>
              </a:extLst>
            </p:cNvPr>
            <p:cNvSpPr/>
            <p:nvPr/>
          </p:nvSpPr>
          <p:spPr>
            <a:xfrm>
              <a:off x="7241813" y="3593833"/>
              <a:ext cx="51376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>
                  <a:solidFill>
                    <a:srgbClr val="D31C5B"/>
                  </a:solidFill>
                </a:rPr>
                <a:t>B2P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CB72625-B043-2B76-E0BD-432352E83C2F}"/>
                </a:ext>
              </a:extLst>
            </p:cNvPr>
            <p:cNvSpPr/>
            <p:nvPr/>
          </p:nvSpPr>
          <p:spPr>
            <a:xfrm>
              <a:off x="5959983" y="4006025"/>
              <a:ext cx="179559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>
                  <a:solidFill>
                    <a:srgbClr val="D31C5B"/>
                  </a:solidFill>
                </a:rPr>
                <a:t>Tech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42B47C7-335D-1C41-AFE0-331F56B5F7B5}"/>
                </a:ext>
              </a:extLst>
            </p:cNvPr>
            <p:cNvSpPr/>
            <p:nvPr/>
          </p:nvSpPr>
          <p:spPr>
            <a:xfrm>
              <a:off x="5959983" y="3181642"/>
              <a:ext cx="1795596" cy="27900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>
                  <a:solidFill>
                    <a:srgbClr val="D31C5B"/>
                  </a:solidFill>
                </a:rPr>
                <a:t>Governança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A3D1563-7707-0264-572D-F38F82D8E816}"/>
                </a:ext>
              </a:extLst>
            </p:cNvPr>
            <p:cNvSpPr/>
            <p:nvPr/>
          </p:nvSpPr>
          <p:spPr>
            <a:xfrm>
              <a:off x="6832358" y="5745427"/>
              <a:ext cx="427716" cy="179876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b="1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F387F0D-6F24-8575-7AD0-112871AC5740}"/>
                </a:ext>
              </a:extLst>
            </p:cNvPr>
            <p:cNvSpPr/>
            <p:nvPr/>
          </p:nvSpPr>
          <p:spPr>
            <a:xfrm>
              <a:off x="7296282" y="5745427"/>
              <a:ext cx="427716" cy="179876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b="1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8B68EB0-B01C-6433-A958-AAE8E83A3270}"/>
                </a:ext>
              </a:extLst>
            </p:cNvPr>
            <p:cNvSpPr/>
            <p:nvPr/>
          </p:nvSpPr>
          <p:spPr>
            <a:xfrm>
              <a:off x="6832358" y="6120625"/>
              <a:ext cx="427716" cy="179876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b="1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7E68D31-88A2-D09E-72E3-5C5CAE1A987C}"/>
                </a:ext>
              </a:extLst>
            </p:cNvPr>
            <p:cNvSpPr/>
            <p:nvPr/>
          </p:nvSpPr>
          <p:spPr>
            <a:xfrm>
              <a:off x="7296282" y="6120625"/>
              <a:ext cx="427716" cy="179876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b="1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8B589D1-EAC7-C466-4B7A-92D217B2EA83}"/>
                </a:ext>
              </a:extLst>
            </p:cNvPr>
            <p:cNvSpPr/>
            <p:nvPr/>
          </p:nvSpPr>
          <p:spPr>
            <a:xfrm>
              <a:off x="6909211" y="5291369"/>
              <a:ext cx="864000" cy="337597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050" b="1">
                  <a:solidFill>
                    <a:schemeClr val="tx1"/>
                  </a:solidFill>
                </a:rPr>
                <a:t>Produto</a:t>
              </a:r>
            </a:p>
            <a:p>
              <a:r>
                <a:rPr lang="pt-BR" sz="1050" b="1">
                  <a:solidFill>
                    <a:schemeClr val="tx1"/>
                  </a:solidFill>
                </a:rPr>
                <a:t>B2P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9BA7229-DA79-880B-0171-9F065B2F5343}"/>
                </a:ext>
              </a:extLst>
            </p:cNvPr>
            <p:cNvSpPr/>
            <p:nvPr/>
          </p:nvSpPr>
          <p:spPr>
            <a:xfrm>
              <a:off x="8636203" y="3646270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D111F03-DC9A-25C2-EABE-C2B29F4B270F}"/>
                </a:ext>
              </a:extLst>
            </p:cNvPr>
            <p:cNvSpPr/>
            <p:nvPr/>
          </p:nvSpPr>
          <p:spPr>
            <a:xfrm>
              <a:off x="8439629" y="3966226"/>
              <a:ext cx="160396" cy="153303"/>
            </a:xfrm>
            <a:prstGeom prst="rect">
              <a:avLst/>
            </a:prstGeom>
            <a:solidFill>
              <a:srgbClr val="D31C5B"/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0" rIns="36000" bIns="0" rtlCol="0" anchor="ctr"/>
            <a:lstStyle/>
            <a:p>
              <a:pPr algn="ctr">
                <a:spcBef>
                  <a:spcPts val="600"/>
                </a:spcBef>
              </a:pPr>
              <a:endParaRPr lang="en-US" sz="1100" kern="0" spc="-2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6651FBA-2812-025A-AE9A-D56E80DB47FE}"/>
                </a:ext>
              </a:extLst>
            </p:cNvPr>
            <p:cNvSpPr/>
            <p:nvPr/>
          </p:nvSpPr>
          <p:spPr>
            <a:xfrm>
              <a:off x="8636203" y="3966226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304A66E-25ED-81C7-3568-1535A8FA0EE7}"/>
                </a:ext>
              </a:extLst>
            </p:cNvPr>
            <p:cNvSpPr/>
            <p:nvPr/>
          </p:nvSpPr>
          <p:spPr>
            <a:xfrm>
              <a:off x="8832777" y="3966226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Connector: Elbow 70">
              <a:extLst>
                <a:ext uri="{FF2B5EF4-FFF2-40B4-BE49-F238E27FC236}">
                  <a16:creationId xmlns:a16="http://schemas.microsoft.com/office/drawing/2014/main" id="{A9BC8E8E-5CE5-B053-A25A-34D7C694DAB6}"/>
                </a:ext>
              </a:extLst>
            </p:cNvPr>
            <p:cNvCxnSpPr>
              <a:stCxn id="68" idx="0"/>
              <a:endCxn id="67" idx="2"/>
            </p:cNvCxnSpPr>
            <p:nvPr/>
          </p:nvCxnSpPr>
          <p:spPr>
            <a:xfrm rot="5400000" flipH="1" flipV="1">
              <a:off x="8534786" y="3784612"/>
              <a:ext cx="166656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4AD0CD66-434E-AFAA-A6CF-75955DE70A17}"/>
                </a:ext>
              </a:extLst>
            </p:cNvPr>
            <p:cNvCxnSpPr>
              <a:cxnSpLocks/>
              <a:stCxn id="70" idx="0"/>
              <a:endCxn id="67" idx="2"/>
            </p:cNvCxnSpPr>
            <p:nvPr/>
          </p:nvCxnSpPr>
          <p:spPr>
            <a:xfrm rot="16200000" flipV="1">
              <a:off x="8731360" y="3784612"/>
              <a:ext cx="166656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: Elbow 303">
              <a:extLst>
                <a:ext uri="{FF2B5EF4-FFF2-40B4-BE49-F238E27FC236}">
                  <a16:creationId xmlns:a16="http://schemas.microsoft.com/office/drawing/2014/main" id="{C2520976-168F-94A6-8919-511377343866}"/>
                </a:ext>
              </a:extLst>
            </p:cNvPr>
            <p:cNvCxnSpPr>
              <a:cxnSpLocks/>
              <a:stCxn id="69" idx="0"/>
              <a:endCxn id="67" idx="2"/>
            </p:cNvCxnSpPr>
            <p:nvPr/>
          </p:nvCxnSpPr>
          <p:spPr>
            <a:xfrm flipV="1">
              <a:off x="8716401" y="3799573"/>
              <a:ext cx="0" cy="16665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432F307-8E00-12EC-D9ED-91A8F51C865F}"/>
                </a:ext>
              </a:extLst>
            </p:cNvPr>
            <p:cNvSpPr/>
            <p:nvPr/>
          </p:nvSpPr>
          <p:spPr>
            <a:xfrm>
              <a:off x="9259192" y="3646270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2C079E5-6061-5D80-69B2-A168BC247D16}"/>
                </a:ext>
              </a:extLst>
            </p:cNvPr>
            <p:cNvSpPr/>
            <p:nvPr/>
          </p:nvSpPr>
          <p:spPr>
            <a:xfrm>
              <a:off x="9062618" y="3966226"/>
              <a:ext cx="160396" cy="153303"/>
            </a:xfrm>
            <a:prstGeom prst="rect">
              <a:avLst/>
            </a:prstGeom>
            <a:solidFill>
              <a:srgbClr val="D31C5B"/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0" rIns="36000" bIns="0" rtlCol="0" anchor="ctr"/>
            <a:lstStyle/>
            <a:p>
              <a:pPr algn="ctr">
                <a:spcBef>
                  <a:spcPts val="600"/>
                </a:spcBef>
              </a:pPr>
              <a:endParaRPr lang="en-US" sz="1100" kern="0" spc="-20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A7B0822-63C5-646D-C6CF-83852D0FC783}"/>
                </a:ext>
              </a:extLst>
            </p:cNvPr>
            <p:cNvSpPr/>
            <p:nvPr/>
          </p:nvSpPr>
          <p:spPr>
            <a:xfrm>
              <a:off x="9259192" y="3966226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3F3F380-D58E-7F5C-C4C2-78DAFDC63536}"/>
                </a:ext>
              </a:extLst>
            </p:cNvPr>
            <p:cNvSpPr/>
            <p:nvPr/>
          </p:nvSpPr>
          <p:spPr>
            <a:xfrm>
              <a:off x="9455766" y="3966226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54CA0EB9-42AD-CBEB-C826-170984DFE9B6}"/>
                </a:ext>
              </a:extLst>
            </p:cNvPr>
            <p:cNvCxnSpPr>
              <a:stCxn id="75" idx="0"/>
              <a:endCxn id="74" idx="2"/>
            </p:cNvCxnSpPr>
            <p:nvPr/>
          </p:nvCxnSpPr>
          <p:spPr>
            <a:xfrm rot="5400000" flipH="1" flipV="1">
              <a:off x="9157777" y="3784614"/>
              <a:ext cx="166654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957306F5-9380-A7E0-407E-E1D8B56BA645}"/>
                </a:ext>
              </a:extLst>
            </p:cNvPr>
            <p:cNvCxnSpPr>
              <a:cxnSpLocks/>
              <a:stCxn id="77" idx="0"/>
              <a:endCxn id="74" idx="2"/>
            </p:cNvCxnSpPr>
            <p:nvPr/>
          </p:nvCxnSpPr>
          <p:spPr>
            <a:xfrm rot="16200000" flipV="1">
              <a:off x="9354351" y="3784613"/>
              <a:ext cx="166654" cy="196573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: Elbow 303">
              <a:extLst>
                <a:ext uri="{FF2B5EF4-FFF2-40B4-BE49-F238E27FC236}">
                  <a16:creationId xmlns:a16="http://schemas.microsoft.com/office/drawing/2014/main" id="{55231A39-F076-4683-762D-8BE255CA3BEC}"/>
                </a:ext>
              </a:extLst>
            </p:cNvPr>
            <p:cNvCxnSpPr>
              <a:cxnSpLocks/>
              <a:stCxn id="76" idx="0"/>
              <a:endCxn id="74" idx="2"/>
            </p:cNvCxnSpPr>
            <p:nvPr/>
          </p:nvCxnSpPr>
          <p:spPr>
            <a:xfrm flipV="1">
              <a:off x="9339391" y="3799573"/>
              <a:ext cx="0" cy="166654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BB97193-9D37-9F8B-391A-5F20C6C04AE6}"/>
                </a:ext>
              </a:extLst>
            </p:cNvPr>
            <p:cNvSpPr/>
            <p:nvPr/>
          </p:nvSpPr>
          <p:spPr>
            <a:xfrm>
              <a:off x="9895888" y="3646270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B962FDC-16A2-79E1-9191-71BB15DDBA4F}"/>
                </a:ext>
              </a:extLst>
            </p:cNvPr>
            <p:cNvSpPr/>
            <p:nvPr/>
          </p:nvSpPr>
          <p:spPr>
            <a:xfrm>
              <a:off x="9699313" y="3966226"/>
              <a:ext cx="160396" cy="153303"/>
            </a:xfrm>
            <a:prstGeom prst="rect">
              <a:avLst/>
            </a:prstGeom>
            <a:solidFill>
              <a:srgbClr val="D31C5B"/>
            </a:solidFill>
            <a:ln w="9525" cap="flat" cmpd="sng" algn="ctr">
              <a:noFill/>
              <a:prstDash val="solid"/>
            </a:ln>
            <a:effectLst/>
          </p:spPr>
          <p:txBody>
            <a:bodyPr lIns="36000" tIns="0" rIns="36000" bIns="0" rtlCol="0" anchor="ctr"/>
            <a:lstStyle/>
            <a:p>
              <a:pPr algn="ctr">
                <a:spcBef>
                  <a:spcPts val="600"/>
                </a:spcBef>
              </a:pPr>
              <a:endParaRPr lang="en-US" sz="1100" kern="0" spc="-2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58D38B7-892B-C5D6-9A93-4F79A1E4649C}"/>
                </a:ext>
              </a:extLst>
            </p:cNvPr>
            <p:cNvSpPr/>
            <p:nvPr/>
          </p:nvSpPr>
          <p:spPr>
            <a:xfrm>
              <a:off x="9895888" y="3966226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2E79658-BC7B-1B6A-B5B9-0E90054FE652}"/>
                </a:ext>
              </a:extLst>
            </p:cNvPr>
            <p:cNvSpPr/>
            <p:nvPr/>
          </p:nvSpPr>
          <p:spPr>
            <a:xfrm>
              <a:off x="10092461" y="3966226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E0AC4CD2-777E-E149-A4CE-A6B21D0C8733}"/>
                </a:ext>
              </a:extLst>
            </p:cNvPr>
            <p:cNvCxnSpPr>
              <a:stCxn id="82" idx="0"/>
              <a:endCxn id="81" idx="2"/>
            </p:cNvCxnSpPr>
            <p:nvPr/>
          </p:nvCxnSpPr>
          <p:spPr>
            <a:xfrm rot="5400000" flipH="1" flipV="1">
              <a:off x="9794470" y="3784612"/>
              <a:ext cx="166656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E541BA18-5441-1F59-1022-88A69A6CD35F}"/>
                </a:ext>
              </a:extLst>
            </p:cNvPr>
            <p:cNvCxnSpPr>
              <a:cxnSpLocks/>
              <a:stCxn id="84" idx="0"/>
              <a:endCxn id="81" idx="2"/>
            </p:cNvCxnSpPr>
            <p:nvPr/>
          </p:nvCxnSpPr>
          <p:spPr>
            <a:xfrm rot="16200000" flipV="1">
              <a:off x="9991044" y="3784612"/>
              <a:ext cx="166656" cy="196574"/>
            </a:xfrm>
            <a:prstGeom prst="bentConnector3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303">
              <a:extLst>
                <a:ext uri="{FF2B5EF4-FFF2-40B4-BE49-F238E27FC236}">
                  <a16:creationId xmlns:a16="http://schemas.microsoft.com/office/drawing/2014/main" id="{531F3982-21A3-397E-C5E0-731A9F780700}"/>
                </a:ext>
              </a:extLst>
            </p:cNvPr>
            <p:cNvCxnSpPr>
              <a:cxnSpLocks/>
              <a:stCxn id="83" idx="0"/>
              <a:endCxn id="81" idx="2"/>
            </p:cNvCxnSpPr>
            <p:nvPr/>
          </p:nvCxnSpPr>
          <p:spPr>
            <a:xfrm flipV="1">
              <a:off x="9976085" y="3799573"/>
              <a:ext cx="0" cy="16665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B738814-9C3C-FC34-AAD0-9618CBBE35FB}"/>
                </a:ext>
              </a:extLst>
            </p:cNvPr>
            <p:cNvSpPr/>
            <p:nvPr/>
          </p:nvSpPr>
          <p:spPr>
            <a:xfrm>
              <a:off x="9259192" y="3248482"/>
              <a:ext cx="160396" cy="153303"/>
            </a:xfrm>
            <a:prstGeom prst="rect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Connector: Elbow 303">
              <a:extLst>
                <a:ext uri="{FF2B5EF4-FFF2-40B4-BE49-F238E27FC236}">
                  <a16:creationId xmlns:a16="http://schemas.microsoft.com/office/drawing/2014/main" id="{2F1DCA11-67F1-92DD-387D-B200ECE1B261}"/>
                </a:ext>
              </a:extLst>
            </p:cNvPr>
            <p:cNvCxnSpPr>
              <a:cxnSpLocks/>
              <a:stCxn id="81" idx="0"/>
              <a:endCxn id="88" idx="2"/>
            </p:cNvCxnSpPr>
            <p:nvPr/>
          </p:nvCxnSpPr>
          <p:spPr>
            <a:xfrm rot="16200000" flipV="1">
              <a:off x="9535496" y="3205679"/>
              <a:ext cx="244486" cy="6366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: Elbow 303">
              <a:extLst>
                <a:ext uri="{FF2B5EF4-FFF2-40B4-BE49-F238E27FC236}">
                  <a16:creationId xmlns:a16="http://schemas.microsoft.com/office/drawing/2014/main" id="{B581BBA0-DC17-5273-D159-1460D5CEE45F}"/>
                </a:ext>
              </a:extLst>
            </p:cNvPr>
            <p:cNvCxnSpPr>
              <a:cxnSpLocks/>
              <a:stCxn id="74" idx="0"/>
              <a:endCxn id="88" idx="2"/>
            </p:cNvCxnSpPr>
            <p:nvPr/>
          </p:nvCxnSpPr>
          <p:spPr>
            <a:xfrm flipV="1">
              <a:off x="9339391" y="3401785"/>
              <a:ext cx="0" cy="24448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303">
              <a:extLst>
                <a:ext uri="{FF2B5EF4-FFF2-40B4-BE49-F238E27FC236}">
                  <a16:creationId xmlns:a16="http://schemas.microsoft.com/office/drawing/2014/main" id="{08124931-540E-2FA3-8EF1-B81E5B43FFBF}"/>
                </a:ext>
              </a:extLst>
            </p:cNvPr>
            <p:cNvCxnSpPr>
              <a:cxnSpLocks/>
              <a:stCxn id="88" idx="2"/>
              <a:endCxn id="67" idx="0"/>
            </p:cNvCxnSpPr>
            <p:nvPr/>
          </p:nvCxnSpPr>
          <p:spPr>
            <a:xfrm rot="5400000">
              <a:off x="8905654" y="3212534"/>
              <a:ext cx="244486" cy="62298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0A83F14-A50B-E971-2227-86FDFD6F1FB3}"/>
                </a:ext>
              </a:extLst>
            </p:cNvPr>
            <p:cNvSpPr txBox="1"/>
            <p:nvPr/>
          </p:nvSpPr>
          <p:spPr>
            <a:xfrm>
              <a:off x="8474624" y="2680992"/>
              <a:ext cx="1813228" cy="402987"/>
            </a:xfrm>
            <a:prstGeom prst="rect">
              <a:avLst/>
            </a:prstGeom>
            <a:solidFill>
              <a:srgbClr val="D31C5B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pt-BR" sz="1050" b="1">
                  <a:solidFill>
                    <a:srgbClr val="FFFFFF"/>
                  </a:solidFill>
                </a:rPr>
                <a:t>ESTRUTURA ORGANIZACIONAL</a:t>
              </a:r>
              <a:endParaRPr lang="pt-BR" sz="1050">
                <a:solidFill>
                  <a:srgbClr val="FFFFFF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AAC1808-90C8-B696-A0AB-390649D1E538}"/>
                </a:ext>
              </a:extLst>
            </p:cNvPr>
            <p:cNvSpPr txBox="1"/>
            <p:nvPr/>
          </p:nvSpPr>
          <p:spPr>
            <a:xfrm>
              <a:off x="9810157" y="2512858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DC18CE8-E5AC-49D7-0C91-814A6E3F43AC}"/>
                </a:ext>
              </a:extLst>
            </p:cNvPr>
            <p:cNvSpPr txBox="1"/>
            <p:nvPr/>
          </p:nvSpPr>
          <p:spPr>
            <a:xfrm>
              <a:off x="8474624" y="4832323"/>
              <a:ext cx="1813228" cy="402987"/>
            </a:xfrm>
            <a:prstGeom prst="rect">
              <a:avLst/>
            </a:prstGeom>
            <a:solidFill>
              <a:srgbClr val="D31C5B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pt-BR" sz="1050" b="1">
                  <a:solidFill>
                    <a:srgbClr val="FFFFFF"/>
                  </a:solidFill>
                </a:rPr>
                <a:t>GESTÃO PORTFÓLIO</a:t>
              </a:r>
              <a:br>
                <a:rPr lang="pt-BR" sz="1050" b="1">
                  <a:solidFill>
                    <a:srgbClr val="FFFFFF"/>
                  </a:solidFill>
                </a:rPr>
              </a:br>
              <a:r>
                <a:rPr lang="pt-BR" sz="900">
                  <a:solidFill>
                    <a:srgbClr val="FFFFFF"/>
                  </a:solidFill>
                </a:rPr>
                <a:t>(prioridades e planos)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04531CD-AAA2-DB42-225A-16A35663C754}"/>
                </a:ext>
              </a:extLst>
            </p:cNvPr>
            <p:cNvSpPr txBox="1"/>
            <p:nvPr/>
          </p:nvSpPr>
          <p:spPr>
            <a:xfrm>
              <a:off x="9810157" y="4688502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96" name="Arrow: Left-Right 95">
              <a:extLst>
                <a:ext uri="{FF2B5EF4-FFF2-40B4-BE49-F238E27FC236}">
                  <a16:creationId xmlns:a16="http://schemas.microsoft.com/office/drawing/2014/main" id="{B7E3DA8B-C027-24C5-31A6-D0E248862681}"/>
                </a:ext>
              </a:extLst>
            </p:cNvPr>
            <p:cNvSpPr/>
            <p:nvPr/>
          </p:nvSpPr>
          <p:spPr>
            <a:xfrm>
              <a:off x="7915061" y="3634449"/>
              <a:ext cx="417712" cy="175032"/>
            </a:xfrm>
            <a:prstGeom prst="leftRightArrow">
              <a:avLst/>
            </a:prstGeom>
            <a:solidFill>
              <a:srgbClr val="B455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97" name="Arrow: Left-Right 96">
              <a:extLst>
                <a:ext uri="{FF2B5EF4-FFF2-40B4-BE49-F238E27FC236}">
                  <a16:creationId xmlns:a16="http://schemas.microsoft.com/office/drawing/2014/main" id="{AD342794-13E9-1319-7969-0AB60B7CFAC2}"/>
                </a:ext>
              </a:extLst>
            </p:cNvPr>
            <p:cNvSpPr/>
            <p:nvPr/>
          </p:nvSpPr>
          <p:spPr>
            <a:xfrm>
              <a:off x="7915061" y="5587564"/>
              <a:ext cx="417712" cy="175032"/>
            </a:xfrm>
            <a:prstGeom prst="leftRightArrow">
              <a:avLst/>
            </a:prstGeom>
            <a:solidFill>
              <a:srgbClr val="B455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98" name="Arrow: Left-Right 97">
              <a:extLst>
                <a:ext uri="{FF2B5EF4-FFF2-40B4-BE49-F238E27FC236}">
                  <a16:creationId xmlns:a16="http://schemas.microsoft.com/office/drawing/2014/main" id="{FB96E7B7-3AA0-DA11-C4A6-56E4F42C3692}"/>
                </a:ext>
              </a:extLst>
            </p:cNvPr>
            <p:cNvSpPr/>
            <p:nvPr/>
          </p:nvSpPr>
          <p:spPr>
            <a:xfrm rot="5400000">
              <a:off x="9172382" y="4471162"/>
              <a:ext cx="417712" cy="175032"/>
            </a:xfrm>
            <a:prstGeom prst="leftRightArrow">
              <a:avLst/>
            </a:prstGeom>
            <a:solidFill>
              <a:srgbClr val="B455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99" name="Arrow: Left-Right 98">
              <a:extLst>
                <a:ext uri="{FF2B5EF4-FFF2-40B4-BE49-F238E27FC236}">
                  <a16:creationId xmlns:a16="http://schemas.microsoft.com/office/drawing/2014/main" id="{CF3BCC36-BDA1-80F0-3A4C-58990C1D7D13}"/>
                </a:ext>
              </a:extLst>
            </p:cNvPr>
            <p:cNvSpPr/>
            <p:nvPr/>
          </p:nvSpPr>
          <p:spPr>
            <a:xfrm rot="5400000">
              <a:off x="6657741" y="4471163"/>
              <a:ext cx="417712" cy="175032"/>
            </a:xfrm>
            <a:prstGeom prst="leftRightArrow">
              <a:avLst/>
            </a:prstGeom>
            <a:solidFill>
              <a:srgbClr val="B455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0" name="Arrow: Left-Right 99">
              <a:extLst>
                <a:ext uri="{FF2B5EF4-FFF2-40B4-BE49-F238E27FC236}">
                  <a16:creationId xmlns:a16="http://schemas.microsoft.com/office/drawing/2014/main" id="{1B729E55-EE14-4E31-43EE-ABCE26BA0A01}"/>
                </a:ext>
              </a:extLst>
            </p:cNvPr>
            <p:cNvSpPr/>
            <p:nvPr/>
          </p:nvSpPr>
          <p:spPr>
            <a:xfrm rot="2700000">
              <a:off x="7787553" y="4485248"/>
              <a:ext cx="672728" cy="175032"/>
            </a:xfrm>
            <a:prstGeom prst="leftRightArrow">
              <a:avLst/>
            </a:prstGeom>
            <a:solidFill>
              <a:srgbClr val="B455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1" name="Arrow: Left-Right 100">
              <a:extLst>
                <a:ext uri="{FF2B5EF4-FFF2-40B4-BE49-F238E27FC236}">
                  <a16:creationId xmlns:a16="http://schemas.microsoft.com/office/drawing/2014/main" id="{94DCBFC4-F0F1-5D5A-49E4-C54DB9B90A3A}"/>
                </a:ext>
              </a:extLst>
            </p:cNvPr>
            <p:cNvSpPr/>
            <p:nvPr/>
          </p:nvSpPr>
          <p:spPr>
            <a:xfrm rot="18900000">
              <a:off x="7787553" y="4485249"/>
              <a:ext cx="672728" cy="175032"/>
            </a:xfrm>
            <a:prstGeom prst="leftRightArrow">
              <a:avLst/>
            </a:prstGeom>
            <a:solidFill>
              <a:srgbClr val="B455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DD38EC58-B9EB-DF61-5CCF-01B57B621793}"/>
                </a:ext>
              </a:extLst>
            </p:cNvPr>
            <p:cNvSpPr/>
            <p:nvPr/>
          </p:nvSpPr>
          <p:spPr>
            <a:xfrm>
              <a:off x="8474624" y="5291369"/>
              <a:ext cx="230133" cy="1085227"/>
            </a:xfrm>
            <a:prstGeom prst="triangle">
              <a:avLst/>
            </a:prstGeom>
            <a:gradFill>
              <a:gsLst>
                <a:gs pos="0">
                  <a:srgbClr val="96968C"/>
                </a:gs>
                <a:gs pos="33000">
                  <a:srgbClr val="BC01FF"/>
                </a:gs>
                <a:gs pos="66000">
                  <a:srgbClr val="B455AA"/>
                </a:gs>
                <a:gs pos="100000">
                  <a:srgbClr val="D31C5B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3" name="Arrow: Left-Right 102">
              <a:extLst>
                <a:ext uri="{FF2B5EF4-FFF2-40B4-BE49-F238E27FC236}">
                  <a16:creationId xmlns:a16="http://schemas.microsoft.com/office/drawing/2014/main" id="{185C07DD-1AC5-CE14-3A4C-866366E3E35C}"/>
                </a:ext>
              </a:extLst>
            </p:cNvPr>
            <p:cNvSpPr/>
            <p:nvPr/>
          </p:nvSpPr>
          <p:spPr>
            <a:xfrm rot="5400000">
              <a:off x="6107879" y="3913386"/>
              <a:ext cx="235787" cy="89820"/>
            </a:xfrm>
            <a:prstGeom prst="leftRightArrow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4" name="Arrow: Left-Right 103">
              <a:extLst>
                <a:ext uri="{FF2B5EF4-FFF2-40B4-BE49-F238E27FC236}">
                  <a16:creationId xmlns:a16="http://schemas.microsoft.com/office/drawing/2014/main" id="{567C2A47-CDE2-5BF6-5AEB-5F5F81C866DD}"/>
                </a:ext>
              </a:extLst>
            </p:cNvPr>
            <p:cNvSpPr/>
            <p:nvPr/>
          </p:nvSpPr>
          <p:spPr>
            <a:xfrm rot="5400000">
              <a:off x="6739887" y="3913387"/>
              <a:ext cx="235787" cy="89820"/>
            </a:xfrm>
            <a:prstGeom prst="leftRightArrow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5" name="Arrow: Left-Right 104">
              <a:extLst>
                <a:ext uri="{FF2B5EF4-FFF2-40B4-BE49-F238E27FC236}">
                  <a16:creationId xmlns:a16="http://schemas.microsoft.com/office/drawing/2014/main" id="{3C60CF62-ABF1-4E54-BC43-46C9783E6FA0}"/>
                </a:ext>
              </a:extLst>
            </p:cNvPr>
            <p:cNvSpPr/>
            <p:nvPr/>
          </p:nvSpPr>
          <p:spPr>
            <a:xfrm rot="5400000">
              <a:off x="7380803" y="3913388"/>
              <a:ext cx="235787" cy="89820"/>
            </a:xfrm>
            <a:prstGeom prst="leftRightArrow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6" name="Arrow: Left-Right 105">
              <a:extLst>
                <a:ext uri="{FF2B5EF4-FFF2-40B4-BE49-F238E27FC236}">
                  <a16:creationId xmlns:a16="http://schemas.microsoft.com/office/drawing/2014/main" id="{433EEA64-C5CB-D702-2502-FA1C6C8643BA}"/>
                </a:ext>
              </a:extLst>
            </p:cNvPr>
            <p:cNvSpPr/>
            <p:nvPr/>
          </p:nvSpPr>
          <p:spPr>
            <a:xfrm rot="5400000">
              <a:off x="6107879" y="3470060"/>
              <a:ext cx="235787" cy="89820"/>
            </a:xfrm>
            <a:prstGeom prst="leftRightArrow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7" name="Arrow: Left-Right 106">
              <a:extLst>
                <a:ext uri="{FF2B5EF4-FFF2-40B4-BE49-F238E27FC236}">
                  <a16:creationId xmlns:a16="http://schemas.microsoft.com/office/drawing/2014/main" id="{1AB81D92-9A4F-6DD4-2DF4-D44FB5F17730}"/>
                </a:ext>
              </a:extLst>
            </p:cNvPr>
            <p:cNvSpPr/>
            <p:nvPr/>
          </p:nvSpPr>
          <p:spPr>
            <a:xfrm rot="5400000">
              <a:off x="6739887" y="3470061"/>
              <a:ext cx="235787" cy="89820"/>
            </a:xfrm>
            <a:prstGeom prst="leftRightArrow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8" name="Arrow: Left-Right 107">
              <a:extLst>
                <a:ext uri="{FF2B5EF4-FFF2-40B4-BE49-F238E27FC236}">
                  <a16:creationId xmlns:a16="http://schemas.microsoft.com/office/drawing/2014/main" id="{E6D2B0E1-31F5-103F-923E-48EAA794FCE1}"/>
                </a:ext>
              </a:extLst>
            </p:cNvPr>
            <p:cNvSpPr/>
            <p:nvPr/>
          </p:nvSpPr>
          <p:spPr>
            <a:xfrm rot="5400000">
              <a:off x="7380803" y="3470062"/>
              <a:ext cx="235787" cy="89820"/>
            </a:xfrm>
            <a:prstGeom prst="leftRightArrow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09" name="Arrow: Left-Right 108">
              <a:extLst>
                <a:ext uri="{FF2B5EF4-FFF2-40B4-BE49-F238E27FC236}">
                  <a16:creationId xmlns:a16="http://schemas.microsoft.com/office/drawing/2014/main" id="{D61846AF-6AC6-587F-27CC-4739A4E7FA6D}"/>
                </a:ext>
              </a:extLst>
            </p:cNvPr>
            <p:cNvSpPr/>
            <p:nvPr/>
          </p:nvSpPr>
          <p:spPr>
            <a:xfrm rot="5400000">
              <a:off x="6197767" y="3691724"/>
              <a:ext cx="679111" cy="89820"/>
            </a:xfrm>
            <a:prstGeom prst="leftRightArrow">
              <a:avLst/>
            </a:prstGeom>
            <a:solidFill>
              <a:srgbClr val="D31C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err="1"/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D70021C9-7292-D7FD-F32F-DDE958BFE923}"/>
                </a:ext>
              </a:extLst>
            </p:cNvPr>
            <p:cNvSpPr/>
            <p:nvPr/>
          </p:nvSpPr>
          <p:spPr>
            <a:xfrm>
              <a:off x="9041334" y="5291334"/>
              <a:ext cx="294240" cy="179876"/>
            </a:xfrm>
            <a:prstGeom prst="round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FC4B230B-0A14-C960-DD8F-F58DE8D44472}"/>
                </a:ext>
              </a:extLst>
            </p:cNvPr>
            <p:cNvSpPr/>
            <p:nvPr/>
          </p:nvSpPr>
          <p:spPr>
            <a:xfrm>
              <a:off x="8882040" y="5706986"/>
              <a:ext cx="294240" cy="179876"/>
            </a:xfrm>
            <a:prstGeom prst="round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A153CAAD-B631-AFB5-EBF8-B32DE9A1FA73}"/>
                </a:ext>
              </a:extLst>
            </p:cNvPr>
            <p:cNvSpPr/>
            <p:nvPr/>
          </p:nvSpPr>
          <p:spPr>
            <a:xfrm>
              <a:off x="9200628" y="5706986"/>
              <a:ext cx="294240" cy="179876"/>
            </a:xfrm>
            <a:prstGeom prst="round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7BFF2236-75B7-E284-F441-C3D6EE381F39}"/>
                </a:ext>
              </a:extLst>
            </p:cNvPr>
            <p:cNvSpPr/>
            <p:nvPr/>
          </p:nvSpPr>
          <p:spPr>
            <a:xfrm>
              <a:off x="8722746" y="6120625"/>
              <a:ext cx="294240" cy="179876"/>
            </a:xfrm>
            <a:prstGeom prst="round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073101E0-94A5-5098-2A9A-AC14B656933F}"/>
                </a:ext>
              </a:extLst>
            </p:cNvPr>
            <p:cNvSpPr/>
            <p:nvPr/>
          </p:nvSpPr>
          <p:spPr>
            <a:xfrm>
              <a:off x="9041334" y="6120625"/>
              <a:ext cx="294240" cy="179876"/>
            </a:xfrm>
            <a:prstGeom prst="round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52380584-B9E7-9142-78B8-A80218DC8B04}"/>
                </a:ext>
              </a:extLst>
            </p:cNvPr>
            <p:cNvSpPr/>
            <p:nvPr/>
          </p:nvSpPr>
          <p:spPr>
            <a:xfrm>
              <a:off x="9359922" y="6120625"/>
              <a:ext cx="294240" cy="179876"/>
            </a:xfrm>
            <a:prstGeom prst="roundRect">
              <a:avLst/>
            </a:prstGeom>
            <a:solidFill>
              <a:srgbClr val="D31C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700">
                  <a:solidFill>
                    <a:schemeClr val="bg1"/>
                  </a:solidFill>
                </a:rPr>
                <a:t>OKR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C6C5747-E3B0-19E8-F0D8-8AAB5B7E8DA1}"/>
                </a:ext>
              </a:extLst>
            </p:cNvPr>
            <p:cNvSpPr txBox="1"/>
            <p:nvPr/>
          </p:nvSpPr>
          <p:spPr>
            <a:xfrm>
              <a:off x="10047402" y="5284712"/>
              <a:ext cx="240450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Tese</a:t>
              </a:r>
              <a:b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B2B?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7A9B545-8D83-67BD-E61A-6F713F18380E}"/>
                </a:ext>
              </a:extLst>
            </p:cNvPr>
            <p:cNvSpPr txBox="1"/>
            <p:nvPr/>
          </p:nvSpPr>
          <p:spPr>
            <a:xfrm>
              <a:off x="9712373" y="5284712"/>
              <a:ext cx="235642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Tese</a:t>
              </a:r>
            </a:p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B2P?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DA2B49E-A9B2-7E79-5AAE-D35FB182B0E0}"/>
                </a:ext>
              </a:extLst>
            </p:cNvPr>
            <p:cNvSpPr txBox="1"/>
            <p:nvPr/>
          </p:nvSpPr>
          <p:spPr>
            <a:xfrm>
              <a:off x="9712373" y="5649316"/>
              <a:ext cx="575479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Tese das</a:t>
              </a:r>
              <a:b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Aquisições?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33914AD-B314-F27E-E697-1F577DE4A834}"/>
                </a:ext>
              </a:extLst>
            </p:cNvPr>
            <p:cNvSpPr txBox="1"/>
            <p:nvPr/>
          </p:nvSpPr>
          <p:spPr>
            <a:xfrm>
              <a:off x="9699549" y="6054280"/>
              <a:ext cx="588303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Evolução de</a:t>
              </a:r>
              <a:b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Produto?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E58CA28-1D3E-DC19-F9D5-BC024C1AED13}"/>
                </a:ext>
              </a:extLst>
            </p:cNvPr>
            <p:cNvSpPr txBox="1"/>
            <p:nvPr/>
          </p:nvSpPr>
          <p:spPr>
            <a:xfrm>
              <a:off x="8098270" y="5733143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B0878B0-301C-8EDA-FAFE-DE911DE3D475}"/>
                </a:ext>
              </a:extLst>
            </p:cNvPr>
            <p:cNvSpPr txBox="1"/>
            <p:nvPr/>
          </p:nvSpPr>
          <p:spPr>
            <a:xfrm>
              <a:off x="9468754" y="4495368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5A5BDDD-2CD9-6EFE-23A1-E2DBC57D98E9}"/>
                </a:ext>
              </a:extLst>
            </p:cNvPr>
            <p:cNvSpPr txBox="1"/>
            <p:nvPr/>
          </p:nvSpPr>
          <p:spPr>
            <a:xfrm>
              <a:off x="6951734" y="4495368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9A0F2A8-953B-4A39-13E5-F79545087F6E}"/>
                </a:ext>
              </a:extLst>
            </p:cNvPr>
            <p:cNvSpPr txBox="1"/>
            <p:nvPr/>
          </p:nvSpPr>
          <p:spPr>
            <a:xfrm>
              <a:off x="8098270" y="3506058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5056B594-483B-A604-8600-D86D5C7ECE8D}"/>
                </a:ext>
              </a:extLst>
            </p:cNvPr>
            <p:cNvSpPr txBox="1"/>
            <p:nvPr/>
          </p:nvSpPr>
          <p:spPr>
            <a:xfrm>
              <a:off x="8098270" y="4313022"/>
              <a:ext cx="51296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/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B60615C-1029-49A6-B2B3-1412891B0C43}"/>
                </a:ext>
              </a:extLst>
            </p:cNvPr>
            <p:cNvSpPr txBox="1"/>
            <p:nvPr/>
          </p:nvSpPr>
          <p:spPr>
            <a:xfrm>
              <a:off x="2848894" y="2605180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450BCF3-4B2E-E741-1DC8-B8078F3CD7AC}"/>
                </a:ext>
              </a:extLst>
            </p:cNvPr>
            <p:cNvSpPr txBox="1"/>
            <p:nvPr/>
          </p:nvSpPr>
          <p:spPr>
            <a:xfrm>
              <a:off x="2848894" y="3918275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AAA8DAA-D5C2-EBC5-A44C-BB7233299208}"/>
                </a:ext>
              </a:extLst>
            </p:cNvPr>
            <p:cNvSpPr txBox="1"/>
            <p:nvPr/>
          </p:nvSpPr>
          <p:spPr>
            <a:xfrm>
              <a:off x="2848894" y="5202084"/>
              <a:ext cx="477695" cy="12311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8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128" name="AutoShape 16">
              <a:extLst>
                <a:ext uri="{FF2B5EF4-FFF2-40B4-BE49-F238E27FC236}">
                  <a16:creationId xmlns:a16="http://schemas.microsoft.com/office/drawing/2014/main" id="{8150E342-41F9-D8AC-790C-47802A87837B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81000" y="1467928"/>
              <a:ext cx="1683452" cy="264552"/>
            </a:xfrm>
            <a:prstGeom prst="chevron">
              <a:avLst>
                <a:gd name="adj" fmla="val 39046"/>
              </a:avLst>
            </a:prstGeom>
            <a:solidFill>
              <a:srgbClr val="D31C5B"/>
            </a:solidFill>
            <a:ln w="1270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91440" anchor="ctr" anchorCtr="0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Arial" charset="0"/>
                </a:rPr>
                <a:t>1. ASSESSMENT</a:t>
              </a:r>
            </a:p>
          </p:txBody>
        </p:sp>
        <p:sp>
          <p:nvSpPr>
            <p:cNvPr id="129" name="AutoShape 17">
              <a:extLst>
                <a:ext uri="{FF2B5EF4-FFF2-40B4-BE49-F238E27FC236}">
                  <a16:creationId xmlns:a16="http://schemas.microsoft.com/office/drawing/2014/main" id="{5BFE072B-55FA-15EE-A15A-3104AF9C357E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064451" y="1467928"/>
              <a:ext cx="8545273" cy="264552"/>
            </a:xfrm>
            <a:prstGeom prst="chevron">
              <a:avLst>
                <a:gd name="adj" fmla="val 39140"/>
              </a:avLst>
            </a:prstGeom>
            <a:solidFill>
              <a:srgbClr val="D31C5B"/>
            </a:solidFill>
            <a:ln w="1270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1440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cs typeface="Arial" charset="0"/>
                </a:rPr>
                <a:t>2. DESENHO</a:t>
              </a:r>
              <a:endParaRPr kumimoji="0" lang="pt-B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30" name="AutoShape 18">
              <a:extLst>
                <a:ext uri="{FF2B5EF4-FFF2-40B4-BE49-F238E27FC236}">
                  <a16:creationId xmlns:a16="http://schemas.microsoft.com/office/drawing/2014/main" id="{203A1C5B-529D-3F3D-EB24-9CDD8A0B5607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0609725" y="1467928"/>
              <a:ext cx="1209474" cy="264552"/>
            </a:xfrm>
            <a:prstGeom prst="chevron">
              <a:avLst>
                <a:gd name="adj" fmla="val 39982"/>
              </a:avLst>
            </a:prstGeom>
            <a:solidFill>
              <a:srgbClr val="D31C5B"/>
            </a:solidFill>
            <a:ln w="12700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1440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cs typeface="Arial" charset="0"/>
                </a:rPr>
                <a:t>3. PLANO</a:t>
              </a:r>
              <a:endPara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93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nzcNbZ28E6g8Tqzcyrk5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.HWbRAbaEiVkSveg4dGw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GgaMh9ucEaNmBuSeeIeLw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265</Words>
  <Application>Microsoft Office PowerPoint</Application>
  <PresentationFormat>Widescreen</PresentationFormat>
  <Paragraphs>87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2025-12-07T11:12:14Z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