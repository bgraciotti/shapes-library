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A9A58-C374-36F7-3746-BAB74321CC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6B7E5-635B-FC51-1DBD-BAB4BD59E0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1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4B87DD-22BA-0C73-EA13-C3BBF76C53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43DA9D-12D8-8F5C-B31A-1F0E9D7A9B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D10A23-888C-0346-7DB3-88FAA2B963AF}"/>
              </a:ext>
            </a:extLst>
          </p:cNvPr>
          <p:cNvGrpSpPr/>
          <p:nvPr/>
        </p:nvGrpSpPr>
        <p:grpSpPr>
          <a:xfrm>
            <a:off x="-270492" y="1752015"/>
            <a:ext cx="12453256" cy="4549544"/>
            <a:chOff x="-261256" y="1752015"/>
            <a:chExt cx="12453256" cy="45495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FE4CCC-DDF0-58B0-8983-51F892638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2426" y="1778381"/>
              <a:ext cx="5085748" cy="281837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18ABEF-28B9-18DE-3004-6489DE42AB89}"/>
                </a:ext>
              </a:extLst>
            </p:cNvPr>
            <p:cNvSpPr/>
            <p:nvPr/>
          </p:nvSpPr>
          <p:spPr>
            <a:xfrm>
              <a:off x="6722427" y="1767290"/>
              <a:ext cx="5045711" cy="313923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E1190B11-0CC8-08D7-D856-D22E034A85EE}"/>
                </a:ext>
              </a:extLst>
            </p:cNvPr>
            <p:cNvCxnSpPr>
              <a:cxnSpLocks/>
              <a:stCxn id="6" idx="1"/>
              <a:endCxn id="10" idx="3"/>
            </p:cNvCxnSpPr>
            <p:nvPr/>
          </p:nvCxnSpPr>
          <p:spPr>
            <a:xfrm rot="10800000" flipV="1">
              <a:off x="5807623" y="1924251"/>
              <a:ext cx="914805" cy="969087"/>
            </a:xfrm>
            <a:prstGeom prst="bentConnector3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3436E4-D0AD-929A-B618-EF1937527DFC}"/>
                </a:ext>
              </a:extLst>
            </p:cNvPr>
            <p:cNvSpPr/>
            <p:nvPr/>
          </p:nvSpPr>
          <p:spPr>
            <a:xfrm>
              <a:off x="6780213" y="3138743"/>
              <a:ext cx="1001712" cy="409320"/>
            </a:xfrm>
            <a:prstGeom prst="rect">
              <a:avLst/>
            </a:prstGeom>
            <a:noFill/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B6411486-2BBC-A1CC-01F0-54FC734F3889}"/>
                </a:ext>
              </a:extLst>
            </p:cNvPr>
            <p:cNvCxnSpPr>
              <a:cxnSpLocks/>
              <a:stCxn id="8" idx="1"/>
              <a:endCxn id="12" idx="3"/>
            </p:cNvCxnSpPr>
            <p:nvPr/>
          </p:nvCxnSpPr>
          <p:spPr>
            <a:xfrm rot="10800000" flipV="1">
              <a:off x="5807623" y="3343403"/>
              <a:ext cx="972591" cy="809222"/>
            </a:xfrm>
            <a:prstGeom prst="bentConnector3">
              <a:avLst/>
            </a:prstGeom>
            <a:ln w="28575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5C6ED15C-7C77-2D00-ABE5-57E49F2FA9E6}"/>
                </a:ext>
              </a:extLst>
            </p:cNvPr>
            <p:cNvSpPr txBox="1">
              <a:spLocks/>
            </p:cNvSpPr>
            <p:nvPr/>
          </p:nvSpPr>
          <p:spPr>
            <a:xfrm>
              <a:off x="367691" y="2398331"/>
              <a:ext cx="5439931" cy="990015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>
                <a:spcBef>
                  <a:spcPts val="200"/>
                </a:spcBef>
                <a:spcAft>
                  <a:spcPts val="200"/>
                </a:spcAft>
                <a:defRPr sz="1400" b="1"/>
              </a:lvl1pPr>
              <a:lvl2pPr marL="285744" indent="-230182" algn="l" defTabSz="91437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14338" indent="-230182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783" indent="-171446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57229" indent="-177796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Graphik" panose="020B0503030202060203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28674" indent="-17303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5561" indent="0" algn="l" defTabSz="914377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None/>
                <a:defRPr sz="1200" b="1" kern="1200" cap="all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7pPr>
              <a:lvl8pPr marL="55561" indent="0" algn="l" defTabSz="91437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5561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N1 - Macro capacidades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Representam os blocos funcionais estratégicos de uma corretora, agrupando grandes áreas de atuação que sustentam a operação e o modelo de negócios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513732B-B0DE-531B-DD7D-E8A8FACBAE78}"/>
                </a:ext>
              </a:extLst>
            </p:cNvPr>
            <p:cNvSpPr/>
            <p:nvPr/>
          </p:nvSpPr>
          <p:spPr>
            <a:xfrm>
              <a:off x="-261256" y="1752015"/>
              <a:ext cx="6049628" cy="43200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tIns="91440" bIns="9144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Mapeamento alto nível, dividido em 2 níveis: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C3C0E26D-0813-80B1-BC1D-645A28585600}"/>
                </a:ext>
              </a:extLst>
            </p:cNvPr>
            <p:cNvSpPr txBox="1">
              <a:spLocks/>
            </p:cNvSpPr>
            <p:nvPr/>
          </p:nvSpPr>
          <p:spPr>
            <a:xfrm>
              <a:off x="367691" y="3657617"/>
              <a:ext cx="5439931" cy="990015"/>
            </a:xfrm>
            <a:prstGeom prst="rect">
              <a:avLst/>
            </a:prstGeom>
            <a:noFill/>
          </p:spPr>
          <p:txBody>
            <a:bodyPr wrap="square" lIns="0" tIns="0" rIns="0" bIns="45720" rtlCol="0">
              <a:spAutoFit/>
            </a:bodyPr>
            <a:lstStyle>
              <a:defPPr>
                <a:defRPr lang="en-US"/>
              </a:defPPr>
              <a:lvl1pPr>
                <a:spcBef>
                  <a:spcPts val="200"/>
                </a:spcBef>
                <a:spcAft>
                  <a:spcPts val="200"/>
                </a:spcAft>
                <a:defRPr sz="1400" b="1"/>
              </a:lvl1pPr>
              <a:lvl2pPr marL="285744" indent="-230182" algn="l" defTabSz="91437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14338" indent="-230182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685783" indent="-171446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57229" indent="-177796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Graphik" panose="020B0503030202060203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28674" indent="-17303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5561" indent="0" algn="l" defTabSz="914377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panose="020B0604020202020204" pitchFamily="34" charset="0"/>
                <a:buNone/>
                <a:defRPr sz="1200" b="1" kern="1200" cap="all" baseline="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7pPr>
              <a:lvl8pPr marL="55561" indent="0" algn="l" defTabSz="914377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Font typeface="Arial" panose="020B0604020202020204" pitchFamily="34" charset="0"/>
                <a:buNone/>
                <a:defRPr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5561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N2 – Sub-capacidades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Detalham os processos críticos ou especializações dentro de cada macro capacidade, representando as funções operacionais específicas que sustentam o dia a dia da corretora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3D93C8-FF2D-9420-0B94-0634B0DED82A}"/>
                </a:ext>
              </a:extLst>
            </p:cNvPr>
            <p:cNvSpPr/>
            <p:nvPr/>
          </p:nvSpPr>
          <p:spPr>
            <a:xfrm>
              <a:off x="0" y="5097772"/>
              <a:ext cx="12192000" cy="120378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560B75B-A574-381D-5C25-48038C8C0A32}"/>
                </a:ext>
              </a:extLst>
            </p:cNvPr>
            <p:cNvSpPr txBox="1"/>
            <p:nvPr/>
          </p:nvSpPr>
          <p:spPr>
            <a:xfrm>
              <a:off x="381000" y="5250905"/>
              <a:ext cx="11430000" cy="89075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A partir do mapeamento, realizamos </a:t>
              </a: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duas análises</a:t>
              </a: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 para a implantação das hipóteses priorizadas: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Avaliação do </a:t>
              </a: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grau de impacto em cada sub-capacidades </a:t>
              </a: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(alto, médio ou baixo)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Lista de </a:t>
              </a:r>
              <a:r>
                <a:rPr kumimoji="0" lang="pt-BR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novas capacidades </a:t>
              </a:r>
              <a:r>
                <a:rPr kumimoji="0" lang="pt-BR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n-ea"/>
                  <a:cs typeface="+mn-cs"/>
                </a:rPr>
                <a:t>que deverão ser desenvolvidas</a:t>
              </a:r>
              <a:endParaRPr kumimoji="0" lang="pt-BR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360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122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Graphik</vt:lpstr>
      <vt:lpstr>Graphik Semibold</vt:lpstr>
      <vt:lpstr>Wingdings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2026-03-10T17:44:52Z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