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DC962C0-3EC9-9437-32E5-D52F7EFF01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1389FE-0BDA-C041-AA7A-BD9EB651BD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933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18" Type="http://schemas.microsoft.com/office/2007/relationships/hdphoto" Target="../media/hdphoto3.wdp"/><Relationship Id="rId3" Type="http://schemas.openxmlformats.org/officeDocument/2006/relationships/image" Target="../media/image3.jpeg"/><Relationship Id="rId7" Type="http://schemas.microsoft.com/office/2007/relationships/hdphoto" Target="../media/hdphoto1.wdp"/><Relationship Id="rId12" Type="http://schemas.openxmlformats.org/officeDocument/2006/relationships/image" Target="../media/image11.jpeg"/><Relationship Id="rId17" Type="http://schemas.openxmlformats.org/officeDocument/2006/relationships/image" Target="../media/image15.png"/><Relationship Id="rId2" Type="http://schemas.openxmlformats.org/officeDocument/2006/relationships/image" Target="../media/image2.png"/><Relationship Id="rId16" Type="http://schemas.openxmlformats.org/officeDocument/2006/relationships/image" Target="../media/image14.jpeg"/><Relationship Id="rId20" Type="http://schemas.microsoft.com/office/2007/relationships/hdphoto" Target="../media/hdphoto4.wd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10.svg"/><Relationship Id="rId5" Type="http://schemas.openxmlformats.org/officeDocument/2006/relationships/image" Target="../media/image5.svg"/><Relationship Id="rId15" Type="http://schemas.microsoft.com/office/2007/relationships/hdphoto" Target="../media/hdphoto2.wdp"/><Relationship Id="rId10" Type="http://schemas.openxmlformats.org/officeDocument/2006/relationships/image" Target="../media/image9.png"/><Relationship Id="rId19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8.jpe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4D6C37-3F9A-D2D3-263B-771DB2D256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C31F2-1E3D-AC5B-606F-4C358CB7E3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E4A459-F5EE-6B81-F86B-6CC7A162B56A}"/>
              </a:ext>
            </a:extLst>
          </p:cNvPr>
          <p:cNvGrpSpPr/>
          <p:nvPr/>
        </p:nvGrpSpPr>
        <p:grpSpPr>
          <a:xfrm>
            <a:off x="381000" y="1567746"/>
            <a:ext cx="3456002" cy="704032"/>
            <a:chOff x="384065" y="1608386"/>
            <a:chExt cx="3456002" cy="70403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E68A2CE-358E-579F-AEBD-7A7178577FE3}"/>
                </a:ext>
              </a:extLst>
            </p:cNvPr>
            <p:cNvCxnSpPr>
              <a:cxnSpLocks/>
            </p:cNvCxnSpPr>
            <p:nvPr/>
          </p:nvCxnSpPr>
          <p:spPr>
            <a:xfrm>
              <a:off x="384067" y="1859743"/>
              <a:ext cx="345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6BE517A-5BE4-2C05-0489-7359309582C2}"/>
                </a:ext>
              </a:extLst>
            </p:cNvPr>
            <p:cNvSpPr txBox="1"/>
            <p:nvPr/>
          </p:nvSpPr>
          <p:spPr>
            <a:xfrm>
              <a:off x="384066" y="1608386"/>
              <a:ext cx="34560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defTabSz="228600">
                <a:spcAft>
                  <a:spcPts val="300"/>
                </a:spcAft>
              </a:pPr>
              <a:r>
                <a:rPr lang="pt-BR" sz="1400" b="1"/>
                <a:t>Liderança Técnica do Projeto</a:t>
              </a:r>
              <a:endParaRPr lang="pt-BR" sz="14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F4EBA0A-B628-5776-E80C-D2F7FCD28945}"/>
                </a:ext>
              </a:extLst>
            </p:cNvPr>
            <p:cNvSpPr txBox="1"/>
            <p:nvPr/>
          </p:nvSpPr>
          <p:spPr>
            <a:xfrm>
              <a:off x="384065" y="1935228"/>
              <a:ext cx="3456000" cy="3771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1100" dirty="0"/>
                <a:t>Responsável pela interface com a liderança da Itaú e pela coordenação da equipe nas entregas</a:t>
              </a:r>
              <a:endParaRPr lang="pt-BR" sz="1100" noProof="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2374A34-DEC5-25F7-B889-A6C9C3FB7587}"/>
              </a:ext>
            </a:extLst>
          </p:cNvPr>
          <p:cNvGrpSpPr/>
          <p:nvPr/>
        </p:nvGrpSpPr>
        <p:grpSpPr>
          <a:xfrm>
            <a:off x="8355000" y="1567746"/>
            <a:ext cx="3456000" cy="704032"/>
            <a:chOff x="8213120" y="1608386"/>
            <a:chExt cx="3456000" cy="704032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4A5E0D9-5D40-E342-20A4-8717A0A10FED}"/>
                </a:ext>
              </a:extLst>
            </p:cNvPr>
            <p:cNvCxnSpPr>
              <a:cxnSpLocks/>
            </p:cNvCxnSpPr>
            <p:nvPr/>
          </p:nvCxnSpPr>
          <p:spPr>
            <a:xfrm>
              <a:off x="8213120" y="1859743"/>
              <a:ext cx="345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A421AA1-B2A3-2FA0-1665-DA0AB0C0E7BD}"/>
                </a:ext>
              </a:extLst>
            </p:cNvPr>
            <p:cNvSpPr txBox="1"/>
            <p:nvPr/>
          </p:nvSpPr>
          <p:spPr>
            <a:xfrm>
              <a:off x="8213120" y="1608386"/>
              <a:ext cx="34560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defTabSz="228600">
                <a:spcAft>
                  <a:spcPts val="300"/>
                </a:spcAft>
              </a:pPr>
              <a:r>
                <a:rPr lang="pt-BR" sz="1400" b="1" i="1" dirty="0"/>
                <a:t>Advisory </a:t>
              </a:r>
              <a:r>
                <a:rPr lang="pt-BR" sz="1400" b="1" i="1" dirty="0" err="1"/>
                <a:t>Committee</a:t>
              </a:r>
              <a:endParaRPr lang="pt-BR" sz="1400" b="1" i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79441C-D93B-4393-CF9C-48846582CD56}"/>
                </a:ext>
              </a:extLst>
            </p:cNvPr>
            <p:cNvSpPr txBox="1"/>
            <p:nvPr/>
          </p:nvSpPr>
          <p:spPr>
            <a:xfrm>
              <a:off x="8213120" y="1935228"/>
              <a:ext cx="3456000" cy="377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1100" dirty="0"/>
                <a:t>Comitê criado para apoiar discussões aprofundadas sobre o conteúdo do setor</a:t>
              </a:r>
              <a:endParaRPr lang="pt-BR" sz="1100" noProof="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9FBF8E6-BA5B-3053-457B-1A976593A388}"/>
              </a:ext>
            </a:extLst>
          </p:cNvPr>
          <p:cNvGrpSpPr/>
          <p:nvPr/>
        </p:nvGrpSpPr>
        <p:grpSpPr>
          <a:xfrm>
            <a:off x="4368001" y="1567746"/>
            <a:ext cx="3456000" cy="727548"/>
            <a:chOff x="4298594" y="1608386"/>
            <a:chExt cx="3456000" cy="72754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7AEFAC3-EE99-6B2D-EA84-59BB93A4174D}"/>
                </a:ext>
              </a:extLst>
            </p:cNvPr>
            <p:cNvCxnSpPr>
              <a:cxnSpLocks/>
            </p:cNvCxnSpPr>
            <p:nvPr/>
          </p:nvCxnSpPr>
          <p:spPr>
            <a:xfrm>
              <a:off x="4298594" y="1859743"/>
              <a:ext cx="3456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0789E52-920E-4710-3C56-7D1C4955D0A7}"/>
                </a:ext>
              </a:extLst>
            </p:cNvPr>
            <p:cNvSpPr txBox="1"/>
            <p:nvPr/>
          </p:nvSpPr>
          <p:spPr>
            <a:xfrm>
              <a:off x="4298594" y="1608386"/>
              <a:ext cx="345600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defTabSz="228600">
                <a:spcAft>
                  <a:spcPts val="300"/>
                </a:spcAft>
              </a:pPr>
              <a:r>
                <a:rPr lang="pt-BR" sz="1400" b="1" dirty="0"/>
                <a:t>Liderança Sênior para o Itaú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B8FE274-BF95-408A-AE1A-A872A4F3BA9D}"/>
                </a:ext>
              </a:extLst>
            </p:cNvPr>
            <p:cNvSpPr txBox="1"/>
            <p:nvPr/>
          </p:nvSpPr>
          <p:spPr>
            <a:xfrm>
              <a:off x="4298594" y="1958744"/>
              <a:ext cx="3456000" cy="37719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1100" dirty="0"/>
                <a:t>Responsável pelo sucesso da relação entre Itaú e Accenture</a:t>
              </a:r>
              <a:endParaRPr lang="pt-BR" sz="1100" noProof="0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7FA6AE5-F20C-CE74-F645-BC217A31E228}"/>
              </a:ext>
            </a:extLst>
          </p:cNvPr>
          <p:cNvSpPr txBox="1"/>
          <p:nvPr/>
        </p:nvSpPr>
        <p:spPr>
          <a:xfrm>
            <a:off x="370131" y="5456525"/>
            <a:ext cx="11354509" cy="7435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Graphik" panose="020B050303020206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Nossos executivos seniores estarão presentes no dia a dia do projeto e serão parte eficaz da equipe que estará junto com Itaú durante todo o processo de mapeamento e discussão de oportunidades, não apenas como administradores.</a:t>
            </a:r>
            <a:endParaRPr lang="pt-BR" sz="1400" i="1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C2CD07-DAED-2CC8-43E2-D8D3A4784D87}"/>
              </a:ext>
            </a:extLst>
          </p:cNvPr>
          <p:cNvGrpSpPr/>
          <p:nvPr/>
        </p:nvGrpSpPr>
        <p:grpSpPr>
          <a:xfrm>
            <a:off x="8355000" y="4468284"/>
            <a:ext cx="3456000" cy="621720"/>
            <a:chOff x="381000" y="2533858"/>
            <a:chExt cx="3456000" cy="62172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E23834B-904C-09D9-CB50-5CD289983820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2">
              <a:grayscl/>
            </a:blip>
            <a:stretch>
              <a:fillRect/>
            </a:stretch>
          </p:blipFill>
          <p:spPr>
            <a:xfrm>
              <a:off x="381000" y="2533858"/>
              <a:ext cx="576000" cy="576000"/>
            </a:xfrm>
            <a:prstGeom prst="ellipse">
              <a:avLst/>
            </a:prstGeom>
            <a:blipFill>
              <a:blip r:embed="rId3">
                <a:grayscl/>
              </a:blip>
              <a:stretch>
                <a:fillRect/>
              </a:stretch>
            </a:blipFill>
            <a:ln>
              <a:noFill/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4AF6603-CFD0-BF52-4761-050DBFF2EA52}"/>
                </a:ext>
              </a:extLst>
            </p:cNvPr>
            <p:cNvSpPr txBox="1"/>
            <p:nvPr/>
          </p:nvSpPr>
          <p:spPr>
            <a:xfrm>
              <a:off x="957000" y="2533858"/>
              <a:ext cx="2880000" cy="576000"/>
            </a:xfrm>
            <a:prstGeom prst="rect">
              <a:avLst/>
            </a:prstGeom>
            <a:noFill/>
          </p:spPr>
          <p:txBody>
            <a:bodyPr wrap="square" lIns="144000" tIns="0" rIns="0" bIns="0" rtlCol="0" anchor="ctr">
              <a:noAutofit/>
            </a:bodyPr>
            <a:lstStyle/>
            <a:p>
              <a:pPr algn="l" defTabSz="228600"/>
              <a:r>
                <a:rPr lang="pt-BR" sz="1100" b="1" dirty="0"/>
                <a:t>Douglas Silva</a:t>
              </a:r>
              <a:endParaRPr lang="pt-BR" sz="1100" b="1" noProof="0" dirty="0"/>
            </a:p>
            <a:p>
              <a:pPr defTabSz="228600"/>
              <a:r>
                <a:rPr lang="pt-BR" sz="1100" i="1" dirty="0" err="1"/>
                <a:t>Managing</a:t>
              </a:r>
              <a:r>
                <a:rPr lang="pt-BR" sz="1100" i="1" dirty="0"/>
                <a:t> </a:t>
              </a:r>
              <a:r>
                <a:rPr lang="pt-BR" sz="1100" i="1" dirty="0" err="1"/>
                <a:t>Director</a:t>
              </a:r>
              <a:br>
                <a:rPr lang="pt-BR" sz="1100" dirty="0"/>
              </a:br>
              <a:r>
                <a:rPr lang="pt-BR" sz="1100" dirty="0"/>
                <a:t>Estratégia Tecnológica para Especialista Bancário</a:t>
              </a:r>
              <a:endParaRPr lang="pt-BR" sz="1100" noProof="0" dirty="0"/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67882F43-C187-2F72-D787-11B568081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4340" y="2939578"/>
              <a:ext cx="216000" cy="21600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D882123-5B75-6075-BA42-63C65B38B93F}"/>
              </a:ext>
            </a:extLst>
          </p:cNvPr>
          <p:cNvGrpSpPr/>
          <p:nvPr/>
        </p:nvGrpSpPr>
        <p:grpSpPr>
          <a:xfrm>
            <a:off x="381000" y="2493218"/>
            <a:ext cx="3456000" cy="621720"/>
            <a:chOff x="381000" y="3520612"/>
            <a:chExt cx="3456000" cy="62172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A17AB7B-963C-B21C-9936-9841A58EBE1F}"/>
                </a:ext>
              </a:extLst>
            </p:cNvPr>
            <p:cNvSpPr txBox="1"/>
            <p:nvPr/>
          </p:nvSpPr>
          <p:spPr>
            <a:xfrm>
              <a:off x="957000" y="3520612"/>
              <a:ext cx="2880000" cy="576000"/>
            </a:xfrm>
            <a:prstGeom prst="rect">
              <a:avLst/>
            </a:prstGeom>
            <a:noFill/>
          </p:spPr>
          <p:txBody>
            <a:bodyPr wrap="square" lIns="180000" tIns="0" rIns="0" bIns="0" rtlCol="0" anchor="ctr">
              <a:noAutofit/>
            </a:bodyPr>
            <a:lstStyle/>
            <a:p>
              <a:pPr algn="l" defTabSz="228600"/>
              <a:r>
                <a:rPr lang="pt-BR" sz="1100" b="1" dirty="0"/>
                <a:t>Brenno Graciotti</a:t>
              </a:r>
              <a:endParaRPr lang="pt-BR" sz="1100" b="1" noProof="0" dirty="0"/>
            </a:p>
            <a:p>
              <a:pPr algn="l" defTabSz="228600"/>
              <a:r>
                <a:rPr lang="pt-BR" sz="1100" i="1" dirty="0"/>
                <a:t>Principal </a:t>
              </a:r>
              <a:r>
                <a:rPr lang="pt-BR" sz="1100" i="1" dirty="0" err="1"/>
                <a:t>Director</a:t>
              </a:r>
              <a:endParaRPr lang="pt-BR" sz="1100" i="1" dirty="0"/>
            </a:p>
            <a:p>
              <a:pPr algn="l" defTabSz="228600"/>
              <a:r>
                <a:rPr lang="pt-BR" sz="1100" dirty="0"/>
                <a:t>Estrategista para Serviços Financeiros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4EF11FD-129C-F90C-BD7E-D4D66A99ADC2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rcRect l="18649" t="12512" r="21482" b="16944"/>
            <a:stretch/>
          </p:blipFill>
          <p:spPr>
            <a:xfrm>
              <a:off x="381000" y="3520612"/>
              <a:ext cx="576000" cy="576000"/>
            </a:xfrm>
            <a:prstGeom prst="ellipse">
              <a:avLst/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BD081368-8405-C06E-12DC-60A877C1F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4340" y="3926332"/>
              <a:ext cx="216000" cy="2160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94BC8C1-2024-D74D-DBFB-6A6CF7546796}"/>
              </a:ext>
            </a:extLst>
          </p:cNvPr>
          <p:cNvGrpSpPr/>
          <p:nvPr/>
        </p:nvGrpSpPr>
        <p:grpSpPr>
          <a:xfrm>
            <a:off x="4368001" y="4468284"/>
            <a:ext cx="3456000" cy="621720"/>
            <a:chOff x="4368001" y="4508924"/>
            <a:chExt cx="3456000" cy="62172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6E51F5D-2457-8450-6A20-E9C0E66E19E8}"/>
                </a:ext>
              </a:extLst>
            </p:cNvPr>
            <p:cNvSpPr txBox="1"/>
            <p:nvPr/>
          </p:nvSpPr>
          <p:spPr>
            <a:xfrm>
              <a:off x="4944001" y="4543833"/>
              <a:ext cx="2880000" cy="576000"/>
            </a:xfrm>
            <a:prstGeom prst="rect">
              <a:avLst/>
            </a:prstGeom>
            <a:noFill/>
          </p:spPr>
          <p:txBody>
            <a:bodyPr wrap="square" lIns="180000" tIns="0" rIns="0" bIns="0" rtlCol="0" anchor="ctr">
              <a:noAutofit/>
            </a:bodyPr>
            <a:lstStyle/>
            <a:p>
              <a:pPr defTabSz="228600"/>
              <a:r>
                <a:rPr lang="pt-BR" sz="1100" b="1" dirty="0"/>
                <a:t>Matias Carvajal</a:t>
              </a:r>
            </a:p>
            <a:p>
              <a:pPr defTabSz="910834">
                <a:lnSpc>
                  <a:spcPct val="110000"/>
                </a:lnSpc>
                <a:defRPr/>
              </a:pPr>
              <a:r>
                <a:rPr lang="pt-BR" sz="1100" dirty="0"/>
                <a:t>Executivo experiente na indústria; responsável pela relação com o Itaú, Chile,</a:t>
              </a:r>
            </a:p>
          </p:txBody>
        </p:sp>
        <p:pic>
          <p:nvPicPr>
            <p:cNvPr id="27" name="Picture 26" descr="A person in a suit with his arms crossed&#10;&#10;AI-generated content may be incorrect.">
              <a:extLst>
                <a:ext uri="{FF2B5EF4-FFF2-40B4-BE49-F238E27FC236}">
                  <a16:creationId xmlns:a16="http://schemas.microsoft.com/office/drawing/2014/main" id="{625C995E-B001-C2F6-69BA-BDE2A9DF900A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9">
              <a:grayscl/>
            </a:blip>
            <a:stretch>
              <a:fillRect/>
            </a:stretch>
          </p:blipFill>
          <p:spPr>
            <a:xfrm>
              <a:off x="4368001" y="4508924"/>
              <a:ext cx="576000" cy="576000"/>
            </a:xfrm>
            <a:prstGeom prst="ellipse">
              <a:avLst/>
            </a:prstGeom>
            <a:ln>
              <a:solidFill>
                <a:srgbClr val="FEF2E1"/>
              </a:solidFill>
            </a:ln>
          </p:spPr>
        </p:pic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B064B9EE-C7C0-3532-8490-E9345FD16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781341" y="4914644"/>
              <a:ext cx="216000" cy="2160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5F293B5-BE28-547E-5CAC-515A5A325402}"/>
              </a:ext>
            </a:extLst>
          </p:cNvPr>
          <p:cNvGrpSpPr/>
          <p:nvPr/>
        </p:nvGrpSpPr>
        <p:grpSpPr>
          <a:xfrm>
            <a:off x="4368001" y="2493218"/>
            <a:ext cx="3456000" cy="621720"/>
            <a:chOff x="4368001" y="2533858"/>
            <a:chExt cx="3456000" cy="62172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AF33444-3039-2BFA-6FB4-975FFA283F30}"/>
                </a:ext>
              </a:extLst>
            </p:cNvPr>
            <p:cNvSpPr txBox="1"/>
            <p:nvPr/>
          </p:nvSpPr>
          <p:spPr>
            <a:xfrm>
              <a:off x="4944001" y="2533858"/>
              <a:ext cx="2880000" cy="576000"/>
            </a:xfrm>
            <a:prstGeom prst="rect">
              <a:avLst/>
            </a:prstGeom>
            <a:noFill/>
          </p:spPr>
          <p:txBody>
            <a:bodyPr wrap="square" lIns="180000" tIns="0" rIns="0" bIns="0" rtlCol="0" anchor="ctr">
              <a:noAutofit/>
            </a:bodyPr>
            <a:lstStyle/>
            <a:p>
              <a:pPr algn="l" defTabSz="228600"/>
              <a:r>
                <a:rPr lang="pt-BR" sz="1100" b="1" dirty="0"/>
                <a:t>Marcus Schalch</a:t>
              </a:r>
            </a:p>
            <a:p>
              <a:pPr defTabSz="910834">
                <a:lnSpc>
                  <a:spcPct val="110000"/>
                </a:lnSpc>
                <a:defRPr/>
              </a:pPr>
              <a:r>
                <a:rPr lang="pt-BR" sz="1100" dirty="0"/>
                <a:t>Executivo experiente na indústria; responsável por toda relação com Itaú</a:t>
              </a:r>
            </a:p>
          </p:txBody>
        </p:sp>
        <p:pic>
          <p:nvPicPr>
            <p:cNvPr id="31" name="Picture 2" descr="Marcus Schalch - Harvard Alumni Club of Brazil (HACB) | LinkedIn">
              <a:extLst>
                <a:ext uri="{FF2B5EF4-FFF2-40B4-BE49-F238E27FC236}">
                  <a16:creationId xmlns:a16="http://schemas.microsoft.com/office/drawing/2014/main" id="{133BF03D-3F65-6DF7-A2F9-90570A8884B5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 rotWithShape="1">
            <a:blip r:embed="rId1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01" t="30750" r="26899" b="12049"/>
            <a:stretch/>
          </p:blipFill>
          <p:spPr bwMode="auto">
            <a:xfrm>
              <a:off x="4368001" y="2533858"/>
              <a:ext cx="576000" cy="576000"/>
            </a:xfrm>
            <a:prstGeom prst="ellipse">
              <a:avLst/>
            </a:prstGeom>
            <a:ln>
              <a:solidFill>
                <a:srgbClr val="FEF2E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456C3753-E9A3-5872-BF77-834CF500D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81341" y="2939578"/>
              <a:ext cx="216000" cy="2160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64951D9-F177-5CFC-DE81-77FA0562A579}"/>
              </a:ext>
            </a:extLst>
          </p:cNvPr>
          <p:cNvGrpSpPr/>
          <p:nvPr/>
        </p:nvGrpSpPr>
        <p:grpSpPr>
          <a:xfrm>
            <a:off x="4368001" y="3479972"/>
            <a:ext cx="3456000" cy="621720"/>
            <a:chOff x="4368001" y="3520612"/>
            <a:chExt cx="3456000" cy="621720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ED5CC6-8CE2-F352-FF49-742B24191746}"/>
                </a:ext>
              </a:extLst>
            </p:cNvPr>
            <p:cNvSpPr txBox="1"/>
            <p:nvPr/>
          </p:nvSpPr>
          <p:spPr>
            <a:xfrm>
              <a:off x="4944001" y="3520612"/>
              <a:ext cx="2880000" cy="576000"/>
            </a:xfrm>
            <a:prstGeom prst="rect">
              <a:avLst/>
            </a:prstGeom>
            <a:noFill/>
          </p:spPr>
          <p:txBody>
            <a:bodyPr wrap="square" lIns="180000" tIns="0" rIns="0" bIns="0" rtlCol="0" anchor="ctr">
              <a:noAutofit/>
            </a:bodyPr>
            <a:lstStyle/>
            <a:p>
              <a:pPr defTabSz="228600"/>
              <a:r>
                <a:rPr lang="pt-BR" sz="1100" b="1" dirty="0"/>
                <a:t>Rogério Mascarenhas</a:t>
              </a:r>
            </a:p>
            <a:p>
              <a:pPr defTabSz="228600"/>
              <a:r>
                <a:rPr lang="pt-BR" sz="1100" dirty="0"/>
                <a:t>Líder da prática de Estratégia Bancária, com +20 anos de experiência em projetos estratégicos</a:t>
              </a:r>
            </a:p>
          </p:txBody>
        </p:sp>
        <p:pic>
          <p:nvPicPr>
            <p:cNvPr id="35" name="Picture 4" descr="Rogerio Mascarenhas Email &amp; Phone Number | McKinsey &amp; Company Sr Advisor  Contact Information">
              <a:extLst>
                <a:ext uri="{FF2B5EF4-FFF2-40B4-BE49-F238E27FC236}">
                  <a16:creationId xmlns:a16="http://schemas.microsoft.com/office/drawing/2014/main" id="{0E832B61-B363-F819-8062-44F2C5AC9A6B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1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8001" y="3520612"/>
              <a:ext cx="576000" cy="576000"/>
            </a:xfrm>
            <a:prstGeom prst="ellipse">
              <a:avLst/>
            </a:prstGeom>
            <a:ln>
              <a:solidFill>
                <a:srgbClr val="FEF2E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221191BB-B856-75A9-B39E-BEEA74467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81341" y="3926332"/>
              <a:ext cx="216000" cy="21600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AAB9B79-F3EE-DB4F-7359-9A93CD9602F5}"/>
              </a:ext>
            </a:extLst>
          </p:cNvPr>
          <p:cNvGrpSpPr/>
          <p:nvPr/>
        </p:nvGrpSpPr>
        <p:grpSpPr>
          <a:xfrm>
            <a:off x="8355000" y="2493218"/>
            <a:ext cx="3456000" cy="621720"/>
            <a:chOff x="8355000" y="2533858"/>
            <a:chExt cx="3456000" cy="62172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5188627-80FD-7B86-44F8-B4549AA6C776}"/>
                </a:ext>
              </a:extLst>
            </p:cNvPr>
            <p:cNvSpPr txBox="1"/>
            <p:nvPr/>
          </p:nvSpPr>
          <p:spPr>
            <a:xfrm>
              <a:off x="8931000" y="2533858"/>
              <a:ext cx="2880000" cy="576000"/>
            </a:xfrm>
            <a:prstGeom prst="rect">
              <a:avLst/>
            </a:prstGeom>
            <a:noFill/>
          </p:spPr>
          <p:txBody>
            <a:bodyPr wrap="square" lIns="180000" tIns="0" rIns="0" bIns="0" rtlCol="0" anchor="ctr">
              <a:noAutofit/>
            </a:bodyPr>
            <a:lstStyle/>
            <a:p>
              <a:pPr defTabSz="228600"/>
              <a:r>
                <a:rPr lang="pt-BR" sz="1100" b="1" dirty="0"/>
                <a:t>Maurício Barbosa</a:t>
              </a:r>
              <a:endParaRPr lang="pt-BR" sz="1100" b="1" noProof="0" dirty="0"/>
            </a:p>
            <a:p>
              <a:pPr defTabSz="228600"/>
              <a:r>
                <a:rPr lang="pt-BR" sz="1100" i="1" dirty="0"/>
                <a:t>Líder responsável pela prática de Serviços Financeiros na América Latina</a:t>
              </a:r>
              <a:endParaRPr lang="pt-BR" sz="1100" i="1" noProof="0" dirty="0"/>
            </a:p>
          </p:txBody>
        </p:sp>
        <p:pic>
          <p:nvPicPr>
            <p:cNvPr id="39" name="Picture 38" descr="A person in a suit and tie&#10;&#10;AI-generated content may be incorrect.">
              <a:extLst>
                <a:ext uri="{FF2B5EF4-FFF2-40B4-BE49-F238E27FC236}">
                  <a16:creationId xmlns:a16="http://schemas.microsoft.com/office/drawing/2014/main" id="{8107EAE7-C790-1FB2-FF27-05CE9D04B4F4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14">
              <a:grayscl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55000" y="2533858"/>
              <a:ext cx="576000" cy="576000"/>
            </a:xfrm>
            <a:prstGeom prst="ellipse">
              <a:avLst/>
            </a:prstGeom>
            <a:ln>
              <a:solidFill>
                <a:srgbClr val="FEF2E1"/>
              </a:solidFill>
            </a:ln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2E0B645-A761-6DB6-5EF4-F6497919E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68340" y="2939578"/>
              <a:ext cx="216000" cy="2160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220E84F-3696-D4D7-0A93-37BBDC208BD7}"/>
              </a:ext>
            </a:extLst>
          </p:cNvPr>
          <p:cNvGrpSpPr/>
          <p:nvPr/>
        </p:nvGrpSpPr>
        <p:grpSpPr>
          <a:xfrm>
            <a:off x="8355000" y="3479972"/>
            <a:ext cx="3456000" cy="621720"/>
            <a:chOff x="8355000" y="3520612"/>
            <a:chExt cx="3456000" cy="621720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01423CB-F80E-EE85-44AB-862D123FB52B}"/>
                </a:ext>
              </a:extLst>
            </p:cNvPr>
            <p:cNvSpPr txBox="1"/>
            <p:nvPr/>
          </p:nvSpPr>
          <p:spPr>
            <a:xfrm>
              <a:off x="8931000" y="3520612"/>
              <a:ext cx="2880000" cy="576000"/>
            </a:xfrm>
            <a:prstGeom prst="rect">
              <a:avLst/>
            </a:prstGeom>
            <a:noFill/>
          </p:spPr>
          <p:txBody>
            <a:bodyPr wrap="square" lIns="180000" tIns="0" rIns="0" bIns="0" rtlCol="0" anchor="ctr">
              <a:noAutofit/>
            </a:bodyPr>
            <a:lstStyle/>
            <a:p>
              <a:pPr defTabSz="228600"/>
              <a:r>
                <a:rPr lang="pt-BR" sz="1100" b="1" dirty="0"/>
                <a:t>Denis Freitas</a:t>
              </a:r>
              <a:endParaRPr lang="pt-BR" sz="1100" b="1" noProof="0" dirty="0"/>
            </a:p>
            <a:p>
              <a:pPr defTabSz="228600"/>
              <a:r>
                <a:rPr lang="pt-BR" sz="1100" i="1" dirty="0" err="1"/>
                <a:t>Managing</a:t>
              </a:r>
              <a:r>
                <a:rPr lang="pt-BR" sz="1100" i="1" dirty="0"/>
                <a:t> </a:t>
              </a:r>
              <a:r>
                <a:rPr lang="pt-BR" sz="1100" i="1" dirty="0" err="1"/>
                <a:t>Director</a:t>
              </a:r>
              <a:endParaRPr lang="pt-BR" sz="1100" i="1" dirty="0"/>
            </a:p>
            <a:p>
              <a:pPr defTabSz="228600"/>
              <a:r>
                <a:rPr lang="pt-BR" sz="1100" dirty="0"/>
                <a:t>Especialista em Plataformas de Empréstimos</a:t>
              </a:r>
              <a:endParaRPr lang="pt-BR" sz="1100" noProof="0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AE04B5CA-FCB2-3C07-3439-6312C1539F79}"/>
                </a:ext>
              </a:extLst>
            </p:cNvPr>
            <p:cNvPicPr preferRelativeResize="0">
              <a:picLocks noChangeAspect="1"/>
            </p:cNvPicPr>
            <p:nvPr/>
          </p:nvPicPr>
          <p:blipFill>
            <a:blip r:embed="rId16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5000" y="3520612"/>
              <a:ext cx="576000" cy="576000"/>
            </a:xfrm>
            <a:prstGeom prst="ellipse">
              <a:avLst/>
            </a:prstGeom>
            <a:blipFill>
              <a:blip r:embed="rId3">
                <a:grayscl/>
              </a:blip>
              <a:stretch>
                <a:fillRect/>
              </a:stretch>
            </a:blipFill>
            <a:ln>
              <a:noFill/>
            </a:ln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E7101129-A6A3-804C-80A9-D56855D42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68340" y="3926332"/>
              <a:ext cx="216000" cy="2160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811D4ED-70AC-2D01-D62E-C49DC043A9AF}"/>
              </a:ext>
            </a:extLst>
          </p:cNvPr>
          <p:cNvGrpSpPr/>
          <p:nvPr/>
        </p:nvGrpSpPr>
        <p:grpSpPr>
          <a:xfrm>
            <a:off x="381000" y="3479972"/>
            <a:ext cx="3456000" cy="621720"/>
            <a:chOff x="381000" y="3520612"/>
            <a:chExt cx="3456000" cy="62172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497C003-C0F9-ECD9-A97E-4A7DDC87B857}"/>
                </a:ext>
              </a:extLst>
            </p:cNvPr>
            <p:cNvSpPr txBox="1"/>
            <p:nvPr/>
          </p:nvSpPr>
          <p:spPr>
            <a:xfrm>
              <a:off x="957000" y="3555521"/>
              <a:ext cx="2880000" cy="576000"/>
            </a:xfrm>
            <a:prstGeom prst="rect">
              <a:avLst/>
            </a:prstGeom>
            <a:noFill/>
          </p:spPr>
          <p:txBody>
            <a:bodyPr wrap="square" lIns="180000" tIns="0" rIns="0" bIns="0" rtlCol="0" anchor="ctr">
              <a:noAutofit/>
            </a:bodyPr>
            <a:lstStyle/>
            <a:p>
              <a:pPr defTabSz="228600"/>
              <a:r>
                <a:rPr lang="pt-BR" sz="1100" b="1" dirty="0"/>
                <a:t>Rodolfo Brito</a:t>
              </a:r>
              <a:endParaRPr lang="pt-BR" sz="1100" b="1" noProof="0" dirty="0"/>
            </a:p>
            <a:p>
              <a:pPr defTabSz="228600"/>
              <a:r>
                <a:rPr lang="pt-BR" sz="1100" i="1" dirty="0" err="1"/>
                <a:t>Senior</a:t>
              </a:r>
              <a:r>
                <a:rPr lang="pt-BR" sz="1100" i="1" dirty="0"/>
                <a:t> Manager</a:t>
              </a:r>
            </a:p>
            <a:p>
              <a:pPr defTabSz="228600"/>
              <a:r>
                <a:rPr lang="pt-BR" sz="1100" i="1" dirty="0"/>
                <a:t>Líder de Data &amp; AI para Serviços Financeiros</a:t>
              </a:r>
            </a:p>
          </p:txBody>
        </p:sp>
        <p:pic>
          <p:nvPicPr>
            <p:cNvPr id="47" name="Picture 46" descr="A person in a suit&#10;&#10;AI-generated content may be incorrect.">
              <a:extLst>
                <a:ext uri="{FF2B5EF4-FFF2-40B4-BE49-F238E27FC236}">
                  <a16:creationId xmlns:a16="http://schemas.microsoft.com/office/drawing/2014/main" id="{612E5EA4-090B-ECD0-38FA-4A331E45E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81000" y="3520612"/>
              <a:ext cx="576000" cy="576000"/>
            </a:xfrm>
            <a:prstGeom prst="ellipse">
              <a:avLst/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</p:pic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092004B1-078F-226C-2A17-622716E3D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4340" y="3926332"/>
              <a:ext cx="216000" cy="216000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9967B78-BC52-6D2C-C84A-98A9127A5DCB}"/>
              </a:ext>
            </a:extLst>
          </p:cNvPr>
          <p:cNvGrpSpPr/>
          <p:nvPr/>
        </p:nvGrpSpPr>
        <p:grpSpPr>
          <a:xfrm>
            <a:off x="381000" y="4468284"/>
            <a:ext cx="3456000" cy="621720"/>
            <a:chOff x="381000" y="4508924"/>
            <a:chExt cx="3456000" cy="62172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D05FA1BA-605E-B5A8-4CFF-02CA54EB9151}"/>
                </a:ext>
              </a:extLst>
            </p:cNvPr>
            <p:cNvSpPr txBox="1"/>
            <p:nvPr/>
          </p:nvSpPr>
          <p:spPr>
            <a:xfrm>
              <a:off x="957000" y="4543833"/>
              <a:ext cx="2880000" cy="576000"/>
            </a:xfrm>
            <a:prstGeom prst="rect">
              <a:avLst/>
            </a:prstGeom>
            <a:noFill/>
          </p:spPr>
          <p:txBody>
            <a:bodyPr wrap="square" lIns="180000" tIns="0" rIns="0" bIns="0" rtlCol="0" anchor="ctr">
              <a:noAutofit/>
            </a:bodyPr>
            <a:lstStyle/>
            <a:p>
              <a:pPr algn="l" defTabSz="228600"/>
              <a:r>
                <a:rPr lang="pt-BR" sz="1100" b="1" dirty="0"/>
                <a:t>Rafael Radtke</a:t>
              </a:r>
              <a:endParaRPr lang="pt-BR" sz="1100" b="1" noProof="0" dirty="0"/>
            </a:p>
            <a:p>
              <a:pPr algn="l" defTabSz="228600"/>
              <a:r>
                <a:rPr lang="pt-BR" sz="1100" i="1" dirty="0"/>
                <a:t>Manager</a:t>
              </a:r>
            </a:p>
            <a:p>
              <a:pPr algn="l" defTabSz="228600"/>
              <a:r>
                <a:rPr lang="pt-BR" sz="1100" dirty="0"/>
                <a:t>Estrategista para Serviços Financeiros</a:t>
              </a:r>
            </a:p>
          </p:txBody>
        </p:sp>
        <p:pic>
          <p:nvPicPr>
            <p:cNvPr id="51" name="Picture 50" descr="A person in a black jacket&#10;&#10;AI-generated content may be incorrect.">
              <a:extLst>
                <a:ext uri="{FF2B5EF4-FFF2-40B4-BE49-F238E27FC236}">
                  <a16:creationId xmlns:a16="http://schemas.microsoft.com/office/drawing/2014/main" id="{BD264C45-62FC-1BF3-23C3-E6963E6D9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81000" y="4508924"/>
              <a:ext cx="576000" cy="576000"/>
            </a:xfrm>
            <a:prstGeom prst="ellipse">
              <a:avLst/>
            </a:prstGeom>
            <a:blipFill>
              <a:blip r:embed="rId8"/>
              <a:stretch>
                <a:fillRect/>
              </a:stretch>
            </a:blipFill>
            <a:ln>
              <a:noFill/>
            </a:ln>
          </p:spPr>
        </p:pic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02C32AED-4024-D730-6786-A2D9B7D2E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4340" y="4914644"/>
              <a:ext cx="216000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5558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209</Words>
  <Application>Microsoft Office PowerPoint</Application>
  <PresentationFormat>Widescreen</PresentationFormat>
  <Paragraphs>33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2026-01-18T14:27:58Z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