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EE3F20-34F0-4C17-6E55-867FBC9EEF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8B6768-0E91-051A-5F9B-70088963B4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376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890E2A-0EB0-A912-8E75-1665B5B203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9DC076-0BF0-BE07-3792-5E40E173C1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97E43F-AD50-DF2A-2E54-611C55DEB214}"/>
              </a:ext>
            </a:extLst>
          </p:cNvPr>
          <p:cNvGrpSpPr/>
          <p:nvPr/>
        </p:nvGrpSpPr>
        <p:grpSpPr>
          <a:xfrm>
            <a:off x="429839" y="1381694"/>
            <a:ext cx="11406560" cy="4950788"/>
            <a:chOff x="429839" y="1400166"/>
            <a:chExt cx="11406560" cy="4950788"/>
          </a:xfrm>
        </p:grpSpPr>
        <p:sp>
          <p:nvSpPr>
            <p:cNvPr id="5" name="Flowchart: Document 4">
              <a:extLst>
                <a:ext uri="{FF2B5EF4-FFF2-40B4-BE49-F238E27FC236}">
                  <a16:creationId xmlns:a16="http://schemas.microsoft.com/office/drawing/2014/main" id="{078B5243-2855-DC74-5532-48609C5B1235}"/>
                </a:ext>
              </a:extLst>
            </p:cNvPr>
            <p:cNvSpPr/>
            <p:nvPr/>
          </p:nvSpPr>
          <p:spPr>
            <a:xfrm>
              <a:off x="9759959" y="1618876"/>
              <a:ext cx="2076440" cy="1476000"/>
            </a:xfrm>
            <a:prstGeom prst="flowChartDocument">
              <a:avLst/>
            </a:prstGeom>
            <a:solidFill>
              <a:schemeClr val="accent3">
                <a:alpha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i="1" noProof="0">
                  <a:solidFill>
                    <a:schemeClr val="accent3"/>
                  </a:solidFill>
                </a:rPr>
                <a:t>Maior </a:t>
              </a:r>
              <a:r>
                <a:rPr lang="pt-BR" sz="1000" b="1" i="1" noProof="0">
                  <a:solidFill>
                    <a:schemeClr val="accent3"/>
                  </a:solidFill>
                </a:rPr>
                <a:t>automação operacional </a:t>
              </a:r>
              <a:r>
                <a:rPr lang="pt-BR" sz="1000" i="1" noProof="0">
                  <a:solidFill>
                    <a:schemeClr val="accent3"/>
                  </a:solidFill>
                </a:rPr>
                <a:t>(ex. via RPA/Agentes)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i="1" noProof="0">
                  <a:solidFill>
                    <a:schemeClr val="accent3"/>
                  </a:solidFill>
                </a:rPr>
                <a:t>Expandir </a:t>
              </a:r>
              <a:r>
                <a:rPr lang="pt-BR" sz="1000" b="1" i="1" noProof="0">
                  <a:solidFill>
                    <a:schemeClr val="accent3"/>
                  </a:solidFill>
                </a:rPr>
                <a:t>canais de distribuição </a:t>
              </a:r>
              <a:r>
                <a:rPr lang="pt-BR" sz="1000" i="1" noProof="0">
                  <a:solidFill>
                    <a:schemeClr val="accent3"/>
                  </a:solidFill>
                </a:rPr>
                <a:t>(+ corretoras)?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i="1" noProof="0">
                  <a:solidFill>
                    <a:schemeClr val="accent3"/>
                  </a:solidFill>
                </a:rPr>
                <a:t>...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B48201-984E-37E0-ACF2-53B69BC5907C}"/>
                </a:ext>
              </a:extLst>
            </p:cNvPr>
            <p:cNvSpPr/>
            <p:nvPr/>
          </p:nvSpPr>
          <p:spPr>
            <a:xfrm>
              <a:off x="7167094" y="1618876"/>
              <a:ext cx="4669305" cy="19464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900" i="1" noProof="0">
                  <a:solidFill>
                    <a:schemeClr val="bg1"/>
                  </a:solidFill>
                </a:rPr>
                <a:t>CSC mais </a:t>
              </a:r>
              <a:r>
                <a:rPr lang="pt-BR" sz="900" b="1" i="1" noProof="0">
                  <a:solidFill>
                    <a:schemeClr val="bg1"/>
                  </a:solidFill>
                </a:rPr>
                <a:t>eficiente, padronizado e confiável </a:t>
              </a:r>
              <a:r>
                <a:rPr lang="pt-BR" sz="900" i="1" noProof="0">
                  <a:solidFill>
                    <a:schemeClr val="bg1"/>
                  </a:solidFill>
                </a:rPr>
                <a:t>para corretoras parceiras</a:t>
              </a:r>
              <a:endParaRPr lang="pt-BR" sz="900" b="1" i="1" noProof="0">
                <a:solidFill>
                  <a:schemeClr val="bg1"/>
                </a:solidFill>
              </a:endParaRPr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80D345A6-B23E-4283-F64D-3A3558A08D23}"/>
                </a:ext>
              </a:extLst>
            </p:cNvPr>
            <p:cNvSpPr/>
            <p:nvPr/>
          </p:nvSpPr>
          <p:spPr>
            <a:xfrm>
              <a:off x="1436663" y="1865828"/>
              <a:ext cx="808522" cy="633069"/>
            </a:xfrm>
            <a:prstGeom prst="chevron">
              <a:avLst>
                <a:gd name="adj" fmla="val 15476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3C4F2DA4-025F-A2E3-5304-EAABDE37E06A}"/>
                </a:ext>
              </a:extLst>
            </p:cNvPr>
            <p:cNvSpPr/>
            <p:nvPr/>
          </p:nvSpPr>
          <p:spPr>
            <a:xfrm>
              <a:off x="2213100" y="1865828"/>
              <a:ext cx="808522" cy="633069"/>
            </a:xfrm>
            <a:prstGeom prst="chevron">
              <a:avLst>
                <a:gd name="adj" fmla="val 15476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1B072CC3-7E6F-9ECA-6C07-BBC2AE48423E}"/>
                </a:ext>
              </a:extLst>
            </p:cNvPr>
            <p:cNvSpPr/>
            <p:nvPr/>
          </p:nvSpPr>
          <p:spPr>
            <a:xfrm>
              <a:off x="2989537" y="1865828"/>
              <a:ext cx="808522" cy="633069"/>
            </a:xfrm>
            <a:prstGeom prst="chevron">
              <a:avLst>
                <a:gd name="adj" fmla="val 15476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AC10D8B0-FEC5-4010-D5B6-02093FB2163E}"/>
                </a:ext>
              </a:extLst>
            </p:cNvPr>
            <p:cNvSpPr/>
            <p:nvPr/>
          </p:nvSpPr>
          <p:spPr>
            <a:xfrm>
              <a:off x="3765975" y="1865828"/>
              <a:ext cx="808522" cy="633069"/>
            </a:xfrm>
            <a:prstGeom prst="chevron">
              <a:avLst>
                <a:gd name="adj" fmla="val 15476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155125-82C2-E4ED-2FF9-DB3BB91E153F}"/>
                </a:ext>
              </a:extLst>
            </p:cNvPr>
            <p:cNvSpPr/>
            <p:nvPr/>
          </p:nvSpPr>
          <p:spPr>
            <a:xfrm>
              <a:off x="722900" y="2669617"/>
              <a:ext cx="636761" cy="72471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0BBBEF-7EE5-D55F-DC39-0D9BEF6026A2}"/>
                </a:ext>
              </a:extLst>
            </p:cNvPr>
            <p:cNvSpPr/>
            <p:nvPr/>
          </p:nvSpPr>
          <p:spPr>
            <a:xfrm>
              <a:off x="722900" y="3460504"/>
              <a:ext cx="636761" cy="72471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44BCBB-D197-C3B7-BAF9-23E7A3CA25F9}"/>
                </a:ext>
              </a:extLst>
            </p:cNvPr>
            <p:cNvSpPr/>
            <p:nvPr/>
          </p:nvSpPr>
          <p:spPr>
            <a:xfrm>
              <a:off x="722900" y="4251391"/>
              <a:ext cx="636761" cy="72471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A3F3DEC-BBA2-3411-0A47-D9D0BAD1189F}"/>
                </a:ext>
              </a:extLst>
            </p:cNvPr>
            <p:cNvSpPr/>
            <p:nvPr/>
          </p:nvSpPr>
          <p:spPr>
            <a:xfrm>
              <a:off x="722900" y="5042278"/>
              <a:ext cx="636761" cy="72471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BEDC0BE-9574-3077-3C12-B96B7B55EEBD}"/>
                </a:ext>
              </a:extLst>
            </p:cNvPr>
            <p:cNvCxnSpPr>
              <a:cxnSpLocks/>
            </p:cNvCxnSpPr>
            <p:nvPr/>
          </p:nvCxnSpPr>
          <p:spPr>
            <a:xfrm>
              <a:off x="1436663" y="1634823"/>
              <a:ext cx="304871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1011AA-E850-B34B-2731-748B22B749B6}"/>
                </a:ext>
              </a:extLst>
            </p:cNvPr>
            <p:cNvSpPr txBox="1"/>
            <p:nvPr/>
          </p:nvSpPr>
          <p:spPr>
            <a:xfrm>
              <a:off x="1796674" y="1535097"/>
              <a:ext cx="2328689" cy="19749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228600">
                <a:lnSpc>
                  <a:spcPct val="120000"/>
                </a:lnSpc>
                <a:spcAft>
                  <a:spcPts val="1200"/>
                </a:spcAft>
              </a:pPr>
              <a:r>
                <a:rPr lang="pt-BR" sz="1200" b="1" i="1" noProof="0"/>
                <a:t>Cadeia de Valor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249062-FC59-DFBD-F3F4-DCC21AEF0B7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994297" y="4194883"/>
              <a:ext cx="304871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21B12C-5F2A-7FF4-8ABA-5DC9E14DEC11}"/>
                </a:ext>
              </a:extLst>
            </p:cNvPr>
            <p:cNvSpPr txBox="1"/>
            <p:nvPr/>
          </p:nvSpPr>
          <p:spPr>
            <a:xfrm rot="16200000">
              <a:off x="-67434" y="4095157"/>
              <a:ext cx="1194985" cy="2004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228600">
                <a:lnSpc>
                  <a:spcPct val="120000"/>
                </a:lnSpc>
                <a:spcAft>
                  <a:spcPts val="1200"/>
                </a:spcAft>
              </a:pPr>
              <a:r>
                <a:rPr lang="pt-BR" sz="1200" b="1" i="1" noProof="0"/>
                <a:t>Negócios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3021FF6-221F-E067-EF9A-344AA86D4749}"/>
                </a:ext>
              </a:extLst>
            </p:cNvPr>
            <p:cNvGrpSpPr/>
            <p:nvPr/>
          </p:nvGrpSpPr>
          <p:grpSpPr>
            <a:xfrm>
              <a:off x="2216376" y="2712567"/>
              <a:ext cx="1472650" cy="1472650"/>
              <a:chOff x="2138869" y="2777958"/>
              <a:chExt cx="1338773" cy="1338773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C6E83A7-AB2D-69C5-78E1-6AA5C6CE7953}"/>
                  </a:ext>
                </a:extLst>
              </p:cNvPr>
              <p:cNvSpPr/>
              <p:nvPr/>
            </p:nvSpPr>
            <p:spPr>
              <a:xfrm>
                <a:off x="2138869" y="2777958"/>
                <a:ext cx="1338773" cy="1338773"/>
              </a:xfrm>
              <a:prstGeom prst="ellipse">
                <a:avLst/>
              </a:prstGeom>
              <a:noFill/>
              <a:ln>
                <a:solidFill>
                  <a:schemeClr val="accent3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b="1" noProof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38E91B0-1168-75C5-D9CE-C9B1BCADADF2}"/>
                  </a:ext>
                </a:extLst>
              </p:cNvPr>
              <p:cNvSpPr/>
              <p:nvPr/>
            </p:nvSpPr>
            <p:spPr>
              <a:xfrm>
                <a:off x="2351055" y="2990144"/>
                <a:ext cx="914400" cy="91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000" b="1" noProof="0">
                    <a:solidFill>
                      <a:schemeClr val="bg1"/>
                    </a:solidFill>
                  </a:rPr>
                  <a:t>Atual Negócio Grupo GC</a:t>
                </a: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1E43D82C-5238-5E89-9EC4-89951D25C83C}"/>
                  </a:ext>
                </a:extLst>
              </p:cNvPr>
              <p:cNvCxnSpPr>
                <a:stCxn id="50" idx="5"/>
                <a:endCxn id="49" idx="5"/>
              </p:cNvCxnSpPr>
              <p:nvPr/>
            </p:nvCxnSpPr>
            <p:spPr>
              <a:xfrm>
                <a:off x="3131545" y="3770634"/>
                <a:ext cx="150038" cy="1500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28A48C82-C498-560B-870F-F9F9BC642016}"/>
                  </a:ext>
                </a:extLst>
              </p:cNvPr>
              <p:cNvCxnSpPr>
                <a:cxnSpLocks/>
                <a:stCxn id="50" idx="7"/>
                <a:endCxn id="49" idx="7"/>
              </p:cNvCxnSpPr>
              <p:nvPr/>
            </p:nvCxnSpPr>
            <p:spPr>
              <a:xfrm flipV="1">
                <a:off x="3131545" y="2974017"/>
                <a:ext cx="150038" cy="1500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36430111-7EE3-7109-22C0-83828F6B058F}"/>
                  </a:ext>
                </a:extLst>
              </p:cNvPr>
              <p:cNvCxnSpPr>
                <a:cxnSpLocks/>
                <a:stCxn id="50" idx="1"/>
                <a:endCxn id="49" idx="1"/>
              </p:cNvCxnSpPr>
              <p:nvPr/>
            </p:nvCxnSpPr>
            <p:spPr>
              <a:xfrm flipH="1" flipV="1">
                <a:off x="2334928" y="2974017"/>
                <a:ext cx="150038" cy="1500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3B0DFEBF-9DE0-F48E-5853-6177CE6428AC}"/>
                  </a:ext>
                </a:extLst>
              </p:cNvPr>
              <p:cNvCxnSpPr>
                <a:cxnSpLocks/>
                <a:stCxn id="50" idx="3"/>
                <a:endCxn id="49" idx="3"/>
              </p:cNvCxnSpPr>
              <p:nvPr/>
            </p:nvCxnSpPr>
            <p:spPr>
              <a:xfrm flipH="1">
                <a:off x="2334928" y="3770634"/>
                <a:ext cx="150038" cy="15003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CC1AC5C-1B05-5D81-26CC-9EB56F11F9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6663" y="3448892"/>
              <a:ext cx="76627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FE0936E-A01C-14F9-5FB5-7CE505E7D680}"/>
                </a:ext>
              </a:extLst>
            </p:cNvPr>
            <p:cNvCxnSpPr>
              <a:cxnSpLocks/>
            </p:cNvCxnSpPr>
            <p:nvPr/>
          </p:nvCxnSpPr>
          <p:spPr>
            <a:xfrm>
              <a:off x="3689026" y="3448892"/>
              <a:ext cx="7956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mond 21">
              <a:extLst>
                <a:ext uri="{FF2B5EF4-FFF2-40B4-BE49-F238E27FC236}">
                  <a16:creationId xmlns:a16="http://schemas.microsoft.com/office/drawing/2014/main" id="{B00F7410-79EC-1212-BC9C-8963EFCBA434}"/>
                </a:ext>
              </a:extLst>
            </p:cNvPr>
            <p:cNvSpPr/>
            <p:nvPr/>
          </p:nvSpPr>
          <p:spPr>
            <a:xfrm>
              <a:off x="2758804" y="2483676"/>
              <a:ext cx="387795" cy="352541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b="1" noProof="0">
                  <a:solidFill>
                    <a:schemeClr val="accent3"/>
                  </a:solidFill>
                </a:rPr>
                <a:t>i</a:t>
              </a:r>
            </a:p>
          </p:txBody>
        </p:sp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93E2D275-A92A-4B8A-E436-E2B8E36285EE}"/>
                </a:ext>
              </a:extLst>
            </p:cNvPr>
            <p:cNvSpPr/>
            <p:nvPr/>
          </p:nvSpPr>
          <p:spPr>
            <a:xfrm>
              <a:off x="3862449" y="3269180"/>
              <a:ext cx="387795" cy="352541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b="1" noProof="0" err="1">
                  <a:solidFill>
                    <a:schemeClr val="accent3"/>
                  </a:solidFill>
                </a:rPr>
                <a:t>ii</a:t>
              </a:r>
              <a:endParaRPr lang="pt-BR" sz="1400" b="1" noProof="0">
                <a:solidFill>
                  <a:schemeClr val="accent3"/>
                </a:solidFill>
              </a:endParaRPr>
            </a:p>
          </p:txBody>
        </p:sp>
        <p:sp>
          <p:nvSpPr>
            <p:cNvPr id="24" name="Diamond 23">
              <a:extLst>
                <a:ext uri="{FF2B5EF4-FFF2-40B4-BE49-F238E27FC236}">
                  <a16:creationId xmlns:a16="http://schemas.microsoft.com/office/drawing/2014/main" id="{CFF5F19A-E406-576E-3BE0-9A2FF90AFB55}"/>
                </a:ext>
              </a:extLst>
            </p:cNvPr>
            <p:cNvSpPr/>
            <p:nvPr/>
          </p:nvSpPr>
          <p:spPr>
            <a:xfrm>
              <a:off x="1701168" y="3269180"/>
              <a:ext cx="387795" cy="352541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b="1" noProof="0" err="1">
                  <a:solidFill>
                    <a:schemeClr val="accent3"/>
                  </a:solidFill>
                </a:rPr>
                <a:t>ii</a:t>
              </a:r>
              <a:endParaRPr lang="pt-BR" sz="1400" b="1" noProof="0">
                <a:solidFill>
                  <a:schemeClr val="accent3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9C7322E-A5A2-1E0B-D76B-C64C4F5C8912}"/>
                </a:ext>
              </a:extLst>
            </p:cNvPr>
            <p:cNvCxnSpPr>
              <a:cxnSpLocks/>
            </p:cNvCxnSpPr>
            <p:nvPr/>
          </p:nvCxnSpPr>
          <p:spPr>
            <a:xfrm>
              <a:off x="2952701" y="4185217"/>
              <a:ext cx="0" cy="158929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Diamond 25">
              <a:extLst>
                <a:ext uri="{FF2B5EF4-FFF2-40B4-BE49-F238E27FC236}">
                  <a16:creationId xmlns:a16="http://schemas.microsoft.com/office/drawing/2014/main" id="{50016028-A572-C9CE-8C1B-B54A0F2EBB16}"/>
                </a:ext>
              </a:extLst>
            </p:cNvPr>
            <p:cNvSpPr/>
            <p:nvPr/>
          </p:nvSpPr>
          <p:spPr>
            <a:xfrm>
              <a:off x="2758804" y="5077527"/>
              <a:ext cx="387795" cy="352541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b="1" noProof="0" err="1">
                  <a:solidFill>
                    <a:schemeClr val="accent3"/>
                  </a:solidFill>
                </a:rPr>
                <a:t>iii</a:t>
              </a:r>
              <a:endParaRPr lang="pt-BR" sz="1400" b="1" noProof="0">
                <a:solidFill>
                  <a:schemeClr val="accent3"/>
                </a:solidFill>
              </a:endParaRPr>
            </a:p>
          </p:txBody>
        </p:sp>
        <p:sp>
          <p:nvSpPr>
            <p:cNvPr id="27" name="Arrow: Pentagon 26">
              <a:extLst>
                <a:ext uri="{FF2B5EF4-FFF2-40B4-BE49-F238E27FC236}">
                  <a16:creationId xmlns:a16="http://schemas.microsoft.com/office/drawing/2014/main" id="{089FE941-F138-A400-6EAE-480D557A721D}"/>
                </a:ext>
              </a:extLst>
            </p:cNvPr>
            <p:cNvSpPr/>
            <p:nvPr/>
          </p:nvSpPr>
          <p:spPr>
            <a:xfrm>
              <a:off x="4908059" y="1894724"/>
              <a:ext cx="382128" cy="3867250"/>
            </a:xfrm>
            <a:prstGeom prst="homePlate">
              <a:avLst>
                <a:gd name="adj" fmla="val 10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noProof="0">
                <a:solidFill>
                  <a:schemeClr val="bg1"/>
                </a:solidFill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7F588BD-70B7-D716-8D78-892A104B96B8}"/>
                </a:ext>
              </a:extLst>
            </p:cNvPr>
            <p:cNvGrpSpPr/>
            <p:nvPr/>
          </p:nvGrpSpPr>
          <p:grpSpPr>
            <a:xfrm>
              <a:off x="5943095" y="1618876"/>
              <a:ext cx="1224000" cy="1425600"/>
              <a:chOff x="6161952" y="1963929"/>
              <a:chExt cx="1224000" cy="12960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712E998-B147-2BE1-9C95-EF8ACD38706B}"/>
                  </a:ext>
                </a:extLst>
              </p:cNvPr>
              <p:cNvSpPr/>
              <p:nvPr/>
            </p:nvSpPr>
            <p:spPr>
              <a:xfrm>
                <a:off x="6161952" y="1963929"/>
                <a:ext cx="1224000" cy="1296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36000" bIns="7200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100" noProof="0">
                    <a:solidFill>
                      <a:schemeClr val="bg1"/>
                    </a:solidFill>
                  </a:rPr>
                  <a:t>Potencial do </a:t>
                </a:r>
                <a:r>
                  <a:rPr lang="pt-BR" sz="1100" b="1" noProof="0">
                    <a:solidFill>
                      <a:schemeClr val="bg1"/>
                    </a:solidFill>
                  </a:rPr>
                  <a:t>Core Business</a:t>
                </a:r>
              </a:p>
            </p:txBody>
          </p:sp>
          <p:sp>
            <p:nvSpPr>
              <p:cNvPr id="48" name="Diamond 47">
                <a:extLst>
                  <a:ext uri="{FF2B5EF4-FFF2-40B4-BE49-F238E27FC236}">
                    <a16:creationId xmlns:a16="http://schemas.microsoft.com/office/drawing/2014/main" id="{C1980A57-4442-C2A2-56C9-C8F3BDE96F23}"/>
                  </a:ext>
                </a:extLst>
              </p:cNvPr>
              <p:cNvSpPr/>
              <p:nvPr/>
            </p:nvSpPr>
            <p:spPr>
              <a:xfrm>
                <a:off x="6580055" y="2173763"/>
                <a:ext cx="387795" cy="352541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400" b="1" noProof="0">
                    <a:solidFill>
                      <a:schemeClr val="accent3"/>
                    </a:solidFill>
                  </a:rPr>
                  <a:t>i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899C6BE-D660-1BA6-86DA-EB7C144B8FB6}"/>
                </a:ext>
              </a:extLst>
            </p:cNvPr>
            <p:cNvGrpSpPr/>
            <p:nvPr/>
          </p:nvGrpSpPr>
          <p:grpSpPr>
            <a:xfrm>
              <a:off x="5943095" y="3246915"/>
              <a:ext cx="1224000" cy="1425600"/>
              <a:chOff x="6161952" y="3251443"/>
              <a:chExt cx="1224000" cy="129600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95EBD5C-059D-18A9-E7A2-EFC6F2460739}"/>
                  </a:ext>
                </a:extLst>
              </p:cNvPr>
              <p:cNvSpPr/>
              <p:nvPr/>
            </p:nvSpPr>
            <p:spPr>
              <a:xfrm>
                <a:off x="6161952" y="3251443"/>
                <a:ext cx="1224000" cy="1296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36000" bIns="7200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100" noProof="0">
                    <a:solidFill>
                      <a:schemeClr val="bg1"/>
                    </a:solidFill>
                  </a:rPr>
                  <a:t>Potencial da </a:t>
                </a:r>
                <a:r>
                  <a:rPr lang="pt-BR" sz="1100" b="1" noProof="0">
                    <a:solidFill>
                      <a:schemeClr val="bg1"/>
                    </a:solidFill>
                  </a:rPr>
                  <a:t>Cadeia de Valor</a:t>
                </a:r>
              </a:p>
            </p:txBody>
          </p:sp>
          <p:sp>
            <p:nvSpPr>
              <p:cNvPr id="46" name="Diamond 45">
                <a:extLst>
                  <a:ext uri="{FF2B5EF4-FFF2-40B4-BE49-F238E27FC236}">
                    <a16:creationId xmlns:a16="http://schemas.microsoft.com/office/drawing/2014/main" id="{FCB57740-7896-1770-3FBF-7332B81669A7}"/>
                  </a:ext>
                </a:extLst>
              </p:cNvPr>
              <p:cNvSpPr/>
              <p:nvPr/>
            </p:nvSpPr>
            <p:spPr>
              <a:xfrm>
                <a:off x="6580055" y="3461277"/>
                <a:ext cx="387795" cy="352541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400" b="1" noProof="0" err="1">
                    <a:solidFill>
                      <a:schemeClr val="accent3"/>
                    </a:solidFill>
                  </a:rPr>
                  <a:t>ii</a:t>
                </a:r>
                <a:endParaRPr lang="pt-BR" sz="1400" b="1" noProof="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1C68814-E8CE-B657-E27A-98D1912CEC8C}"/>
                </a:ext>
              </a:extLst>
            </p:cNvPr>
            <p:cNvGrpSpPr/>
            <p:nvPr/>
          </p:nvGrpSpPr>
          <p:grpSpPr>
            <a:xfrm>
              <a:off x="5943095" y="4874954"/>
              <a:ext cx="1224000" cy="1425600"/>
              <a:chOff x="6161952" y="3220963"/>
              <a:chExt cx="1224000" cy="1296000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E46D07C-FF0D-54CB-2BDB-B5EDF6CDD9FC}"/>
                  </a:ext>
                </a:extLst>
              </p:cNvPr>
              <p:cNvSpPr/>
              <p:nvPr/>
            </p:nvSpPr>
            <p:spPr>
              <a:xfrm>
                <a:off x="6161952" y="3220963"/>
                <a:ext cx="1224000" cy="1296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6000" tIns="72000" rIns="36000" bIns="7200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100" noProof="0">
                    <a:solidFill>
                      <a:schemeClr val="bg1"/>
                    </a:solidFill>
                  </a:rPr>
                  <a:t>Potencial de </a:t>
                </a:r>
                <a:r>
                  <a:rPr lang="pt-BR" sz="1100" b="1" noProof="0">
                    <a:solidFill>
                      <a:schemeClr val="bg1"/>
                    </a:solidFill>
                  </a:rPr>
                  <a:t>Novos Negócios</a:t>
                </a:r>
              </a:p>
            </p:txBody>
          </p:sp>
          <p:sp>
            <p:nvSpPr>
              <p:cNvPr id="44" name="Diamond 43">
                <a:extLst>
                  <a:ext uri="{FF2B5EF4-FFF2-40B4-BE49-F238E27FC236}">
                    <a16:creationId xmlns:a16="http://schemas.microsoft.com/office/drawing/2014/main" id="{2B5D62DA-3959-2C65-E285-19932A6AC627}"/>
                  </a:ext>
                </a:extLst>
              </p:cNvPr>
              <p:cNvSpPr/>
              <p:nvPr/>
            </p:nvSpPr>
            <p:spPr>
              <a:xfrm>
                <a:off x="6580055" y="3491757"/>
                <a:ext cx="387795" cy="352541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72000" tIns="72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sz="1400" b="1" noProof="0" err="1">
                    <a:solidFill>
                      <a:schemeClr val="accent3"/>
                    </a:solidFill>
                  </a:rPr>
                  <a:t>iii</a:t>
                </a:r>
                <a:endParaRPr lang="pt-BR" sz="1400" b="1" noProof="0">
                  <a:solidFill>
                    <a:schemeClr val="accent3"/>
                  </a:solidFill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8BDF2EB-FCFC-7BE4-677D-E69E4F329BD3}"/>
                </a:ext>
              </a:extLst>
            </p:cNvPr>
            <p:cNvSpPr/>
            <p:nvPr/>
          </p:nvSpPr>
          <p:spPr>
            <a:xfrm>
              <a:off x="7167095" y="1831176"/>
              <a:ext cx="3112867" cy="106278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3600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200"/>
                </a:spcAft>
              </a:pPr>
              <a:r>
                <a:rPr lang="pt-BR" sz="1050" noProof="0">
                  <a:solidFill>
                    <a:schemeClr val="accent3"/>
                  </a:solidFill>
                </a:rPr>
                <a:t>Foco em </a:t>
              </a:r>
              <a:r>
                <a:rPr lang="pt-BR" sz="1050" b="1" noProof="0">
                  <a:solidFill>
                    <a:schemeClr val="accent3"/>
                  </a:solidFill>
                </a:rPr>
                <a:t>crescer posicionamento: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Diferenciação de oferta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Otimização de competências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Cross/</a:t>
              </a:r>
              <a:r>
                <a:rPr lang="pt-BR" sz="1050" noProof="0" err="1">
                  <a:solidFill>
                    <a:schemeClr val="accent3"/>
                  </a:solidFill>
                </a:rPr>
                <a:t>up-seling</a:t>
              </a:r>
              <a:endParaRPr lang="pt-BR" sz="1050" noProof="0">
                <a:solidFill>
                  <a:schemeClr val="accent3"/>
                </a:solidFill>
              </a:endParaRP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Novos segmentos ou geografias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B7C630A-36C3-4D73-A1D0-EC10FAC408A5}"/>
                </a:ext>
              </a:extLst>
            </p:cNvPr>
            <p:cNvSpPr/>
            <p:nvPr/>
          </p:nvSpPr>
          <p:spPr>
            <a:xfrm>
              <a:off x="7167095" y="3450021"/>
              <a:ext cx="3112867" cy="10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3600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200"/>
                </a:spcAft>
              </a:pPr>
              <a:r>
                <a:rPr lang="pt-BR" sz="1050" noProof="0">
                  <a:solidFill>
                    <a:schemeClr val="accent3"/>
                  </a:solidFill>
                </a:rPr>
                <a:t>Foco em </a:t>
              </a:r>
              <a:r>
                <a:rPr lang="pt-BR" sz="1050" b="1" noProof="0">
                  <a:solidFill>
                    <a:schemeClr val="accent3"/>
                  </a:solidFill>
                </a:rPr>
                <a:t>abrangência da oferta: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Reposicionamento da marca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Oferta </a:t>
              </a:r>
              <a:r>
                <a:rPr lang="pt-BR" sz="1050" noProof="0" err="1">
                  <a:solidFill>
                    <a:schemeClr val="accent3"/>
                  </a:solidFill>
                </a:rPr>
                <a:t>end-to-end</a:t>
              </a:r>
              <a:endParaRPr lang="pt-BR" sz="1050" noProof="0">
                <a:solidFill>
                  <a:schemeClr val="accent3"/>
                </a:solidFill>
              </a:endParaRP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Penetração na base de clientes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Complementação de competências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0E0C869-CF36-C34B-31BA-7A6EF8765E70}"/>
                </a:ext>
              </a:extLst>
            </p:cNvPr>
            <p:cNvSpPr/>
            <p:nvPr/>
          </p:nvSpPr>
          <p:spPr>
            <a:xfrm>
              <a:off x="7167095" y="5078734"/>
              <a:ext cx="3112867" cy="1062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3600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200"/>
                </a:spcAft>
              </a:pPr>
              <a:r>
                <a:rPr lang="pt-BR" sz="1050" noProof="0">
                  <a:solidFill>
                    <a:schemeClr val="accent3"/>
                  </a:solidFill>
                </a:rPr>
                <a:t>Foco em </a:t>
              </a:r>
              <a:r>
                <a:rPr lang="pt-BR" sz="1050" b="1" noProof="0">
                  <a:solidFill>
                    <a:schemeClr val="accent3"/>
                  </a:solidFill>
                </a:rPr>
                <a:t>novos negócios: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Novas unidades de negócio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Novo portfólio de ofertas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Descoberta de novos clientes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Novas competências / modelos de operação</a:t>
              </a:r>
            </a:p>
            <a:p>
              <a:pPr marL="171450" indent="-171450">
                <a:spcAft>
                  <a:spcPts val="2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accent3"/>
                  </a:solidFill>
                </a:rPr>
                <a:t>Monetização de dados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F12DEB1-F9C8-C131-56A6-19C62FE7A61F}"/>
                </a:ext>
              </a:extLst>
            </p:cNvPr>
            <p:cNvCxnSpPr>
              <a:cxnSpLocks/>
            </p:cNvCxnSpPr>
            <p:nvPr/>
          </p:nvCxnSpPr>
          <p:spPr>
            <a:xfrm>
              <a:off x="5760889" y="2033704"/>
              <a:ext cx="0" cy="3899515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D3F6E19-B5E5-CDE5-02AD-173A605A262A}"/>
                </a:ext>
              </a:extLst>
            </p:cNvPr>
            <p:cNvSpPr txBox="1"/>
            <p:nvPr/>
          </p:nvSpPr>
          <p:spPr>
            <a:xfrm rot="16200000">
              <a:off x="4893029" y="2668986"/>
              <a:ext cx="1445932" cy="1753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 defTabSz="228600">
                <a:lnSpc>
                  <a:spcPct val="120000"/>
                </a:lnSpc>
                <a:spcAft>
                  <a:spcPts val="1200"/>
                </a:spcAft>
              </a:pPr>
              <a:r>
                <a:rPr lang="pt-BR" sz="1050" noProof="0"/>
                <a:t>Menor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9BEC9C3-6C88-03C3-5A75-726859DA9DA3}"/>
                </a:ext>
              </a:extLst>
            </p:cNvPr>
            <p:cNvSpPr txBox="1"/>
            <p:nvPr/>
          </p:nvSpPr>
          <p:spPr>
            <a:xfrm rot="16200000">
              <a:off x="4893031" y="5122568"/>
              <a:ext cx="1445932" cy="17536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defTabSz="228600">
                <a:lnSpc>
                  <a:spcPct val="120000"/>
                </a:lnSpc>
                <a:spcAft>
                  <a:spcPts val="1200"/>
                </a:spcAft>
              </a:pPr>
              <a:r>
                <a:rPr lang="pt-BR" sz="1050" noProof="0"/>
                <a:t>Maior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B62D652-9FCD-61A6-E6A9-BD07FC7B7BEB}"/>
                </a:ext>
              </a:extLst>
            </p:cNvPr>
            <p:cNvSpPr txBox="1"/>
            <p:nvPr/>
          </p:nvSpPr>
          <p:spPr>
            <a:xfrm rot="16200000">
              <a:off x="4893028" y="3872078"/>
              <a:ext cx="1445932" cy="2004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228600">
                <a:lnSpc>
                  <a:spcPct val="120000"/>
                </a:lnSpc>
                <a:spcAft>
                  <a:spcPts val="1200"/>
                </a:spcAft>
              </a:pPr>
              <a:r>
                <a:rPr lang="pt-BR" sz="1200" b="1" noProof="0"/>
                <a:t>Complexidade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11F433-BC70-052F-F120-16E3B534C821}"/>
                </a:ext>
              </a:extLst>
            </p:cNvPr>
            <p:cNvSpPr/>
            <p:nvPr/>
          </p:nvSpPr>
          <p:spPr>
            <a:xfrm>
              <a:off x="7167094" y="3246915"/>
              <a:ext cx="4669305" cy="19464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900" i="1" noProof="0"/>
                <a:t>Torna-se uma </a:t>
              </a:r>
              <a:r>
                <a:rPr lang="pt-BR" sz="900" b="1" i="1" noProof="0"/>
                <a:t>plataforma estratégica de valor </a:t>
              </a:r>
              <a:r>
                <a:rPr lang="pt-BR" sz="900" i="1" noProof="0"/>
                <a:t>para o ecossistema de corretoras</a:t>
              </a:r>
              <a:endParaRPr lang="pt-BR" sz="900" b="1" i="1" noProof="0">
                <a:solidFill>
                  <a:schemeClr val="bg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97A3802-87DF-6E35-79F9-77A75A9A0571}"/>
                </a:ext>
              </a:extLst>
            </p:cNvPr>
            <p:cNvSpPr/>
            <p:nvPr/>
          </p:nvSpPr>
          <p:spPr>
            <a:xfrm>
              <a:off x="7167094" y="4874954"/>
              <a:ext cx="4669305" cy="19464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900" i="1" noProof="0"/>
                <a:t>Evolui para um </a:t>
              </a:r>
              <a:r>
                <a:rPr lang="pt-BR" sz="900" b="1" i="1" noProof="0"/>
                <a:t>hub de negócios</a:t>
              </a:r>
              <a:r>
                <a:rPr lang="pt-BR" sz="900" i="1" noProof="0"/>
                <a:t>, dados e inovação para o setor de intermediação</a:t>
              </a:r>
              <a:endParaRPr lang="pt-BR" sz="900" b="1" i="1" noProof="0">
                <a:solidFill>
                  <a:schemeClr val="bg1"/>
                </a:solidFill>
              </a:endParaRPr>
            </a:p>
          </p:txBody>
        </p:sp>
        <p:sp>
          <p:nvSpPr>
            <p:cNvPr id="40" name="Flowchart: Document 39">
              <a:extLst>
                <a:ext uri="{FF2B5EF4-FFF2-40B4-BE49-F238E27FC236}">
                  <a16:creationId xmlns:a16="http://schemas.microsoft.com/office/drawing/2014/main" id="{8BCFA282-51CE-E898-81C9-6CC54003F936}"/>
                </a:ext>
              </a:extLst>
            </p:cNvPr>
            <p:cNvSpPr/>
            <p:nvPr/>
          </p:nvSpPr>
          <p:spPr>
            <a:xfrm>
              <a:off x="9759959" y="3246915"/>
              <a:ext cx="2076440" cy="1476000"/>
            </a:xfrm>
            <a:prstGeom prst="flowChartDocument">
              <a:avLst/>
            </a:prstGeom>
            <a:solidFill>
              <a:schemeClr val="accent3">
                <a:alpha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i="1" noProof="0">
                  <a:solidFill>
                    <a:schemeClr val="accent3"/>
                  </a:solidFill>
                </a:rPr>
                <a:t>Oferecer </a:t>
              </a:r>
              <a:r>
                <a:rPr lang="pt-BR" sz="1000" b="1" i="1" noProof="0">
                  <a:solidFill>
                    <a:schemeClr val="accent3"/>
                  </a:solidFill>
                </a:rPr>
                <a:t>serviço de inteligência </a:t>
              </a:r>
              <a:r>
                <a:rPr lang="pt-BR" sz="1000" i="1" noProof="0">
                  <a:solidFill>
                    <a:schemeClr val="accent3"/>
                  </a:solidFill>
                </a:rPr>
                <a:t>(‘Data Hub’, indicadores de mercado)?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b="1" noProof="0">
                  <a:solidFill>
                    <a:schemeClr val="accent3"/>
                  </a:solidFill>
                </a:rPr>
                <a:t>Hub de integração </a:t>
              </a:r>
              <a:r>
                <a:rPr lang="pt-BR" sz="1000" noProof="0">
                  <a:solidFill>
                    <a:schemeClr val="accent3"/>
                  </a:solidFill>
                </a:rPr>
                <a:t>(‘distribuição cruzada’)?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noProof="0">
                  <a:solidFill>
                    <a:schemeClr val="accent3"/>
                  </a:solidFill>
                </a:rPr>
                <a:t>Plataforma </a:t>
              </a:r>
              <a:r>
                <a:rPr lang="pt-BR" sz="1000" b="1" noProof="0">
                  <a:solidFill>
                    <a:schemeClr val="accent3"/>
                  </a:solidFill>
                </a:rPr>
                <a:t>White-</a:t>
              </a:r>
              <a:r>
                <a:rPr lang="pt-BR" sz="1000" b="1" noProof="0" err="1">
                  <a:solidFill>
                    <a:schemeClr val="accent3"/>
                  </a:solidFill>
                </a:rPr>
                <a:t>label</a:t>
              </a:r>
              <a:r>
                <a:rPr lang="pt-BR" sz="1000" noProof="0">
                  <a:solidFill>
                    <a:schemeClr val="accent3"/>
                  </a:solidFill>
                </a:rPr>
                <a:t>?</a:t>
              </a:r>
              <a:endParaRPr lang="pt-BR" sz="1000" i="1" noProof="0">
                <a:solidFill>
                  <a:schemeClr val="accent3"/>
                </a:solidFill>
              </a:endParaRPr>
            </a:p>
          </p:txBody>
        </p:sp>
        <p:sp>
          <p:nvSpPr>
            <p:cNvPr id="41" name="Flowchart: Document 40">
              <a:extLst>
                <a:ext uri="{FF2B5EF4-FFF2-40B4-BE49-F238E27FC236}">
                  <a16:creationId xmlns:a16="http://schemas.microsoft.com/office/drawing/2014/main" id="{81B5F19F-D013-B23E-1C41-17C0F506D3A2}"/>
                </a:ext>
              </a:extLst>
            </p:cNvPr>
            <p:cNvSpPr/>
            <p:nvPr/>
          </p:nvSpPr>
          <p:spPr>
            <a:xfrm>
              <a:off x="9759959" y="4874954"/>
              <a:ext cx="2076440" cy="1476000"/>
            </a:xfrm>
            <a:prstGeom prst="flowChartDocument">
              <a:avLst/>
            </a:prstGeom>
            <a:solidFill>
              <a:schemeClr val="accent3">
                <a:alpha val="1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0" rIns="3600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i="1" noProof="0">
                  <a:solidFill>
                    <a:schemeClr val="accent3"/>
                  </a:solidFill>
                </a:rPr>
                <a:t>Expandir </a:t>
              </a:r>
              <a:r>
                <a:rPr lang="pt-BR" sz="1000" b="1" i="1" noProof="0">
                  <a:solidFill>
                    <a:schemeClr val="accent3"/>
                  </a:solidFill>
                </a:rPr>
                <a:t>portfólio </a:t>
              </a:r>
              <a:r>
                <a:rPr lang="pt-BR" sz="1000" i="1" noProof="0">
                  <a:solidFill>
                    <a:schemeClr val="accent3"/>
                  </a:solidFill>
                </a:rPr>
                <a:t>para </a:t>
              </a:r>
              <a:r>
                <a:rPr lang="pt-BR" sz="1000" b="1" i="1" noProof="0">
                  <a:solidFill>
                    <a:schemeClr val="accent3"/>
                  </a:solidFill>
                </a:rPr>
                <a:t>além do ramo </a:t>
              </a:r>
              <a:r>
                <a:rPr lang="pt-BR" sz="1000" i="1" noProof="0">
                  <a:solidFill>
                    <a:schemeClr val="accent3"/>
                  </a:solidFill>
                </a:rPr>
                <a:t>de seguros?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i="1" noProof="0">
                  <a:solidFill>
                    <a:schemeClr val="accent3"/>
                  </a:solidFill>
                </a:rPr>
                <a:t>Atuar como </a:t>
              </a:r>
              <a:r>
                <a:rPr lang="pt-BR" sz="1000" b="1" i="1" noProof="0">
                  <a:solidFill>
                    <a:schemeClr val="accent3"/>
                  </a:solidFill>
                </a:rPr>
                <a:t>distribuidor direto </a:t>
              </a:r>
              <a:r>
                <a:rPr lang="pt-BR" sz="1000" i="1" noProof="0">
                  <a:solidFill>
                    <a:schemeClr val="accent3"/>
                  </a:solidFill>
                </a:rPr>
                <a:t>(</a:t>
              </a:r>
              <a:r>
                <a:rPr lang="pt-BR" sz="1000" b="1" i="1" noProof="0">
                  <a:solidFill>
                    <a:schemeClr val="accent3"/>
                  </a:solidFill>
                </a:rPr>
                <a:t>B2C</a:t>
              </a:r>
              <a:r>
                <a:rPr lang="pt-BR" sz="1000" i="1" noProof="0">
                  <a:solidFill>
                    <a:schemeClr val="accent3"/>
                  </a:solidFill>
                </a:rPr>
                <a:t>)?</a:t>
              </a:r>
            </a:p>
            <a:p>
              <a:pPr marL="171450" indent="-17145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1000" i="1" noProof="0">
                  <a:solidFill>
                    <a:schemeClr val="accent3"/>
                  </a:solidFill>
                </a:rPr>
                <a:t>...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287C1CA-63B4-A5B1-8E1D-40A5425921BB}"/>
                </a:ext>
              </a:extLst>
            </p:cNvPr>
            <p:cNvSpPr/>
            <p:nvPr/>
          </p:nvSpPr>
          <p:spPr>
            <a:xfrm>
              <a:off x="9808058" y="1400166"/>
              <a:ext cx="1980241" cy="1670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 defTabSz="228600">
                <a:lnSpc>
                  <a:spcPct val="120000"/>
                </a:lnSpc>
                <a:spcAft>
                  <a:spcPts val="1200"/>
                </a:spcAft>
              </a:pPr>
              <a:r>
                <a:rPr lang="pt-BR" sz="1000" i="1">
                  <a:solidFill>
                    <a:schemeClr val="accent3"/>
                  </a:solidFill>
                </a:rPr>
                <a:t>ex. possibilidades de atuação</a:t>
              </a:r>
              <a:r>
                <a:rPr lang="pt-BR" sz="1000" i="1" baseline="30000">
                  <a:solidFill>
                    <a:schemeClr val="accent3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442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213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2025-12-07T11:07:11Z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