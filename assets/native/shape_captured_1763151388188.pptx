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C940AA-1C58-C3B1-A9A0-562805B996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175740-695F-00C5-91CA-14D5092218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028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C98722-917B-DA29-8B3B-CFBF749503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ED6430-E0DE-4B9D-5B73-3F5AA2C0CF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F993AD-E170-21A7-F79D-2C84B67B0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49548"/>
              </p:ext>
            </p:extLst>
          </p:nvPr>
        </p:nvGraphicFramePr>
        <p:xfrm>
          <a:off x="381000" y="1742846"/>
          <a:ext cx="6732000" cy="45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49">
                  <a:extLst>
                    <a:ext uri="{9D8B030D-6E8A-4147-A177-3AD203B41FA5}">
                      <a16:colId xmlns:a16="http://schemas.microsoft.com/office/drawing/2014/main" val="2810709571"/>
                    </a:ext>
                  </a:extLst>
                </a:gridCol>
                <a:gridCol w="1769554">
                  <a:extLst>
                    <a:ext uri="{9D8B030D-6E8A-4147-A177-3AD203B41FA5}">
                      <a16:colId xmlns:a16="http://schemas.microsoft.com/office/drawing/2014/main" val="668047138"/>
                    </a:ext>
                  </a:extLst>
                </a:gridCol>
                <a:gridCol w="1769554">
                  <a:extLst>
                    <a:ext uri="{9D8B030D-6E8A-4147-A177-3AD203B41FA5}">
                      <a16:colId xmlns:a16="http://schemas.microsoft.com/office/drawing/2014/main" val="1488326845"/>
                    </a:ext>
                  </a:extLst>
                </a:gridCol>
                <a:gridCol w="1769554">
                  <a:extLst>
                    <a:ext uri="{9D8B030D-6E8A-4147-A177-3AD203B41FA5}">
                      <a16:colId xmlns:a16="http://schemas.microsoft.com/office/drawing/2014/main" val="3048605161"/>
                    </a:ext>
                  </a:extLst>
                </a:gridCol>
                <a:gridCol w="1115589">
                  <a:extLst>
                    <a:ext uri="{9D8B030D-6E8A-4147-A177-3AD203B41FA5}">
                      <a16:colId xmlns:a16="http://schemas.microsoft.com/office/drawing/2014/main" val="3423782096"/>
                    </a:ext>
                  </a:extLst>
                </a:gridCol>
              </a:tblGrid>
              <a:tr h="91800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MON</a:t>
                      </a:r>
                    </a:p>
                  </a:txBody>
                  <a:tcPr marL="0" marR="0" marT="0" marB="0"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663128"/>
                  </a:ext>
                </a:extLst>
              </a:tr>
              <a:tr h="918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TUE</a:t>
                      </a:r>
                    </a:p>
                  </a:txBody>
                  <a:tcPr marL="0" marR="0" marT="0" marB="0"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743329"/>
                  </a:ext>
                </a:extLst>
              </a:tr>
              <a:tr h="918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WED</a:t>
                      </a:r>
                    </a:p>
                  </a:txBody>
                  <a:tcPr marL="0" marR="0" marT="0" marB="0"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177162"/>
                  </a:ext>
                </a:extLst>
              </a:tr>
              <a:tr h="918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THU</a:t>
                      </a:r>
                    </a:p>
                  </a:txBody>
                  <a:tcPr marL="0" marR="0" marT="0" marB="0"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62327"/>
                  </a:ext>
                </a:extLst>
              </a:tr>
              <a:tr h="918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FRI</a:t>
                      </a:r>
                    </a:p>
                  </a:txBody>
                  <a:tcPr marL="0" marR="0" marT="0" marB="0"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363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C9E988-6FCA-ADC2-9079-7BDFA56980C6}"/>
              </a:ext>
            </a:extLst>
          </p:cNvPr>
          <p:cNvSpPr txBox="1"/>
          <p:nvPr/>
        </p:nvSpPr>
        <p:spPr>
          <a:xfrm>
            <a:off x="7264097" y="1371104"/>
            <a:ext cx="4546904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sz="1100" b="1" dirty="0"/>
              <a:t>WHY CLIENT CLOSE PARTICIPATION IS ESSENTIAL:</a:t>
            </a:r>
          </a:p>
          <a:p>
            <a:pPr marL="355600">
              <a:spcAft>
                <a:spcPts val="1800"/>
              </a:spcAft>
            </a:pPr>
            <a:r>
              <a:rPr lang="en-US" sz="1100" b="1" dirty="0"/>
              <a:t>Short Timeframe</a:t>
            </a:r>
            <a:r>
              <a:rPr lang="en-US" sz="1100" dirty="0"/>
              <a:t>: for this short-term project, commitment is crucial to meet tight deadlines and deliver results quickly</a:t>
            </a:r>
          </a:p>
          <a:p>
            <a:pPr marL="355600">
              <a:spcAft>
                <a:spcPts val="1800"/>
              </a:spcAft>
            </a:pPr>
            <a:r>
              <a:rPr lang="en-US" sz="1100" b="1" dirty="0"/>
              <a:t>Timely Decision-Making</a:t>
            </a:r>
            <a:r>
              <a:rPr lang="en-US" sz="1100" dirty="0"/>
              <a:t>: With limited time, quick and informed decisions are essential to avoid delays</a:t>
            </a:r>
          </a:p>
          <a:p>
            <a:pPr marL="355600">
              <a:spcAft>
                <a:spcPts val="1800"/>
              </a:spcAft>
            </a:pPr>
            <a:r>
              <a:rPr lang="en-US" sz="1100" b="1" dirty="0"/>
              <a:t>High-Stakes Decisions</a:t>
            </a:r>
            <a:r>
              <a:rPr lang="en-US" sz="1100" dirty="0"/>
              <a:t>: decisions made during this project will have a significant impact business; active participation ensures they are well-informed and aligned with goals</a:t>
            </a:r>
          </a:p>
          <a:p>
            <a:pPr marL="355600">
              <a:spcAft>
                <a:spcPts val="1800"/>
              </a:spcAft>
            </a:pPr>
            <a:r>
              <a:rPr lang="en-US" sz="1100" b="1" dirty="0"/>
              <a:t>Maximizing Value</a:t>
            </a:r>
            <a:r>
              <a:rPr lang="en-US" sz="1100" dirty="0"/>
              <a:t>: combine Accenture and CLIENT insights and expertise maximize value derived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9776F-03B8-1862-CCDB-B066F889F7A9}"/>
              </a:ext>
            </a:extLst>
          </p:cNvPr>
          <p:cNvSpPr txBox="1"/>
          <p:nvPr/>
        </p:nvSpPr>
        <p:spPr>
          <a:xfrm>
            <a:off x="7264097" y="4609639"/>
            <a:ext cx="4546904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marR="0" lvl="0" indent="-920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raphik" panose="020B0503030202060203" pitchFamily="34" charset="0"/>
              </a:rPr>
              <a:t>INFORMATION: </a:t>
            </a:r>
            <a:r>
              <a:rPr lang="en-US" altLang="pt-BR" sz="1100">
                <a:latin typeface="Graphik" panose="020B0503030202060203" pitchFamily="34" charset="0"/>
              </a:rPr>
              <a:t>understand context and current scenario and obtain critical information and data to execute analysis</a:t>
            </a:r>
            <a:endParaRPr kumimoji="0" lang="en-US" altLang="pt-B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raphik" panose="020B0503030202060203" pitchFamily="34" charset="0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raphik" panose="020B0503030202060203" pitchFamily="34" charset="0"/>
              </a:rPr>
              <a:t>INSIGHTS:</a:t>
            </a:r>
            <a:r>
              <a:rPr kumimoji="0" lang="en-US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raphik" panose="020B0503030202060203" pitchFamily="34" charset="0"/>
              </a:rPr>
              <a:t> refine key findings and strategies</a:t>
            </a:r>
          </a:p>
          <a:p>
            <a:pPr marL="92075" marR="0" lvl="0" indent="-920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raphik" panose="020B0503030202060203" pitchFamily="34" charset="0"/>
              </a:rPr>
              <a:t>VALIDATION: </a:t>
            </a:r>
            <a:r>
              <a:rPr kumimoji="0" lang="en-US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raphik" panose="020B0503030202060203" pitchFamily="34" charset="0"/>
              </a:rPr>
              <a:t>assumptions and directions to ensure strategic alignment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D6826A-EECC-A5C5-6C4F-7D69FE3E60A3}"/>
              </a:ext>
            </a:extLst>
          </p:cNvPr>
          <p:cNvGrpSpPr/>
          <p:nvPr/>
        </p:nvGrpSpPr>
        <p:grpSpPr>
          <a:xfrm>
            <a:off x="7264097" y="4280193"/>
            <a:ext cx="1427341" cy="287811"/>
            <a:chOff x="7250342" y="4280193"/>
            <a:chExt cx="1427341" cy="28781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0639F24-1591-2EC9-06B9-3AF5B87C32E7}"/>
                </a:ext>
              </a:extLst>
            </p:cNvPr>
            <p:cNvSpPr/>
            <p:nvPr/>
          </p:nvSpPr>
          <p:spPr>
            <a:xfrm>
              <a:off x="7250342" y="4280193"/>
              <a:ext cx="407129" cy="258346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</a:rPr>
                <a:t>WS</a:t>
              </a:r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763096A-355A-F301-B3B7-478391BC7894}"/>
                </a:ext>
              </a:extLst>
            </p:cNvPr>
            <p:cNvSpPr/>
            <p:nvPr/>
          </p:nvSpPr>
          <p:spPr>
            <a:xfrm>
              <a:off x="7709439" y="4310774"/>
              <a:ext cx="968244" cy="25723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WORKSHOPS</a:t>
              </a:r>
            </a:p>
          </p:txBody>
        </p:sp>
      </p:grpSp>
      <p:pic>
        <p:nvPicPr>
          <p:cNvPr id="10" name="Graphic 9" descr="Diamond outline">
            <a:extLst>
              <a:ext uri="{FF2B5EF4-FFF2-40B4-BE49-F238E27FC236}">
                <a16:creationId xmlns:a16="http://schemas.microsoft.com/office/drawing/2014/main" id="{7EAB51A8-BB53-D106-FFBB-8159F54BB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6973" y="3658786"/>
            <a:ext cx="320492" cy="320492"/>
          </a:xfrm>
          <a:prstGeom prst="rect">
            <a:avLst/>
          </a:prstGeom>
        </p:spPr>
      </p:pic>
      <p:pic>
        <p:nvPicPr>
          <p:cNvPr id="11" name="Graphic 10" descr="Chess pieces outline">
            <a:extLst>
              <a:ext uri="{FF2B5EF4-FFF2-40B4-BE49-F238E27FC236}">
                <a16:creationId xmlns:a16="http://schemas.microsoft.com/office/drawing/2014/main" id="{75AB4DFD-2ED4-9B1A-945B-3A88743CB2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0949" y="2981405"/>
            <a:ext cx="352541" cy="352541"/>
          </a:xfrm>
          <a:prstGeom prst="rect">
            <a:avLst/>
          </a:prstGeom>
        </p:spPr>
      </p:pic>
      <p:pic>
        <p:nvPicPr>
          <p:cNvPr id="12" name="Graphic 11" descr="Fork In Road outline">
            <a:extLst>
              <a:ext uri="{FF2B5EF4-FFF2-40B4-BE49-F238E27FC236}">
                <a16:creationId xmlns:a16="http://schemas.microsoft.com/office/drawing/2014/main" id="{128B8674-9583-39DE-5E68-6DCCA7974D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31541" y="2394612"/>
            <a:ext cx="291356" cy="291356"/>
          </a:xfrm>
          <a:prstGeom prst="rect">
            <a:avLst/>
          </a:prstGeom>
        </p:spPr>
      </p:pic>
      <p:pic>
        <p:nvPicPr>
          <p:cNvPr id="13" name="Graphic 12" descr="Stopwatch 75% outline">
            <a:extLst>
              <a:ext uri="{FF2B5EF4-FFF2-40B4-BE49-F238E27FC236}">
                <a16:creationId xmlns:a16="http://schemas.microsoft.com/office/drawing/2014/main" id="{868B16ED-CD67-16E4-09C5-ED79ECE606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00949" y="1803191"/>
            <a:ext cx="352541" cy="35254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E62847C-AC9A-D5CC-58AD-C781555211DD}"/>
              </a:ext>
            </a:extLst>
          </p:cNvPr>
          <p:cNvGrpSpPr/>
          <p:nvPr/>
        </p:nvGrpSpPr>
        <p:grpSpPr>
          <a:xfrm>
            <a:off x="654275" y="1480068"/>
            <a:ext cx="6390866" cy="206000"/>
            <a:chOff x="615282" y="1501840"/>
            <a:chExt cx="6431997" cy="188049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AE7C33E0-89BA-34C0-77E3-D2772BF0E8E6}"/>
                </a:ext>
              </a:extLst>
            </p:cNvPr>
            <p:cNvSpPr/>
            <p:nvPr/>
          </p:nvSpPr>
          <p:spPr>
            <a:xfrm>
              <a:off x="5525548" y="1501840"/>
              <a:ext cx="1521731" cy="188049"/>
            </a:xfrm>
            <a:prstGeom prst="homePlate">
              <a:avLst>
                <a:gd name="adj" fmla="val 951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4816" tIns="72009" rIns="72009" bIns="7200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71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 Semibold" panose="020B0703030202060203" pitchFamily="34" charset="0"/>
                </a:rPr>
                <a:t>16-19 Sep</a:t>
              </a:r>
            </a:p>
          </p:txBody>
        </p:sp>
        <p:sp>
          <p:nvSpPr>
            <p:cNvPr id="16" name="Arrow: Pentagon 15">
              <a:extLst>
                <a:ext uri="{FF2B5EF4-FFF2-40B4-BE49-F238E27FC236}">
                  <a16:creationId xmlns:a16="http://schemas.microsoft.com/office/drawing/2014/main" id="{B6A1DABB-C7CB-2BF7-6A4F-8A4C8CF8629F}"/>
                </a:ext>
              </a:extLst>
            </p:cNvPr>
            <p:cNvSpPr/>
            <p:nvPr/>
          </p:nvSpPr>
          <p:spPr>
            <a:xfrm>
              <a:off x="3761543" y="1501840"/>
              <a:ext cx="1836000" cy="188049"/>
            </a:xfrm>
            <a:prstGeom prst="homePlate">
              <a:avLst>
                <a:gd name="adj" fmla="val 951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4816" tIns="72009" rIns="72009" bIns="7200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71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>
                  <a:solidFill>
                    <a:srgbClr val="FFFFFF"/>
                  </a:solidFill>
                  <a:latin typeface="Graphik Semibold" panose="020B0703030202060203" pitchFamily="34" charset="0"/>
                </a:rPr>
                <a:t>09-13 Sep</a:t>
              </a:r>
              <a:endPara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703030202060203" pitchFamily="34" charset="0"/>
              </a:endParaRPr>
            </a:p>
          </p:txBody>
        </p:sp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1D9EAEAC-45BD-E33E-C014-304535EBEC14}"/>
                </a:ext>
              </a:extLst>
            </p:cNvPr>
            <p:cNvSpPr/>
            <p:nvPr/>
          </p:nvSpPr>
          <p:spPr>
            <a:xfrm>
              <a:off x="2188415" y="1501840"/>
              <a:ext cx="1764000" cy="188049"/>
            </a:xfrm>
            <a:prstGeom prst="homePlate">
              <a:avLst>
                <a:gd name="adj" fmla="val 951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4816" tIns="72009" rIns="72009" bIns="7200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71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 Semibold" panose="020B0703030202060203" pitchFamily="34" charset="0"/>
                </a:rPr>
                <a:t>02-06 Sep</a:t>
              </a:r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372C3656-F43A-A6CF-4251-282932DA9357}"/>
                </a:ext>
              </a:extLst>
            </p:cNvPr>
            <p:cNvSpPr/>
            <p:nvPr/>
          </p:nvSpPr>
          <p:spPr>
            <a:xfrm>
              <a:off x="615282" y="1501840"/>
              <a:ext cx="1692000" cy="188049"/>
            </a:xfrm>
            <a:prstGeom prst="homePlate">
              <a:avLst>
                <a:gd name="adj" fmla="val 951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9" tIns="72009" rIns="72009" bIns="7200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71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 Semibold" panose="020B0703030202060203" pitchFamily="34" charset="0"/>
                </a:rPr>
                <a:t>26-30 Aug</a:t>
              </a:r>
            </a:p>
          </p:txBody>
        </p:sp>
      </p:grp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6E7EABBB-BF4E-5BEB-411B-3E4E7858C57F}"/>
              </a:ext>
            </a:extLst>
          </p:cNvPr>
          <p:cNvSpPr/>
          <p:nvPr/>
        </p:nvSpPr>
        <p:spPr>
          <a:xfrm>
            <a:off x="5676930" y="4665426"/>
            <a:ext cx="180000" cy="180000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F8C3B9-CD5C-BD81-CFCC-5063C248BB0A}"/>
              </a:ext>
            </a:extLst>
          </p:cNvPr>
          <p:cNvSpPr/>
          <p:nvPr/>
        </p:nvSpPr>
        <p:spPr>
          <a:xfrm>
            <a:off x="5660945" y="4823675"/>
            <a:ext cx="1212021" cy="477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Sep 19</a:t>
            </a:r>
            <a:r>
              <a:rPr lang="en-US" sz="1050" b="1" baseline="30000" dirty="0">
                <a:solidFill>
                  <a:schemeClr val="tx1"/>
                </a:solidFill>
              </a:rPr>
              <a:t>th</a:t>
            </a:r>
            <a:r>
              <a:rPr lang="en-US" sz="1050" b="1" dirty="0">
                <a:solidFill>
                  <a:schemeClr val="tx1"/>
                </a:solidFill>
              </a:rPr>
              <a:t> </a:t>
            </a:r>
            <a:br>
              <a:rPr lang="en-US" sz="1050" b="1" dirty="0">
                <a:solidFill>
                  <a:schemeClr val="tx1"/>
                </a:solidFill>
              </a:rPr>
            </a:br>
            <a:r>
              <a:rPr lang="en-US" sz="1050" b="1" dirty="0">
                <a:solidFill>
                  <a:schemeClr val="tx1"/>
                </a:solidFill>
              </a:rPr>
              <a:t>Presentation with Europe Team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B6D48E-CAB9-A2B8-4189-DAEC240CEA5E}"/>
              </a:ext>
            </a:extLst>
          </p:cNvPr>
          <p:cNvSpPr/>
          <p:nvPr/>
        </p:nvSpPr>
        <p:spPr>
          <a:xfrm>
            <a:off x="381000" y="1433970"/>
            <a:ext cx="6732000" cy="4898876"/>
          </a:xfrm>
          <a:prstGeom prst="rect">
            <a:avLst/>
          </a:prstGeom>
          <a:noFill/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BDD6D7-7400-CAF8-5477-13426EC22CCD}"/>
              </a:ext>
            </a:extLst>
          </p:cNvPr>
          <p:cNvSpPr/>
          <p:nvPr/>
        </p:nvSpPr>
        <p:spPr>
          <a:xfrm>
            <a:off x="747362" y="1784353"/>
            <a:ext cx="1510627" cy="1894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Kick-off Meeting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9ED1E4-8C22-D1E3-196B-2F544E75A366}"/>
              </a:ext>
            </a:extLst>
          </p:cNvPr>
          <p:cNvSpPr/>
          <p:nvPr/>
        </p:nvSpPr>
        <p:spPr>
          <a:xfrm>
            <a:off x="747362" y="2013623"/>
            <a:ext cx="1510627" cy="2765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Meetings with Stakeholders: Drivers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604B14-6BD0-3282-22BA-000A496D4720}"/>
              </a:ext>
            </a:extLst>
          </p:cNvPr>
          <p:cNvSpPr/>
          <p:nvPr/>
        </p:nvSpPr>
        <p:spPr>
          <a:xfrm>
            <a:off x="747362" y="2717814"/>
            <a:ext cx="1510627" cy="2765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Interviews: Drivers &amp; Ambitions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1647D2-5207-5E16-FD4C-90BB755E9A9A}"/>
              </a:ext>
            </a:extLst>
          </p:cNvPr>
          <p:cNvSpPr/>
          <p:nvPr/>
        </p:nvSpPr>
        <p:spPr>
          <a:xfrm>
            <a:off x="747362" y="2329989"/>
            <a:ext cx="1510627" cy="2765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Current Context - CLIENT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27FF8E-98F4-6EBD-E0FE-9E51C5112A31}"/>
              </a:ext>
            </a:extLst>
          </p:cNvPr>
          <p:cNvSpPr/>
          <p:nvPr/>
        </p:nvSpPr>
        <p:spPr>
          <a:xfrm>
            <a:off x="747362" y="3029702"/>
            <a:ext cx="1510627" cy="2765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Current Context - CLIENT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092B8D-A9BF-12C3-E2B6-78E6EAED54FD}"/>
              </a:ext>
            </a:extLst>
          </p:cNvPr>
          <p:cNvSpPr/>
          <p:nvPr/>
        </p:nvSpPr>
        <p:spPr>
          <a:xfrm>
            <a:off x="747362" y="3602721"/>
            <a:ext cx="1510627" cy="2765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Team Discussion: hypothesis &amp; scenarios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F9DD01-7D6A-79BF-B1E5-7652F5E2FA0E}"/>
              </a:ext>
            </a:extLst>
          </p:cNvPr>
          <p:cNvSpPr/>
          <p:nvPr/>
        </p:nvSpPr>
        <p:spPr>
          <a:xfrm>
            <a:off x="747362" y="5478195"/>
            <a:ext cx="1510627" cy="5641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Executive Checkpoint:</a:t>
            </a:r>
          </a:p>
          <a:p>
            <a:pPr algn="ctr"/>
            <a:r>
              <a:rPr lang="en-US" sz="900">
                <a:solidFill>
                  <a:schemeClr val="tx1"/>
                </a:solidFill>
              </a:rPr>
              <a:t>Growth hypothesis, Scenarios Definition and KPIs Confirmation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39AAE4-CAB8-3840-D42E-B2BB70A329D9}"/>
              </a:ext>
            </a:extLst>
          </p:cNvPr>
          <p:cNvSpPr/>
          <p:nvPr/>
        </p:nvSpPr>
        <p:spPr>
          <a:xfrm>
            <a:off x="747362" y="4547174"/>
            <a:ext cx="1510627" cy="2765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Team Alignment: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workshop review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A9EDD1-AB71-0A72-8CE2-1623BEA368C9}"/>
              </a:ext>
            </a:extLst>
          </p:cNvPr>
          <p:cNvSpPr/>
          <p:nvPr/>
        </p:nvSpPr>
        <p:spPr>
          <a:xfrm>
            <a:off x="5604677" y="3602721"/>
            <a:ext cx="1358449" cy="4109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Executive Checkpoint: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Consolidated Strategy Final Deck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C9AAF8-3DAE-DEC4-8151-F8E39F71E68C}"/>
              </a:ext>
            </a:extLst>
          </p:cNvPr>
          <p:cNvSpPr/>
          <p:nvPr/>
        </p:nvSpPr>
        <p:spPr>
          <a:xfrm>
            <a:off x="5604677" y="1789199"/>
            <a:ext cx="1358449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Executive Checkpoint: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Consolidated Strategy Final Deck (1</a:t>
            </a:r>
            <a:r>
              <a:rPr lang="en-US" sz="900" baseline="30000">
                <a:solidFill>
                  <a:schemeClr val="tx1"/>
                </a:solidFill>
              </a:rPr>
              <a:t>st</a:t>
            </a:r>
            <a:r>
              <a:rPr lang="en-US" sz="900">
                <a:solidFill>
                  <a:schemeClr val="tx1"/>
                </a:solidFill>
              </a:rPr>
              <a:t> version)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46314D-E61D-C570-45C8-47608F53816E}"/>
              </a:ext>
            </a:extLst>
          </p:cNvPr>
          <p:cNvSpPr/>
          <p:nvPr/>
        </p:nvSpPr>
        <p:spPr>
          <a:xfrm>
            <a:off x="747362" y="3400338"/>
            <a:ext cx="1510627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D4890B-80C0-0B2C-0D1B-76033FAC693E}"/>
              </a:ext>
            </a:extLst>
          </p:cNvPr>
          <p:cNvSpPr/>
          <p:nvPr/>
        </p:nvSpPr>
        <p:spPr>
          <a:xfrm>
            <a:off x="747362" y="4314598"/>
            <a:ext cx="1510627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68F272-47E0-1C19-7F3D-C9639E7F5FA7}"/>
              </a:ext>
            </a:extLst>
          </p:cNvPr>
          <p:cNvSpPr/>
          <p:nvPr/>
        </p:nvSpPr>
        <p:spPr>
          <a:xfrm>
            <a:off x="747362" y="5237872"/>
            <a:ext cx="1510627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394BB97-5442-7E4A-6EBE-EFA54DBECB1D}"/>
              </a:ext>
            </a:extLst>
          </p:cNvPr>
          <p:cNvSpPr/>
          <p:nvPr/>
        </p:nvSpPr>
        <p:spPr>
          <a:xfrm>
            <a:off x="747362" y="6142518"/>
            <a:ext cx="1510627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D7EA09-FC48-F21D-6230-3F8DC3C0E062}"/>
              </a:ext>
            </a:extLst>
          </p:cNvPr>
          <p:cNvSpPr/>
          <p:nvPr/>
        </p:nvSpPr>
        <p:spPr>
          <a:xfrm>
            <a:off x="2384136" y="3400338"/>
            <a:ext cx="1510627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CE3A0BB-3349-23C7-C514-2389946A3F57}"/>
              </a:ext>
            </a:extLst>
          </p:cNvPr>
          <p:cNvSpPr/>
          <p:nvPr/>
        </p:nvSpPr>
        <p:spPr>
          <a:xfrm>
            <a:off x="2384136" y="4314598"/>
            <a:ext cx="1510627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F0698AD-0920-E389-F327-686BC96EDDDF}"/>
              </a:ext>
            </a:extLst>
          </p:cNvPr>
          <p:cNvSpPr/>
          <p:nvPr/>
        </p:nvSpPr>
        <p:spPr>
          <a:xfrm>
            <a:off x="2384136" y="5237872"/>
            <a:ext cx="1510627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251253-508B-E112-B386-EA92E6D7A2A0}"/>
              </a:ext>
            </a:extLst>
          </p:cNvPr>
          <p:cNvSpPr/>
          <p:nvPr/>
        </p:nvSpPr>
        <p:spPr>
          <a:xfrm>
            <a:off x="2384136" y="6142518"/>
            <a:ext cx="1510627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C082F9-B000-F72D-F3DC-A6B7AFAADE72}"/>
              </a:ext>
            </a:extLst>
          </p:cNvPr>
          <p:cNvSpPr/>
          <p:nvPr/>
        </p:nvSpPr>
        <p:spPr>
          <a:xfrm>
            <a:off x="3995848" y="3400338"/>
            <a:ext cx="1510627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CF4AEEB-9885-A2FA-B5CE-55914A6930A7}"/>
              </a:ext>
            </a:extLst>
          </p:cNvPr>
          <p:cNvSpPr/>
          <p:nvPr/>
        </p:nvSpPr>
        <p:spPr>
          <a:xfrm>
            <a:off x="3995848" y="4314598"/>
            <a:ext cx="1510627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F1FC17-104F-A9E7-DB7D-50724953E2A3}"/>
              </a:ext>
            </a:extLst>
          </p:cNvPr>
          <p:cNvSpPr/>
          <p:nvPr/>
        </p:nvSpPr>
        <p:spPr>
          <a:xfrm>
            <a:off x="3995848" y="5237872"/>
            <a:ext cx="1510627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0D0D70-7F37-F12C-A404-83EAD87267EE}"/>
              </a:ext>
            </a:extLst>
          </p:cNvPr>
          <p:cNvSpPr/>
          <p:nvPr/>
        </p:nvSpPr>
        <p:spPr>
          <a:xfrm>
            <a:off x="3995848" y="6142518"/>
            <a:ext cx="1510627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29BC6D4-9459-7D2A-D981-C226AFFC3CEF}"/>
              </a:ext>
            </a:extLst>
          </p:cNvPr>
          <p:cNvSpPr/>
          <p:nvPr/>
        </p:nvSpPr>
        <p:spPr>
          <a:xfrm>
            <a:off x="5614751" y="3400338"/>
            <a:ext cx="1332000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EF3CB48-7D7B-20FF-71A3-C12F1D410381}"/>
              </a:ext>
            </a:extLst>
          </p:cNvPr>
          <p:cNvSpPr/>
          <p:nvPr/>
        </p:nvSpPr>
        <p:spPr>
          <a:xfrm>
            <a:off x="5600956" y="4314598"/>
            <a:ext cx="1332000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91D32E-5FB8-C674-047A-4F92DF9461CA}"/>
              </a:ext>
            </a:extLst>
          </p:cNvPr>
          <p:cNvSpPr/>
          <p:nvPr/>
        </p:nvSpPr>
        <p:spPr>
          <a:xfrm>
            <a:off x="2384136" y="2476339"/>
            <a:ext cx="1510627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3F6D6CC-6207-FC5D-236A-D3AE875C39E1}"/>
              </a:ext>
            </a:extLst>
          </p:cNvPr>
          <p:cNvSpPr/>
          <p:nvPr/>
        </p:nvSpPr>
        <p:spPr>
          <a:xfrm>
            <a:off x="3995848" y="2476339"/>
            <a:ext cx="1510627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F3F38BE-B311-DA4E-4F29-355002984C58}"/>
              </a:ext>
            </a:extLst>
          </p:cNvPr>
          <p:cNvSpPr/>
          <p:nvPr/>
        </p:nvSpPr>
        <p:spPr>
          <a:xfrm>
            <a:off x="5600956" y="2476339"/>
            <a:ext cx="1332000" cy="1279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Daily: team alignment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0BB0850-4004-C480-AD70-5E50763528D1}"/>
              </a:ext>
            </a:extLst>
          </p:cNvPr>
          <p:cNvSpPr/>
          <p:nvPr/>
        </p:nvSpPr>
        <p:spPr>
          <a:xfrm>
            <a:off x="745220" y="2324206"/>
            <a:ext cx="211421" cy="835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700" err="1">
                <a:solidFill>
                  <a:schemeClr val="tx1"/>
                </a:solidFill>
              </a:rPr>
              <a:t>WS</a:t>
            </a:r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3B26B6B-2488-D7A8-9F4F-476A9118AAAB}"/>
              </a:ext>
            </a:extLst>
          </p:cNvPr>
          <p:cNvSpPr/>
          <p:nvPr/>
        </p:nvSpPr>
        <p:spPr>
          <a:xfrm>
            <a:off x="745220" y="3025931"/>
            <a:ext cx="211421" cy="835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700" err="1">
                <a:solidFill>
                  <a:schemeClr val="tx1"/>
                </a:solidFill>
              </a:rPr>
              <a:t>WS</a:t>
            </a:r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B766E1C-A259-3E84-FA71-8F7BBB258A0E}"/>
              </a:ext>
            </a:extLst>
          </p:cNvPr>
          <p:cNvSpPr/>
          <p:nvPr/>
        </p:nvSpPr>
        <p:spPr>
          <a:xfrm>
            <a:off x="745220" y="5470947"/>
            <a:ext cx="211421" cy="835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700" err="1">
                <a:solidFill>
                  <a:schemeClr val="tx1"/>
                </a:solidFill>
              </a:rPr>
              <a:t>WS</a:t>
            </a:r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7346B5A-25ED-9FB2-1CDA-A1F25C2DEE8F}"/>
              </a:ext>
            </a:extLst>
          </p:cNvPr>
          <p:cNvSpPr/>
          <p:nvPr/>
        </p:nvSpPr>
        <p:spPr>
          <a:xfrm>
            <a:off x="2388746" y="5478195"/>
            <a:ext cx="1510627" cy="5641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Executive Checkpoint:</a:t>
            </a:r>
          </a:p>
          <a:p>
            <a:pPr algn="ctr"/>
            <a:r>
              <a:rPr lang="en-US" sz="900">
                <a:solidFill>
                  <a:schemeClr val="tx1"/>
                </a:solidFill>
              </a:rPr>
              <a:t>Scenarios overview and final deck planning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CD5BF41-9ECD-AEC9-C8B3-3F15C59CE1E8}"/>
              </a:ext>
            </a:extLst>
          </p:cNvPr>
          <p:cNvSpPr/>
          <p:nvPr/>
        </p:nvSpPr>
        <p:spPr>
          <a:xfrm>
            <a:off x="2386604" y="5470947"/>
            <a:ext cx="211421" cy="835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700" err="1">
                <a:solidFill>
                  <a:schemeClr val="tx1"/>
                </a:solidFill>
              </a:rPr>
              <a:t>WS</a:t>
            </a:r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A750BD-BFBB-F402-C9B1-4DC76C6E2E59}"/>
              </a:ext>
            </a:extLst>
          </p:cNvPr>
          <p:cNvSpPr/>
          <p:nvPr/>
        </p:nvSpPr>
        <p:spPr>
          <a:xfrm>
            <a:off x="2380554" y="1791238"/>
            <a:ext cx="1510627" cy="2765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Foundation Guidelines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A3D08201-B7CE-24DA-53B8-114168F7A51E}"/>
              </a:ext>
            </a:extLst>
          </p:cNvPr>
          <p:cNvSpPr/>
          <p:nvPr/>
        </p:nvSpPr>
        <p:spPr>
          <a:xfrm>
            <a:off x="2378412" y="1785455"/>
            <a:ext cx="211421" cy="835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700" err="1">
                <a:solidFill>
                  <a:schemeClr val="tx1"/>
                </a:solidFill>
              </a:rPr>
              <a:t>WS</a:t>
            </a: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4D0913-747B-27AC-9891-58DB178D721A}"/>
              </a:ext>
            </a:extLst>
          </p:cNvPr>
          <p:cNvSpPr/>
          <p:nvPr/>
        </p:nvSpPr>
        <p:spPr>
          <a:xfrm>
            <a:off x="2380554" y="2716496"/>
            <a:ext cx="1510627" cy="2765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Scenario #1 Deep Dive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B7E56937-C0B4-BD9B-EAC2-F3DDE6C7BA25}"/>
              </a:ext>
            </a:extLst>
          </p:cNvPr>
          <p:cNvSpPr/>
          <p:nvPr/>
        </p:nvSpPr>
        <p:spPr>
          <a:xfrm>
            <a:off x="2378412" y="2710713"/>
            <a:ext cx="211421" cy="835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700" err="1">
                <a:solidFill>
                  <a:schemeClr val="tx1"/>
                </a:solidFill>
              </a:rPr>
              <a:t>WS</a:t>
            </a:r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D5605B6-D0E6-32C3-10D5-5BC652744086}"/>
              </a:ext>
            </a:extLst>
          </p:cNvPr>
          <p:cNvSpPr/>
          <p:nvPr/>
        </p:nvSpPr>
        <p:spPr>
          <a:xfrm>
            <a:off x="2380554" y="3602721"/>
            <a:ext cx="1510627" cy="2765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Scenario #3 Deep Dive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0434108-3EDB-424B-FA01-31F05617B860}"/>
              </a:ext>
            </a:extLst>
          </p:cNvPr>
          <p:cNvSpPr/>
          <p:nvPr/>
        </p:nvSpPr>
        <p:spPr>
          <a:xfrm>
            <a:off x="2378412" y="3604214"/>
            <a:ext cx="211421" cy="835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700" err="1">
                <a:solidFill>
                  <a:schemeClr val="tx1"/>
                </a:solidFill>
              </a:rPr>
              <a:t>WS</a:t>
            </a:r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9E541E6-10BB-FA8D-A795-DE6318E13D82}"/>
              </a:ext>
            </a:extLst>
          </p:cNvPr>
          <p:cNvSpPr/>
          <p:nvPr/>
        </p:nvSpPr>
        <p:spPr>
          <a:xfrm>
            <a:off x="2380554" y="3032041"/>
            <a:ext cx="1510627" cy="2765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Scenario #2 Deep Dive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3EDE0F0-74AC-B6D4-49F4-C61A09D1A376}"/>
              </a:ext>
            </a:extLst>
          </p:cNvPr>
          <p:cNvSpPr/>
          <p:nvPr/>
        </p:nvSpPr>
        <p:spPr>
          <a:xfrm>
            <a:off x="2378412" y="3026258"/>
            <a:ext cx="211421" cy="835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700" err="1">
                <a:solidFill>
                  <a:schemeClr val="tx1"/>
                </a:solidFill>
              </a:rPr>
              <a:t>WS</a:t>
            </a:r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2220C9C-16DA-A4FB-25D9-4A7F93332B68}"/>
              </a:ext>
            </a:extLst>
          </p:cNvPr>
          <p:cNvSpPr/>
          <p:nvPr/>
        </p:nvSpPr>
        <p:spPr>
          <a:xfrm>
            <a:off x="2388746" y="4547174"/>
            <a:ext cx="1510627" cy="2765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Team Alignment: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workshop review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38AD5C3-7CC6-8B96-4315-020282214F37}"/>
              </a:ext>
            </a:extLst>
          </p:cNvPr>
          <p:cNvSpPr/>
          <p:nvPr/>
        </p:nvSpPr>
        <p:spPr>
          <a:xfrm>
            <a:off x="2380554" y="2106074"/>
            <a:ext cx="1510627" cy="2765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Team Discussion: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Financial Modeling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0159DA2-C785-C618-5B21-9A8A12F2D080}"/>
              </a:ext>
            </a:extLst>
          </p:cNvPr>
          <p:cNvSpPr/>
          <p:nvPr/>
        </p:nvSpPr>
        <p:spPr>
          <a:xfrm>
            <a:off x="3995848" y="1797937"/>
            <a:ext cx="1510627" cy="2765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Team Discussion: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Financial Modeling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1A5E043-61B3-D9B7-BA2A-D71A07A3FDBD}"/>
              </a:ext>
            </a:extLst>
          </p:cNvPr>
          <p:cNvSpPr/>
          <p:nvPr/>
        </p:nvSpPr>
        <p:spPr>
          <a:xfrm>
            <a:off x="3995848" y="2716496"/>
            <a:ext cx="1510627" cy="5723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Team Discussion: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Required Initiatives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for Scenarios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A5CF5D7-6A53-A492-A710-FEDCA9B185E5}"/>
              </a:ext>
            </a:extLst>
          </p:cNvPr>
          <p:cNvSpPr/>
          <p:nvPr/>
        </p:nvSpPr>
        <p:spPr>
          <a:xfrm>
            <a:off x="4005729" y="4547174"/>
            <a:ext cx="1510627" cy="287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Team Alignment: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workshop review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817BA74-77EB-D4E0-8276-6654F58C9D06}"/>
              </a:ext>
            </a:extLst>
          </p:cNvPr>
          <p:cNvSpPr/>
          <p:nvPr/>
        </p:nvSpPr>
        <p:spPr>
          <a:xfrm>
            <a:off x="3995848" y="5478195"/>
            <a:ext cx="1510627" cy="5641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Executive Checkpoint:</a:t>
            </a:r>
          </a:p>
          <a:p>
            <a:pPr algn="ctr"/>
            <a:r>
              <a:rPr lang="en-US" sz="900">
                <a:solidFill>
                  <a:schemeClr val="tx1"/>
                </a:solidFill>
              </a:rPr>
              <a:t>Scenarios Analysis &amp; Consolidated Strategy Guidelines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73F37DC-BF29-6236-859B-3DF4B43A590A}"/>
              </a:ext>
            </a:extLst>
          </p:cNvPr>
          <p:cNvSpPr/>
          <p:nvPr/>
        </p:nvSpPr>
        <p:spPr>
          <a:xfrm>
            <a:off x="3993706" y="5470947"/>
            <a:ext cx="211421" cy="835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700" err="1">
                <a:solidFill>
                  <a:schemeClr val="tx1"/>
                </a:solidFill>
              </a:rPr>
              <a:t>WS</a:t>
            </a:r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4FF4FA4-B1C8-470D-8889-1FB852A1282B}"/>
              </a:ext>
            </a:extLst>
          </p:cNvPr>
          <p:cNvSpPr/>
          <p:nvPr/>
        </p:nvSpPr>
        <p:spPr>
          <a:xfrm>
            <a:off x="4005729" y="3602721"/>
            <a:ext cx="1510627" cy="4144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Team Discussion: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Financial Modeling for Scenarios &amp; Roadmap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FB7DA65-BC58-A6C5-AEEE-CEED86679AE2}"/>
              </a:ext>
            </a:extLst>
          </p:cNvPr>
          <p:cNvSpPr/>
          <p:nvPr/>
        </p:nvSpPr>
        <p:spPr>
          <a:xfrm>
            <a:off x="5608622" y="2716496"/>
            <a:ext cx="1358449" cy="5694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Slot for Final Deck adjustments</a:t>
            </a:r>
          </a:p>
        </p:txBody>
      </p:sp>
      <p:pic>
        <p:nvPicPr>
          <p:cNvPr id="71" name="Graphic 70" descr="User outline">
            <a:extLst>
              <a:ext uri="{FF2B5EF4-FFF2-40B4-BE49-F238E27FC236}">
                <a16:creationId xmlns:a16="http://schemas.microsoft.com/office/drawing/2014/main" id="{17FC9AB6-6BD1-D5FC-327D-238EEAF27D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62012" y="5721342"/>
            <a:ext cx="457200" cy="457200"/>
          </a:xfrm>
          <a:prstGeom prst="rect">
            <a:avLst/>
          </a:prstGeom>
        </p:spPr>
      </p:pic>
      <p:sp>
        <p:nvSpPr>
          <p:cNvPr id="72" name="Oval 71">
            <a:extLst>
              <a:ext uri="{FF2B5EF4-FFF2-40B4-BE49-F238E27FC236}">
                <a16:creationId xmlns:a16="http://schemas.microsoft.com/office/drawing/2014/main" id="{054F7270-29DE-7E9C-C5A9-EBF6F9706414}"/>
              </a:ext>
            </a:extLst>
          </p:cNvPr>
          <p:cNvSpPr/>
          <p:nvPr/>
        </p:nvSpPr>
        <p:spPr>
          <a:xfrm>
            <a:off x="9287138" y="5854922"/>
            <a:ext cx="163636" cy="163636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0DDECD2-FA31-5145-208B-35239998BDC8}"/>
              </a:ext>
            </a:extLst>
          </p:cNvPr>
          <p:cNvSpPr/>
          <p:nvPr/>
        </p:nvSpPr>
        <p:spPr>
          <a:xfrm>
            <a:off x="9287138" y="6091046"/>
            <a:ext cx="163636" cy="16363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49297B7-8D3D-910C-4215-D8FF36055A51}"/>
              </a:ext>
            </a:extLst>
          </p:cNvPr>
          <p:cNvSpPr txBox="1"/>
          <p:nvPr/>
        </p:nvSpPr>
        <p:spPr>
          <a:xfrm>
            <a:off x="9448796" y="5813630"/>
            <a:ext cx="18950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pt-BR" sz="1000" b="1">
                <a:latin typeface="Graphik" panose="020B0503030202060203" pitchFamily="34" charset="0"/>
              </a:rPr>
              <a:t>Senior Tech Specialists</a:t>
            </a:r>
            <a:endParaRPr kumimoji="0" lang="en-US" altLang="pt-BR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raphik" panose="020B0503030202060203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F07A200-1AD7-CA8A-2C46-C5366CC1F695}"/>
              </a:ext>
            </a:extLst>
          </p:cNvPr>
          <p:cNvSpPr txBox="1"/>
          <p:nvPr/>
        </p:nvSpPr>
        <p:spPr>
          <a:xfrm>
            <a:off x="9448796" y="6049754"/>
            <a:ext cx="18950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pt-BR" sz="1000" b="1">
                <a:latin typeface="Graphik" panose="020B0503030202060203" pitchFamily="34" charset="0"/>
              </a:rPr>
              <a:t>Senior Business Strategist</a:t>
            </a:r>
            <a:endParaRPr kumimoji="0" lang="en-US" altLang="pt-BR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raphik" panose="020B0503030202060203" pitchFamily="34" charset="0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95E2AEC-A94F-880D-C793-5767F21B422E}"/>
              </a:ext>
            </a:extLst>
          </p:cNvPr>
          <p:cNvSpPr/>
          <p:nvPr/>
        </p:nvSpPr>
        <p:spPr>
          <a:xfrm>
            <a:off x="2140793" y="2338577"/>
            <a:ext cx="92368" cy="92368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E005E1E-AD1A-D44F-BD48-6A13BCAAAE57}"/>
              </a:ext>
            </a:extLst>
          </p:cNvPr>
          <p:cNvSpPr/>
          <p:nvPr/>
        </p:nvSpPr>
        <p:spPr>
          <a:xfrm>
            <a:off x="2140793" y="3041115"/>
            <a:ext cx="92368" cy="92368"/>
          </a:xfrm>
          <a:prstGeom prst="ellipse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9C2965C-AEFA-4E07-005F-8B9C7A6DEB2D}"/>
              </a:ext>
            </a:extLst>
          </p:cNvPr>
          <p:cNvSpPr/>
          <p:nvPr/>
        </p:nvSpPr>
        <p:spPr>
          <a:xfrm>
            <a:off x="2140793" y="3622152"/>
            <a:ext cx="92368" cy="92368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EB9F6CC-C058-1B90-DDDC-FBBAE7F25164}"/>
              </a:ext>
            </a:extLst>
          </p:cNvPr>
          <p:cNvSpPr/>
          <p:nvPr/>
        </p:nvSpPr>
        <p:spPr>
          <a:xfrm>
            <a:off x="2140793" y="3772849"/>
            <a:ext cx="92368" cy="923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804B8E31-41BF-B880-7EED-120E4BC85B16}"/>
              </a:ext>
            </a:extLst>
          </p:cNvPr>
          <p:cNvSpPr/>
          <p:nvPr/>
        </p:nvSpPr>
        <p:spPr>
          <a:xfrm>
            <a:off x="3775259" y="2121444"/>
            <a:ext cx="92368" cy="923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CC8C19B-B2D4-0049-1E3E-3225EC987312}"/>
              </a:ext>
            </a:extLst>
          </p:cNvPr>
          <p:cNvSpPr/>
          <p:nvPr/>
        </p:nvSpPr>
        <p:spPr>
          <a:xfrm>
            <a:off x="3774197" y="3622152"/>
            <a:ext cx="92368" cy="92368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442A2B-8FA8-473A-6C0E-FC2645933A80}"/>
              </a:ext>
            </a:extLst>
          </p:cNvPr>
          <p:cNvSpPr/>
          <p:nvPr/>
        </p:nvSpPr>
        <p:spPr>
          <a:xfrm>
            <a:off x="3774197" y="3772849"/>
            <a:ext cx="92368" cy="923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02B03DCE-8917-C38D-B178-15584FE1C10D}"/>
              </a:ext>
            </a:extLst>
          </p:cNvPr>
          <p:cNvSpPr/>
          <p:nvPr/>
        </p:nvSpPr>
        <p:spPr>
          <a:xfrm>
            <a:off x="3774197" y="3049940"/>
            <a:ext cx="92368" cy="92368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7CB3A79-AC34-B054-0DE2-0D9F180C4DCE}"/>
              </a:ext>
            </a:extLst>
          </p:cNvPr>
          <p:cNvSpPr/>
          <p:nvPr/>
        </p:nvSpPr>
        <p:spPr>
          <a:xfrm>
            <a:off x="3774197" y="3200637"/>
            <a:ext cx="92368" cy="923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46F68AA-DBE6-BFF0-85F8-23A090DB1359}"/>
              </a:ext>
            </a:extLst>
          </p:cNvPr>
          <p:cNvSpPr/>
          <p:nvPr/>
        </p:nvSpPr>
        <p:spPr>
          <a:xfrm>
            <a:off x="3774197" y="2732386"/>
            <a:ext cx="92368" cy="92368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253B737-A319-ACCA-82F6-D40C74D67868}"/>
              </a:ext>
            </a:extLst>
          </p:cNvPr>
          <p:cNvSpPr/>
          <p:nvPr/>
        </p:nvSpPr>
        <p:spPr>
          <a:xfrm>
            <a:off x="3774197" y="2883083"/>
            <a:ext cx="92368" cy="923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1878337-E8AB-30C4-BF0A-2EBCB200917C}"/>
              </a:ext>
            </a:extLst>
          </p:cNvPr>
          <p:cNvSpPr/>
          <p:nvPr/>
        </p:nvSpPr>
        <p:spPr>
          <a:xfrm>
            <a:off x="3774197" y="1808387"/>
            <a:ext cx="92368" cy="92368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4BCB6F08-89D9-2381-EA6E-DA870178F0F6}"/>
              </a:ext>
            </a:extLst>
          </p:cNvPr>
          <p:cNvSpPr/>
          <p:nvPr/>
        </p:nvSpPr>
        <p:spPr>
          <a:xfrm>
            <a:off x="3774197" y="1959084"/>
            <a:ext cx="92368" cy="923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C590FF0-3561-1F8C-2339-E36C1079EDDB}"/>
              </a:ext>
            </a:extLst>
          </p:cNvPr>
          <p:cNvSpPr/>
          <p:nvPr/>
        </p:nvSpPr>
        <p:spPr>
          <a:xfrm>
            <a:off x="5393584" y="1816872"/>
            <a:ext cx="92368" cy="923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C84121A-65B4-9F60-763B-13950D2BBAE7}"/>
              </a:ext>
            </a:extLst>
          </p:cNvPr>
          <p:cNvSpPr/>
          <p:nvPr/>
        </p:nvSpPr>
        <p:spPr>
          <a:xfrm>
            <a:off x="5393584" y="2732386"/>
            <a:ext cx="92368" cy="92368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251D670A-1F08-A753-DEA7-27F2C16E89D6}"/>
              </a:ext>
            </a:extLst>
          </p:cNvPr>
          <p:cNvSpPr/>
          <p:nvPr/>
        </p:nvSpPr>
        <p:spPr>
          <a:xfrm>
            <a:off x="5390409" y="3620123"/>
            <a:ext cx="92368" cy="92368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F83F549-928B-255C-565E-6D1858D30BBE}"/>
              </a:ext>
            </a:extLst>
          </p:cNvPr>
          <p:cNvSpPr/>
          <p:nvPr/>
        </p:nvSpPr>
        <p:spPr>
          <a:xfrm>
            <a:off x="5390409" y="3770820"/>
            <a:ext cx="92368" cy="923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6098668-EE28-85E3-481B-B738E1922DA5}"/>
              </a:ext>
            </a:extLst>
          </p:cNvPr>
          <p:cNvSpPr/>
          <p:nvPr/>
        </p:nvSpPr>
        <p:spPr>
          <a:xfrm>
            <a:off x="8422433" y="6091046"/>
            <a:ext cx="163636" cy="1636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D8D4297-B806-73A7-319D-EE0280E71148}"/>
              </a:ext>
            </a:extLst>
          </p:cNvPr>
          <p:cNvSpPr txBox="1"/>
          <p:nvPr/>
        </p:nvSpPr>
        <p:spPr>
          <a:xfrm>
            <a:off x="8584091" y="6049754"/>
            <a:ext cx="18950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pt-BR" sz="1000" b="1">
                <a:latin typeface="Graphik" panose="020B0503030202060203" pitchFamily="34" charset="0"/>
              </a:rPr>
              <a:t>CFO</a:t>
            </a:r>
            <a:endParaRPr kumimoji="0" lang="en-US" altLang="pt-BR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raphik" panose="020B0503030202060203" pitchFamily="34" charset="0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E53F8E0A-252C-C7EC-6D2E-47C403881907}"/>
              </a:ext>
            </a:extLst>
          </p:cNvPr>
          <p:cNvSpPr/>
          <p:nvPr/>
        </p:nvSpPr>
        <p:spPr>
          <a:xfrm>
            <a:off x="2140793" y="1802245"/>
            <a:ext cx="92368" cy="92368"/>
          </a:xfrm>
          <a:prstGeom prst="ellipse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038235C8-CA8D-128C-2731-E77BEADF6E0F}"/>
              </a:ext>
            </a:extLst>
          </p:cNvPr>
          <p:cNvSpPr/>
          <p:nvPr/>
        </p:nvSpPr>
        <p:spPr>
          <a:xfrm>
            <a:off x="2140793" y="2166654"/>
            <a:ext cx="92368" cy="92368"/>
          </a:xfrm>
          <a:prstGeom prst="ellipse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15D2524-0989-9642-3CAE-6F5AADE13827}"/>
              </a:ext>
            </a:extLst>
          </p:cNvPr>
          <p:cNvSpPr/>
          <p:nvPr/>
        </p:nvSpPr>
        <p:spPr>
          <a:xfrm>
            <a:off x="2140793" y="5495085"/>
            <a:ext cx="92368" cy="92368"/>
          </a:xfrm>
          <a:prstGeom prst="ellipse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B2B4D6B-FABA-DEB2-EAF6-B30F248FB240}"/>
              </a:ext>
            </a:extLst>
          </p:cNvPr>
          <p:cNvSpPr/>
          <p:nvPr/>
        </p:nvSpPr>
        <p:spPr>
          <a:xfrm>
            <a:off x="3782539" y="5495085"/>
            <a:ext cx="92368" cy="92368"/>
          </a:xfrm>
          <a:prstGeom prst="ellipse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18E17D2-5F39-9ADE-3F39-3058596DD046}"/>
              </a:ext>
            </a:extLst>
          </p:cNvPr>
          <p:cNvSpPr/>
          <p:nvPr/>
        </p:nvSpPr>
        <p:spPr>
          <a:xfrm>
            <a:off x="5385024" y="5495085"/>
            <a:ext cx="92368" cy="92368"/>
          </a:xfrm>
          <a:prstGeom prst="ellipse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02F87FF-3C48-8F19-9C7E-ABD114FED09A}"/>
              </a:ext>
            </a:extLst>
          </p:cNvPr>
          <p:cNvSpPr/>
          <p:nvPr/>
        </p:nvSpPr>
        <p:spPr>
          <a:xfrm>
            <a:off x="6854383" y="1802245"/>
            <a:ext cx="92368" cy="92368"/>
          </a:xfrm>
          <a:prstGeom prst="ellipse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1553B80B-DF6E-1B8C-B63D-FA555ED3B064}"/>
              </a:ext>
            </a:extLst>
          </p:cNvPr>
          <p:cNvSpPr/>
          <p:nvPr/>
        </p:nvSpPr>
        <p:spPr>
          <a:xfrm>
            <a:off x="6854383" y="3620123"/>
            <a:ext cx="92368" cy="92368"/>
          </a:xfrm>
          <a:prstGeom prst="ellipse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A144EAAE-96F0-1038-D094-7BFDF91C215F}"/>
              </a:ext>
            </a:extLst>
          </p:cNvPr>
          <p:cNvSpPr/>
          <p:nvPr/>
        </p:nvSpPr>
        <p:spPr>
          <a:xfrm>
            <a:off x="2140793" y="3188207"/>
            <a:ext cx="92368" cy="92368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3116352-0775-C8A0-1B61-04FB355296AE}"/>
              </a:ext>
            </a:extLst>
          </p:cNvPr>
          <p:cNvSpPr/>
          <p:nvPr/>
        </p:nvSpPr>
        <p:spPr>
          <a:xfrm>
            <a:off x="6854383" y="2766887"/>
            <a:ext cx="92368" cy="92368"/>
          </a:xfrm>
          <a:prstGeom prst="ellipse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C405026-F76A-C5B4-3300-439CF01C90B4}"/>
              </a:ext>
            </a:extLst>
          </p:cNvPr>
          <p:cNvSpPr/>
          <p:nvPr/>
        </p:nvSpPr>
        <p:spPr>
          <a:xfrm>
            <a:off x="8422433" y="5854922"/>
            <a:ext cx="163636" cy="16363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52E4223-E861-C843-92D0-AFFA205A601E}"/>
              </a:ext>
            </a:extLst>
          </p:cNvPr>
          <p:cNvSpPr txBox="1"/>
          <p:nvPr/>
        </p:nvSpPr>
        <p:spPr>
          <a:xfrm>
            <a:off x="8584091" y="5813630"/>
            <a:ext cx="18950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pt-BR" sz="1000" b="1">
                <a:latin typeface="Graphik" panose="020B0503030202060203" pitchFamily="34" charset="0"/>
              </a:rPr>
              <a:t>CEO</a:t>
            </a:r>
            <a:endParaRPr kumimoji="0" lang="en-US" altLang="pt-BR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raphik" panose="020B0503030202060203" pitchFamily="34" charset="0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153F5DF0-9773-6BDF-C04B-EBC99AC21E73}"/>
              </a:ext>
            </a:extLst>
          </p:cNvPr>
          <p:cNvSpPr/>
          <p:nvPr/>
        </p:nvSpPr>
        <p:spPr>
          <a:xfrm>
            <a:off x="5395536" y="1935453"/>
            <a:ext cx="92368" cy="92368"/>
          </a:xfrm>
          <a:prstGeom prst="ellipse">
            <a:avLst/>
          </a:prstGeom>
          <a:solidFill>
            <a:srgbClr val="FFC8C8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D404108F-3B8C-3475-B101-4AE518D31341}"/>
              </a:ext>
            </a:extLst>
          </p:cNvPr>
          <p:cNvSpPr/>
          <p:nvPr/>
        </p:nvSpPr>
        <p:spPr>
          <a:xfrm>
            <a:off x="2140793" y="5619888"/>
            <a:ext cx="92368" cy="92368"/>
          </a:xfrm>
          <a:prstGeom prst="ellipse">
            <a:avLst/>
          </a:prstGeom>
          <a:solidFill>
            <a:srgbClr val="FFC8C8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3DB4CEF4-B37B-0768-0293-BEFC17B0730A}"/>
              </a:ext>
            </a:extLst>
          </p:cNvPr>
          <p:cNvSpPr/>
          <p:nvPr/>
        </p:nvSpPr>
        <p:spPr>
          <a:xfrm>
            <a:off x="3782539" y="5619888"/>
            <a:ext cx="92368" cy="92368"/>
          </a:xfrm>
          <a:prstGeom prst="ellipse">
            <a:avLst/>
          </a:prstGeom>
          <a:solidFill>
            <a:srgbClr val="FFC8C8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B719DA3C-C17C-6EA6-31E2-B5A86B73F29E}"/>
              </a:ext>
            </a:extLst>
          </p:cNvPr>
          <p:cNvSpPr/>
          <p:nvPr/>
        </p:nvSpPr>
        <p:spPr>
          <a:xfrm>
            <a:off x="6849579" y="1929815"/>
            <a:ext cx="92368" cy="92368"/>
          </a:xfrm>
          <a:prstGeom prst="ellipse">
            <a:avLst/>
          </a:prstGeom>
          <a:solidFill>
            <a:srgbClr val="FFC8C8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FBCEB860-EF3D-082E-AB8B-8BCC81B098DC}"/>
              </a:ext>
            </a:extLst>
          </p:cNvPr>
          <p:cNvSpPr/>
          <p:nvPr/>
        </p:nvSpPr>
        <p:spPr>
          <a:xfrm>
            <a:off x="2022943" y="1802245"/>
            <a:ext cx="92368" cy="92368"/>
          </a:xfrm>
          <a:prstGeom prst="ellipse">
            <a:avLst/>
          </a:prstGeom>
          <a:solidFill>
            <a:srgbClr val="FFC8C8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C8FA4D7F-EA7E-C144-D570-26DF9F5F0FCE}"/>
              </a:ext>
            </a:extLst>
          </p:cNvPr>
          <p:cNvSpPr/>
          <p:nvPr/>
        </p:nvSpPr>
        <p:spPr>
          <a:xfrm>
            <a:off x="2144891" y="2045587"/>
            <a:ext cx="92368" cy="92368"/>
          </a:xfrm>
          <a:prstGeom prst="ellipse">
            <a:avLst/>
          </a:prstGeom>
          <a:solidFill>
            <a:srgbClr val="FFC8C8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6EB3DD88-916B-BB51-D3A9-FB41FA6BEE96}"/>
              </a:ext>
            </a:extLst>
          </p:cNvPr>
          <p:cNvSpPr/>
          <p:nvPr/>
        </p:nvSpPr>
        <p:spPr>
          <a:xfrm>
            <a:off x="6849579" y="3755227"/>
            <a:ext cx="92368" cy="92368"/>
          </a:xfrm>
          <a:prstGeom prst="ellipse">
            <a:avLst/>
          </a:prstGeom>
          <a:solidFill>
            <a:srgbClr val="FFC8C8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F1246BB-E198-05BB-028B-3EC9A1CA37FE}"/>
              </a:ext>
            </a:extLst>
          </p:cNvPr>
          <p:cNvSpPr/>
          <p:nvPr/>
        </p:nvSpPr>
        <p:spPr>
          <a:xfrm>
            <a:off x="7539152" y="6142518"/>
            <a:ext cx="502920" cy="21151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715379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386</Words>
  <Application>Microsoft Office PowerPoint</Application>
  <PresentationFormat>Widescreen</PresentationFormat>
  <Paragraphs>81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2025-11-14T20:16:35Z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