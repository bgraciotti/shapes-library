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7"/>
  </p:notesMasterIdLst>
  <p:sldIdLst>
    <p:sldId id="2147482658" r:id="rId5"/>
    <p:sldId id="2147482657" r:id="rId6"/>
  </p:sldIdLst>
  <p:sldSz cx="12192000" cy="6858000"/>
  <p:notesSz cx="6858000" cy="9144000"/>
  <p:custDataLst>
    <p:tags r:id="rId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23C"/>
    <a:srgbClr val="FFFFFF"/>
    <a:srgbClr val="00EB81"/>
    <a:srgbClr val="E6DCFF"/>
    <a:srgbClr val="0041F0"/>
    <a:srgbClr val="DCAFFF"/>
    <a:srgbClr val="FF50A0"/>
    <a:srgbClr val="FF3246"/>
    <a:srgbClr val="00FFFF"/>
    <a:srgbClr val="D4D4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4021F68-0494-496A-BD4B-43C0DD56B880}" v="32" dt="2025-10-31T21:53:34.360"/>
    <p1510:client id="{F8B6DB93-B16F-4284-82B1-E93DAFE73FFA}" v="1" dt="2025-10-31T23:27:17.724"/>
  </p1510:revLst>
</p1510:revInfo>
</file>

<file path=ppt/tableStyles.xml><?xml version="1.0" encoding="utf-8"?>
<a:tblStyleLst xmlns:a="http://schemas.openxmlformats.org/drawingml/2006/main" def="{A0BC3CC4-8867-4C89-9D3F-A6A6B9ED4035}">
  <a:tblStyle styleId="{A0BC3CC4-8867-4C89-9D3F-A6A6B9ED4035}" styleName="Acc_Table_1">
    <a:wholeTbl>
      <a:tcTxStyle>
        <a:fontRef idx="minor">
          <a:prstClr val="black"/>
        </a:fontRef>
        <a:schemeClr val="dk1"/>
      </a:tcTxStyle>
      <a:tcStyle>
        <a:tcBdr>
          <a:left>
            <a:ln w="0" cmpd="sng">
              <a:solidFill>
                <a:srgbClr val="FFFFFF"/>
              </a:solidFill>
            </a:ln>
          </a:left>
          <a:right>
            <a:ln w="0" cmpd="sng">
              <a:solidFill>
                <a:srgbClr val="FFFFFF"/>
              </a:solidFill>
            </a:ln>
          </a:right>
          <a:top>
            <a:ln w="0" cmpd="sng">
              <a:solidFill>
                <a:srgbClr val="FFFFFF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6350" cmpd="sng">
              <a:solidFill>
                <a:srgbClr val="D9D9D9"/>
              </a:solidFill>
            </a:ln>
          </a:insideH>
          <a:insideV>
            <a:ln w="6350" cmpd="sng">
              <a:solidFill>
                <a:srgbClr val="D9D9D9"/>
              </a:solidFill>
            </a:ln>
          </a:insideV>
        </a:tcBdr>
        <a:fill>
          <a:noFill/>
        </a:fill>
      </a:tcStyle>
    </a:wholeTbl>
    <a:band1H>
      <a:tcTxStyle>
        <a:fontRef idx="minor">
          <a:prstClr val="black"/>
        </a:fontRef>
        <a:schemeClr val="dk1"/>
      </a:tcTxStyle>
      <a:tcStyle>
        <a:tcBdr/>
        <a:fill>
          <a:solidFill>
            <a:srgbClr val="F2F2F2"/>
          </a:solidFill>
        </a:fill>
      </a:tcStyle>
    </a:band1H>
    <a:band1V>
      <a:tcTxStyle>
        <a:fontRef idx="minor">
          <a:prstClr val="black"/>
        </a:fontRef>
        <a:schemeClr val="dk1"/>
      </a:tcTxStyle>
      <a:tcStyle>
        <a:tcBdr/>
        <a:fill>
          <a:solidFill>
            <a:srgbClr val="F2F2F2"/>
          </a:solidFill>
        </a:fill>
      </a:tcStyle>
    </a:band1V>
    <a:lastCol>
      <a:tcTxStyle b="on">
        <a:fontRef idx="minor">
          <a:prstClr val="black"/>
        </a:fontRef>
        <a:schemeClr val="dk1"/>
      </a:tcTxStyle>
      <a:tcStyle>
        <a:tcBdr/>
      </a:tcStyle>
    </a:lastCol>
    <a:firstCol>
      <a:tcTxStyle b="on">
        <a:fontRef idx="minor">
          <a:prstClr val="black"/>
        </a:fontRef>
        <a:schemeClr val="dk1"/>
      </a:tcTxStyle>
      <a:tcStyle>
        <a:tcBdr/>
      </a:tcStyle>
    </a:firstCol>
    <a:lastRow>
      <a:tcTxStyle b="on">
        <a:fontRef idx="minor">
          <a:prstClr val="black"/>
        </a:fontRef>
        <a:schemeClr val="dk1"/>
      </a:tcTxStyle>
      <a:tcStyle>
        <a:tcBdr/>
      </a:tcStyle>
    </a:lastRow>
    <a:firstRow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04" autoAdjust="0"/>
    <p:restoredTop sz="94924" autoAdjust="0"/>
  </p:normalViewPr>
  <p:slideViewPr>
    <p:cSldViewPr snapToGrid="0" showGuides="1">
      <p:cViewPr varScale="1">
        <p:scale>
          <a:sx n="70" d="100"/>
          <a:sy n="70" d="100"/>
        </p:scale>
        <p:origin x="1157" y="2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8141"/>
    </p:cViewPr>
  </p:sorterViewPr>
  <p:notesViewPr>
    <p:cSldViewPr snapToGrid="0">
      <p:cViewPr varScale="1">
        <p:scale>
          <a:sx n="81" d="100"/>
          <a:sy n="81" d="100"/>
        </p:scale>
        <p:origin x="3516" y="5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828800" cy="21237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027613" y="0"/>
            <a:ext cx="1828800" cy="21237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fld id="{1DE7078C-3525-4C9B-BF62-C9FD13B9A875}" type="datetimeFigureOut">
              <a:rPr lang="en-US" smtClean="0"/>
              <a:pPr/>
              <a:t>1/18/2026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0205" y="274505"/>
            <a:ext cx="4734172" cy="266297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0206" y="2999605"/>
            <a:ext cx="6751750" cy="586989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-1" y="8923817"/>
            <a:ext cx="6217919" cy="21237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399213" y="8917749"/>
            <a:ext cx="457200" cy="21844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fld id="{436E8A87-18DA-4CCE-A8C2-BDBC489258C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7384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12713" indent="-112713" algn="l" defTabSz="914400" rtl="0" eaLnBrk="1" latinLnBrk="0" hangingPunct="1">
      <a:buFont typeface="Graphik" panose="020B0604020202020204" pitchFamily="34" charset="0"/>
      <a:buChar char="•"/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230188" indent="-112713" algn="l">
      <a:buFont typeface="Graphik" panose="020B0604020202020204" pitchFamily="34" charset="0"/>
      <a:buChar char="•"/>
      <a:defRPr sz="1000">
        <a:latin typeface="+mn-lt"/>
      </a:defRPr>
    </a:lvl2pPr>
    <a:lvl3pPr marL="342900" indent="-112713" algn="l">
      <a:buFont typeface="Graphik" panose="020B0604020202020204" pitchFamily="34" charset="0"/>
      <a:buChar char="•"/>
      <a:defRPr sz="900">
        <a:latin typeface="+mn-lt"/>
      </a:defRPr>
    </a:lvl3pPr>
    <a:lvl4pPr marL="460375" indent="-112713" algn="l">
      <a:buFont typeface="Graphik" panose="020B0604020202020204" pitchFamily="34" charset="0"/>
      <a:buChar char="•"/>
      <a:defRPr sz="800">
        <a:latin typeface="+mn-lt"/>
      </a:defRPr>
    </a:lvl4pPr>
    <a:lvl5pPr marL="571500" indent="-112713" algn="l">
      <a:buFont typeface="Graphik" panose="020B0604020202020204" pitchFamily="34" charset="0"/>
      <a:buChar char="•"/>
      <a:defRPr sz="800">
        <a:latin typeface="+mn-lt"/>
      </a:defRPr>
    </a:lvl5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67FF053D-F28D-430E-0239-CE8ED656641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8397199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7FF053D-F28D-430E-0239-CE8ED656641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itle 8">
            <a:extLst>
              <a:ext uri="{FF2B5EF4-FFF2-40B4-BE49-F238E27FC236}">
                <a16:creationId xmlns:a16="http://schemas.microsoft.com/office/drawing/2014/main" id="{C06DB281-EA53-C29C-C70A-13D0082F3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432000"/>
          </a:xfrm>
        </p:spPr>
        <p:txBody>
          <a:bodyPr vert="horz"/>
          <a:lstStyle>
            <a:lvl1pPr>
              <a:defRPr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CC1B7B8-2FCE-B823-1046-0985C007FCD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0FA015-B515-8D42-24DE-DB142CE72AA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32450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899A5850-98F6-A860-8A69-7A03A26B94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0331330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9A5850-98F6-A860-8A69-7A03A26B94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itle 9">
            <a:extLst>
              <a:ext uri="{FF2B5EF4-FFF2-40B4-BE49-F238E27FC236}">
                <a16:creationId xmlns:a16="http://schemas.microsoft.com/office/drawing/2014/main" id="{AFF1CEE3-E058-7E9F-C296-DD3BD5D25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432000"/>
          </a:xfrm>
        </p:spPr>
        <p:txBody>
          <a:bodyPr vert="horz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58F9796-694A-BEBA-A26C-1BC9E5ABEF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791592"/>
            <a:ext cx="11430000" cy="564388"/>
          </a:xfrm>
        </p:spPr>
        <p:txBody>
          <a:bodyPr/>
          <a:lstStyle>
            <a:lvl1pPr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22FA907-42B9-6FA1-C4DF-A540BFE35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18C3AE-678A-48F5-EE59-84E1AE2DC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96915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 userDrawn="1">
          <p15:clr>
            <a:srgbClr val="547EBF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ong Headline-subtitle Inver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899A5850-98F6-A860-8A69-7A03A26B94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004200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9A5850-98F6-A860-8A69-7A03A26B94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58F9796-694A-BEBA-A26C-1BC9E5ABEF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308927"/>
            <a:ext cx="11430000" cy="324000"/>
          </a:xfrm>
        </p:spPr>
        <p:txBody>
          <a:bodyPr/>
          <a:lstStyle>
            <a:lvl1pPr>
              <a:defRPr sz="1600">
                <a:solidFill>
                  <a:schemeClr val="accent1"/>
                </a:solidFill>
              </a:defRPr>
            </a:lvl1pPr>
          </a:lstStyle>
          <a:p>
            <a:pPr lvl="0"/>
            <a:endParaRPr lang="pt-BR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AFF1CEE3-E058-7E9F-C296-DD3BD5D25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650247"/>
            <a:ext cx="11430000" cy="432000"/>
          </a:xfrm>
        </p:spPr>
        <p:txBody>
          <a:bodyPr vert="horz"/>
          <a:lstStyle/>
          <a:p>
            <a:r>
              <a:rPr lang="pt-BR" dirty="0"/>
              <a:t>Click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edit</a:t>
            </a:r>
            <a:r>
              <a:rPr lang="pt-BR" dirty="0"/>
              <a:t> Master </a:t>
            </a:r>
            <a:r>
              <a:rPr lang="pt-BR" dirty="0" err="1"/>
              <a:t>title</a:t>
            </a:r>
            <a:r>
              <a:rPr lang="pt-BR" dirty="0"/>
              <a:t> </a:t>
            </a:r>
            <a:r>
              <a:rPr lang="pt-BR" dirty="0" err="1"/>
              <a:t>style</a:t>
            </a:r>
            <a:endParaRPr lang="pt-BR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8F9C570-8ADD-BDD4-0CD9-C5A9C02D1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3963760-62E3-11BA-AEE9-E17FF19CD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7948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>
          <p15:clr>
            <a:srgbClr val="547EBF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899A5850-98F6-A860-8A69-7A03A26B94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925768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9A5850-98F6-A860-8A69-7A03A26B94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58F9796-694A-BEBA-A26C-1BC9E5ABEF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1147848"/>
            <a:ext cx="11430000" cy="564388"/>
          </a:xfrm>
        </p:spPr>
        <p:txBody>
          <a:bodyPr/>
          <a:lstStyle>
            <a:lvl1pPr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99FC1387-F76A-5CD9-1471-AB709200A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432000"/>
          </a:xfrm>
        </p:spPr>
        <p:txBody>
          <a:bodyPr vert="horz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A9038AC-B619-5EB1-8D41-D4C38DBF5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4469A7-C007-9466-EA28-F04CC2C2F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48257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 userDrawn="1">
          <p15:clr>
            <a:srgbClr val="547EBF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CD2B6B66-FB75-271B-FA63-2A6910A3EC4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387627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D2B6B66-FB75-271B-FA63-2A6910A3EC4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3BC61A9-92B1-2D35-4680-3DE1FE9AB59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F3B625-43D1-998E-66A4-B8CE5FAFEB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55426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DBD6707-481A-C9B9-7A25-567F0DF7FA3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20A756-284C-9857-61EE-F4EF516758F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0792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14499A4D-E1EC-608F-9006-A468770F686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5552951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73" imgH="473" progId="TCLayout.ActiveDocument.1">
                  <p:embed/>
                </p:oleObj>
              </mc:Choice>
              <mc:Fallback>
                <p:oleObj name="think-cell Slide" r:id="rId9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4499A4D-E1EC-608F-9006-A468770F686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81000" y="380999"/>
            <a:ext cx="11430000" cy="9906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Place headline here (32pt, min 28pt)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381000" y="1371600"/>
            <a:ext cx="11430000" cy="49360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First level (copy 20pt)</a:t>
            </a:r>
          </a:p>
          <a:p>
            <a:pPr lvl="1"/>
            <a:r>
              <a:rPr lang="en-US" dirty="0"/>
              <a:t>Second level (bullet 20pt)</a:t>
            </a:r>
          </a:p>
          <a:p>
            <a:pPr lvl="2"/>
            <a:r>
              <a:rPr lang="en-US" dirty="0"/>
              <a:t>Third level (bullet 20pt)</a:t>
            </a:r>
          </a:p>
          <a:p>
            <a:pPr lvl="3"/>
            <a:r>
              <a:rPr lang="en-US" dirty="0"/>
              <a:t>Fourth level (bullet 18pt)</a:t>
            </a:r>
          </a:p>
          <a:p>
            <a:pPr lvl="4"/>
            <a:r>
              <a:rPr lang="en-US" dirty="0"/>
              <a:t>Fifth level (bullet 18pt)</a:t>
            </a:r>
          </a:p>
          <a:p>
            <a:pPr lvl="5"/>
            <a:r>
              <a:rPr lang="en-US" dirty="0"/>
              <a:t>Sixth level (copy 16pt)</a:t>
            </a:r>
          </a:p>
          <a:p>
            <a:pPr lvl="6"/>
            <a:r>
              <a:rPr lang="en-US" dirty="0"/>
              <a:t>Seventh level (small copy 12pt)</a:t>
            </a:r>
          </a:p>
          <a:p>
            <a:pPr lvl="7"/>
            <a:r>
              <a:rPr lang="en-US" dirty="0"/>
              <a:t>EIGHT LEVEL (DESCRIPTOR 10PT)</a:t>
            </a:r>
          </a:p>
          <a:p>
            <a:pPr lvl="8"/>
            <a:r>
              <a:rPr lang="en-US" dirty="0"/>
              <a:t>Ninth level (footer 8pt)</a:t>
            </a:r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9624E0B2-760E-457A-8367-213CE89D65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US" dirty="0"/>
              <a:t>Copyright © 2025 Accenture. All rights reserved.</a:t>
            </a:r>
            <a:endParaRPr lang="en-GB" dirty="0"/>
          </a:p>
        </p:txBody>
      </p:sp>
      <p:sp>
        <p:nvSpPr>
          <p:cNvPr id="9" name="GTS_Purple" descr="Accenture Greater Than symbol in purple">
            <a:extLst>
              <a:ext uri="{FF2B5EF4-FFF2-40B4-BE49-F238E27FC236}">
                <a16:creationId xmlns:a16="http://schemas.microsoft.com/office/drawing/2014/main" id="{AE0355C2-058C-4310-9508-BCC0F498FBBE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380209" y="6483675"/>
            <a:ext cx="183202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A1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69DFD1-72F5-4590-A067-19F2501AAB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4746" y="6490025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5103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745" r:id="rId2"/>
    <p:sldLayoutId id="2147483747" r:id="rId3"/>
    <p:sldLayoutId id="2147483746" r:id="rId4"/>
    <p:sldLayoutId id="2147483741" r:id="rId5"/>
    <p:sldLayoutId id="2147483748" r:id="rId6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2600" b="0" kern="1200" spc="-1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Graphik" panose="020B0503030202060203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503030202060203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1113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503030202060203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0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8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 userDrawn="1">
          <p15:clr>
            <a:srgbClr val="C35EA4"/>
          </p15:clr>
        </p15:guide>
        <p15:guide id="2" orient="horz" pos="3976" userDrawn="1">
          <p15:clr>
            <a:srgbClr val="C35EA4"/>
          </p15:clr>
        </p15:guide>
        <p15:guide id="3" pos="240" userDrawn="1">
          <p15:clr>
            <a:srgbClr val="C35EA4"/>
          </p15:clr>
        </p15:guide>
        <p15:guide id="4" pos="7440" userDrawn="1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0B02378-3809-3553-76DA-67E9AC77214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9F56902-7A42-3195-5AB0-06F8004AA5F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5F6812-FBFF-FDD0-B24B-1EF59B9FF6E7}"/>
              </a:ext>
            </a:extLst>
          </p:cNvPr>
          <p:cNvSpPr txBox="1"/>
          <p:nvPr/>
        </p:nvSpPr>
        <p:spPr>
          <a:xfrm>
            <a:off x="345017" y="1601017"/>
            <a:ext cx="11351683" cy="4606736"/>
          </a:xfrm>
          <a:prstGeom prst="rect">
            <a:avLst/>
          </a:prstGeom>
          <a:noFill/>
        </p:spPr>
        <p:txBody>
          <a:bodyPr wrap="square" lIns="36000" tIns="36000" rIns="36000" bIns="36000" numCol="2" spcCol="144000" rtlCol="0">
            <a:noAutofit/>
          </a:bodyPr>
          <a:lstStyle/>
          <a:p>
            <a:pPr marL="171450" indent="-17145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pt-BR" sz="1200" b="1" noProof="0" dirty="0"/>
              <a:t>Liderança conjunta Itaú-Accenture. </a:t>
            </a:r>
            <a:r>
              <a:rPr lang="pt-BR" sz="1200" noProof="0" dirty="0"/>
              <a:t>Cada caso de uso contará com liderança compartilhada entre a Accenture e um </a:t>
            </a:r>
            <a:r>
              <a:rPr lang="pt-BR" sz="1200" noProof="0" dirty="0" err="1"/>
              <a:t>sponsor</a:t>
            </a:r>
            <a:r>
              <a:rPr lang="pt-BR" sz="1200" noProof="0" dirty="0"/>
              <a:t> executivo do banco (e.g., Gerente / Superintendente), responsável por priorização, decisões rápidas e remoção de impedimentos.</a:t>
            </a:r>
          </a:p>
          <a:p>
            <a:pPr marL="171450" indent="-17145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pt-BR" sz="1200" b="1" dirty="0"/>
              <a:t>Aceleração de valor, não redesenho arquitetural. </a:t>
            </a:r>
            <a:r>
              <a:rPr lang="pt-BR" sz="1200" dirty="0"/>
              <a:t>A iniciativa não tem como objetivo redesenhar ou redefinir a arquitetura tecnológica ou a stack do banco. As squads atuarão dentro da arquitetura, ferramentas e padrões existentes, podendo sugerir recomendações quando identificadas oportunidades relevantes.</a:t>
            </a:r>
          </a:p>
          <a:p>
            <a:pPr marL="171450" indent="-17145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pt-BR" sz="1200" b="1" dirty="0"/>
              <a:t>Foco em ambientes e sistemas já modernizados.</a:t>
            </a:r>
            <a:r>
              <a:rPr lang="pt-BR" sz="1200" dirty="0"/>
              <a:t> As squads atuarão exclusivamente em casos de uso cujos sistemas, dados e integrações estejam disponíveis e minimamente modernizados. A iniciativa não contempla atividades de modernização, refatoração ou saneamento estrutural de legados. </a:t>
            </a:r>
          </a:p>
          <a:p>
            <a:pPr marL="171450" indent="-17145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pt-BR" sz="1200" b="1" dirty="0"/>
              <a:t>Acesso antecipado a ambientes, dados e ferramentas. </a:t>
            </a:r>
            <a:r>
              <a:rPr lang="pt-BR" sz="1200" dirty="0"/>
              <a:t>A execução assume acessos liberados no setup a ambientes de desenvolvimento, dados, APIs, ferramentas de AI e observabilidade, evitando bloqueios durante a execução.</a:t>
            </a:r>
          </a:p>
          <a:p>
            <a:pPr marL="171450" indent="-17145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pt-BR" sz="1200" b="1" dirty="0"/>
              <a:t>Arquitetura de AI alinhada aos padrões do Itaú. </a:t>
            </a:r>
            <a:r>
              <a:rPr lang="pt-BR" sz="1200" dirty="0"/>
              <a:t>As soluções serão desenhadas conforme a arquitetura alvo, padrões tecnológicos e diretrizes de segurança do banco, evitando soluções paralelas ou não aderentes ao ecossistema corporativo.</a:t>
            </a:r>
          </a:p>
          <a:p>
            <a:pPr marL="171450" indent="-17145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pt-BR" sz="1200" b="1" dirty="0"/>
              <a:t>Visibilidade e alinhamento sobre iniciativas paralelas do Itaú. </a:t>
            </a:r>
            <a:r>
              <a:rPr lang="pt-BR" sz="1200" dirty="0"/>
              <a:t>A execução das squads pressupõe alinhamento quanto a projetos, iniciativas ou pilotos paralelos que possam ter sobreposição funcional, técnica ou de escopo com os casos de uso trabalhados. Cabe ao Itaú sinalizar tais iniciativas e promover as conexões necessárias para evitar duplicidades, conflitos de direcionamento ou retrabalho.</a:t>
            </a:r>
            <a:endParaRPr lang="pt-BR" sz="1200" b="1" dirty="0"/>
          </a:p>
          <a:p>
            <a:pPr marL="171450" indent="-17145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pt-BR" sz="1200" b="1" dirty="0"/>
              <a:t>Dependências e prazo de execução.</a:t>
            </a:r>
            <a:r>
              <a:rPr lang="pt-BR" sz="1200" dirty="0"/>
              <a:t> O cronograma considera o cumprimento dos </a:t>
            </a:r>
            <a:r>
              <a:rPr lang="pt-BR" sz="1200" dirty="0" err="1"/>
              <a:t>SLAs</a:t>
            </a:r>
            <a:r>
              <a:rPr lang="pt-BR" sz="1200" dirty="0"/>
              <a:t> de interação, fornecimento de informações e liberação de acessos. Impactos decorrentes do não cumprimento poderão gerar replanejamento ou necessidade de atividades adicionais.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9A22E6B-72E2-55BA-31D4-4FF4512DE153}"/>
              </a:ext>
            </a:extLst>
          </p:cNvPr>
          <p:cNvSpPr/>
          <p:nvPr/>
        </p:nvSpPr>
        <p:spPr>
          <a:xfrm>
            <a:off x="7917084" y="4525701"/>
            <a:ext cx="914400" cy="914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pt-BR" dirty="0" err="1"/>
          </a:p>
        </p:txBody>
      </p:sp>
    </p:spTree>
    <p:extLst>
      <p:ext uri="{BB962C8B-B14F-4D97-AF65-F5344CB8AC3E}">
        <p14:creationId xmlns:p14="http://schemas.microsoft.com/office/powerpoint/2010/main" val="668143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DAB4E39-E30E-FE93-5468-AC30FEF3C9C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6D22CC-C406-A8CC-9585-FDF8E7824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5200" y="6488234"/>
            <a:ext cx="4114800" cy="198318"/>
          </a:xfrm>
        </p:spPr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5573F8-AB97-C846-60CB-202117F90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4746" y="6490025"/>
            <a:ext cx="326254" cy="201168"/>
          </a:xfrm>
        </p:spPr>
        <p:txBody>
          <a:bodyPr/>
          <a:lstStyle/>
          <a:p>
            <a:fld id="{1F90F471-3972-4120-B8B3-0237DE626C35}" type="slidenum">
              <a:rPr lang="pt-BR" smtClean="0"/>
              <a:pPr/>
              <a:t>2</a:t>
            </a:fld>
            <a:endParaRPr lang="pt-BR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CE802C8-6229-F9CD-D8EB-539C5F891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6027607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Accenture Template">
  <a:themeElements>
    <a:clrScheme name="Accenture 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Graphik">
      <a:majorFont>
        <a:latin typeface="Graphik Semibold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custClrLst>
    <a:custClr name="Accent Purple 1">
      <a:srgbClr val="B455AA"/>
    </a:custClr>
    <a:custClr name="Accent Purple 2">
      <a:srgbClr val="A055F5"/>
    </a:custClr>
    <a:custClr name="Accent Purple 3">
      <a:srgbClr val="BE82FF"/>
    </a:custClr>
    <a:custClr name="Accent Purple 4">
      <a:srgbClr val="DCAFFF"/>
    </a:custClr>
    <a:custClr name="Accent Purple 5">
      <a:srgbClr val="E6DC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ue">
      <a:srgbClr val="0041F0"/>
    </a:custClr>
    <a:custClr name="Light Blue">
      <a:srgbClr val="00FFFF"/>
    </a:custClr>
    <a:custClr name="Green">
      <a:srgbClr val="64FF50"/>
    </a:custClr>
    <a:custClr name="Blue Green">
      <a:srgbClr val="05F0A5"/>
    </a:custClr>
    <a:custClr name="Red">
      <a:srgbClr val="FF3246"/>
    </a:custClr>
    <a:custClr name="Pink">
      <a:srgbClr val="FF50A0"/>
    </a:custClr>
    <a:custClr name="Orange">
      <a:srgbClr val="FF7800"/>
    </a:custClr>
    <a:custClr name="Yellow">
      <a:srgbClr val="FFEB32"/>
    </a:custClr>
    <a:custClr name="BLANK">
      <a:srgbClr val="FFFFFF"/>
    </a:custClr>
    <a:custClr name="BLANK">
      <a:srgbClr val="FFFFFF"/>
    </a:custClr>
  </a:custClrLst>
  <a:extLst>
    <a:ext uri="{05A4C25C-085E-4340-85A3-A5531E510DB2}">
      <thm15:themeFamily xmlns:thm15="http://schemas.microsoft.com/office/thememl/2012/main" name="IMP_Acc_PPT_Tmplt_Graphik_210225_Fixed_Accessible.potx" id="{80BF15C9-A5DA-472C-9F1E-82F4EBB43D59}" vid="{02DD174B-CE7A-418B-90DA-AC9D16AAE59C}"/>
    </a:ext>
  </a:extLst>
</a:theme>
</file>

<file path=ppt/theme/theme2.xml><?xml version="1.0" encoding="utf-8"?>
<a:theme xmlns:a="http://schemas.openxmlformats.org/drawingml/2006/main" name="Office Theme">
  <a:themeElements>
    <a:clrScheme name="Acc_Colors_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Acc_Fonts_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39EF807C2354943A31A31FB9E6B8A38" ma:contentTypeVersion="2" ma:contentTypeDescription="Create a new document." ma:contentTypeScope="" ma:versionID="f03a519f31e72ece704f842ab0e4ba72">
  <xsd:schema xmlns:xsd="http://www.w3.org/2001/XMLSchema" xmlns:xs="http://www.w3.org/2001/XMLSchema" xmlns:p="http://schemas.microsoft.com/office/2006/metadata/properties" xmlns:ns2="5d757215-fbc3-4533-822f-84ec73f97a40" targetNamespace="http://schemas.microsoft.com/office/2006/metadata/properties" ma:root="true" ma:fieldsID="1cb72d0557a9ded9ba0b46b2c3d18190" ns2:_="">
    <xsd:import namespace="5d757215-fbc3-4533-822f-84ec73f97a4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757215-fbc3-4533-822f-84ec73f97a4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FB95095-D3DE-4DE5-BB17-E1EF8BB262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d757215-fbc3-4533-822f-84ec73f97a4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9831B46-6CD1-40D2-9FB5-3E58559F90A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6BFFC05-B2F6-4CED-BE65-F75B1EB7AD7B}">
  <ds:schemaRefs>
    <ds:schemaRef ds:uri="http://purl.org/dc/dcmitype/"/>
    <ds:schemaRef ds:uri="http://purl.org/dc/terms/"/>
    <ds:schemaRef ds:uri="http://purl.org/dc/elements/1.1/"/>
    <ds:schemaRef ds:uri="http://schemas.microsoft.com/office/2006/metadata/properties"/>
    <ds:schemaRef ds:uri="http://schemas.microsoft.com/office/2006/documentManagement/types"/>
    <ds:schemaRef ds:uri="f09dec34-126f-4759-b06d-a920de720ce4"/>
    <ds:schemaRef ds:uri="http://schemas.openxmlformats.org/package/2006/metadata/core-properties"/>
    <ds:schemaRef ds:uri="http://schemas.microsoft.com/office/infopath/2007/PartnerControls"/>
    <ds:schemaRef ds:uri="17c09f85-56e7-4417-b5d2-7fa4154de313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Acc_PPT_Template_Graphik</Template>
  <TotalTime>68</TotalTime>
  <Words>323</Words>
  <Application>Microsoft Office PowerPoint</Application>
  <PresentationFormat>Widescreen</PresentationFormat>
  <Paragraphs>11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Graphik</vt:lpstr>
      <vt:lpstr>Graphik Semibold</vt:lpstr>
      <vt:lpstr>Accenture Template</vt:lpstr>
      <vt:lpstr>think-cell Slide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Accenture PowerPoint Template 16x9 Graphik</dc:subject>
  <dc:creator>Graciotti, Brenno</dc:creator>
  <cp:lastModifiedBy>Graciotti, Brenno</cp:lastModifiedBy>
  <cp:revision>5</cp:revision>
  <cp:lastPrinted>2020-11-17T04:05:48Z</cp:lastPrinted>
  <dcterms:created xsi:type="dcterms:W3CDTF">2023-07-17T21:32:38Z</dcterms:created>
  <dcterms:modified xsi:type="dcterms:W3CDTF">2026-01-18T14:07:00Z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0x010100339EF807C2354943A31A31FB9E6B8A38</vt:lpwstr>
  </property>
</Properties>
</file>