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147482658" r:id="rId5"/>
    <p:sldId id="2147482657" r:id="rId6"/>
  </p:sldIdLst>
  <p:sldSz cx="12192000" cy="6858000"/>
  <p:notesSz cx="6858000" cy="9144000"/>
  <p:custDataLst>
    <p:tags r:id="rId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23C"/>
    <a:srgbClr val="FFFFFF"/>
    <a:srgbClr val="00EB81"/>
    <a:srgbClr val="E6DCFF"/>
    <a:srgbClr val="0041F0"/>
    <a:srgbClr val="DCAFFF"/>
    <a:srgbClr val="FF50A0"/>
    <a:srgbClr val="FF3246"/>
    <a:srgbClr val="00FFFF"/>
    <a:srgbClr val="D4D4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021F68-0494-496A-BD4B-43C0DD56B880}" v="32" dt="2025-10-31T21:53:34.360"/>
    <p1510:client id="{F8B6DB93-B16F-4284-82B1-E93DAFE73FFA}" v="1" dt="2025-10-31T23:27:17.724"/>
  </p1510:revLst>
</p1510:revInfo>
</file>

<file path=ppt/tableStyles.xml><?xml version="1.0" encoding="utf-8"?>
<a:tblStyleLst xmlns:a="http://schemas.openxmlformats.org/drawingml/2006/main" def="{A0BC3CC4-8867-4C89-9D3F-A6A6B9ED4035}">
  <a:tblStyle styleId="{A0BC3CC4-8867-4C89-9D3F-A6A6B9ED4035}" styleName="Acc_Table_1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rgbClr val="FFFFFF"/>
              </a:solidFill>
            </a:ln>
          </a:left>
          <a:right>
            <a:ln w="0" cmpd="sng">
              <a:solidFill>
                <a:srgbClr val="FFFFFF"/>
              </a:solidFill>
            </a:ln>
          </a:right>
          <a:top>
            <a:ln w="0" cmpd="sng">
              <a:solidFill>
                <a:srgbClr val="FFFFFF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6350" cmpd="sng">
              <a:solidFill>
                <a:srgbClr val="D9D9D9"/>
              </a:solidFill>
            </a:ln>
          </a:insideH>
          <a:insideV>
            <a:ln w="6350" cmpd="sng">
              <a:solidFill>
                <a:srgbClr val="D9D9D9"/>
              </a:solidFill>
            </a:ln>
          </a:insideV>
        </a:tcBdr>
        <a:fill>
          <a:noFill/>
        </a:fill>
      </a:tcStyle>
    </a:wholeTbl>
    <a:band1H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H>
    <a:band1V>
      <a:tcTxStyle>
        <a:fontRef idx="minor">
          <a:prstClr val="black"/>
        </a:fontRef>
        <a:schemeClr val="dk1"/>
      </a:tcTxStyle>
      <a:tcStyle>
        <a:tcBdr/>
        <a:fill>
          <a:solidFill>
            <a:srgbClr val="F2F2F2"/>
          </a:solidFill>
        </a:fill>
      </a:tcStyle>
    </a:band1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/>
      </a:tcStyle>
    </a:lastRow>
    <a:firstRow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4924" autoAdjust="0"/>
  </p:normalViewPr>
  <p:slideViewPr>
    <p:cSldViewPr snapToGrid="0" showGuides="1">
      <p:cViewPr varScale="1">
        <p:scale>
          <a:sx n="70" d="100"/>
          <a:sy n="70" d="100"/>
        </p:scale>
        <p:origin x="1157" y="2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8141"/>
    </p:cViewPr>
  </p:sorterViewPr>
  <p:notesViewPr>
    <p:cSldViewPr snapToGrid="0">
      <p:cViewPr varScale="1">
        <p:scale>
          <a:sx n="81" d="100"/>
          <a:sy n="81" d="100"/>
        </p:scale>
        <p:origin x="3516" y="5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027613" y="0"/>
            <a:ext cx="1828800" cy="2123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1DE7078C-3525-4C9B-BF62-C9FD13B9A875}" type="datetimeFigureOut">
              <a:rPr lang="en-US" smtClean="0"/>
              <a:pPr/>
              <a:t>3/14/2026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0205" y="274505"/>
            <a:ext cx="4734172" cy="266297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0206" y="2999605"/>
            <a:ext cx="6751750" cy="586989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-1" y="8923817"/>
            <a:ext cx="6217919" cy="2123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99213" y="8917749"/>
            <a:ext cx="457200" cy="2184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fld id="{436E8A87-18DA-4CCE-A8C2-BDBC489258C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914400" rtl="0" eaLnBrk="1" latinLnBrk="0" hangingPunct="1">
      <a:buFont typeface="Graphik" panose="020B0604020202020204" pitchFamily="34" charset="0"/>
      <a:buChar char="•"/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230188" indent="-112713" algn="l">
      <a:buFont typeface="Graphik" panose="020B0604020202020204" pitchFamily="34" charset="0"/>
      <a:buChar char="•"/>
      <a:defRPr sz="1000">
        <a:latin typeface="+mn-lt"/>
      </a:defRPr>
    </a:lvl2pPr>
    <a:lvl3pPr marL="342900" indent="-112713" algn="l">
      <a:buFont typeface="Graphik" panose="020B0604020202020204" pitchFamily="34" charset="0"/>
      <a:buChar char="•"/>
      <a:defRPr sz="900">
        <a:latin typeface="+mn-lt"/>
      </a:defRPr>
    </a:lvl3pPr>
    <a:lvl4pPr marL="460375" indent="-112713" algn="l">
      <a:buFont typeface="Graphik" panose="020B0604020202020204" pitchFamily="34" charset="0"/>
      <a:buChar char="•"/>
      <a:defRPr sz="800">
        <a:latin typeface="+mn-lt"/>
      </a:defRPr>
    </a:lvl4pPr>
    <a:lvl5pPr marL="571500" indent="-112713" algn="l">
      <a:buFont typeface="Graphik" panose="020B0604020202020204" pitchFamily="34" charset="0"/>
      <a:buChar char="•"/>
      <a:defRPr sz="800">
        <a:latin typeface="+mn-lt"/>
      </a:defRPr>
    </a:lvl5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7FF053D-F28D-430E-0239-CE8ED65664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839719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FF053D-F28D-430E-0239-CE8ED65664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C06DB281-EA53-C29C-C70A-13D0082F3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CC1B7B8-2FCE-B823-1046-0985C007FC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0FA015-B515-8D42-24DE-DB142CE72A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2450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033133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791592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2FA907-42B9-6FA1-C4DF-A540BFE35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18C3AE-678A-48F5-EE59-84E1AE2DC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691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ng Headline-subtitle Invert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04200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308927"/>
            <a:ext cx="11430000" cy="3240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AFF1CEE3-E058-7E9F-C296-DD3BD5D25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50247"/>
            <a:ext cx="11430000" cy="432000"/>
          </a:xfrm>
        </p:spPr>
        <p:txBody>
          <a:bodyPr vert="horz"/>
          <a:lstStyle/>
          <a:p>
            <a:r>
              <a:rPr lang="pt-BR" dirty="0"/>
              <a:t>Click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edit</a:t>
            </a:r>
            <a:r>
              <a:rPr lang="pt-BR" dirty="0"/>
              <a:t> Master </a:t>
            </a:r>
            <a:r>
              <a:rPr lang="pt-BR" dirty="0" err="1"/>
              <a:t>title</a:t>
            </a:r>
            <a:r>
              <a:rPr lang="pt-BR" dirty="0"/>
              <a:t> </a:t>
            </a:r>
            <a:r>
              <a:rPr lang="pt-BR" dirty="0" err="1"/>
              <a:t>style</a:t>
            </a:r>
            <a:endParaRPr lang="pt-BR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F9C570-8ADD-BDD4-0CD9-C5A9C02D1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963760-62E3-11BA-AEE9-E17FF19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948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Headline-subtitle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899A5850-98F6-A860-8A69-7A03A26B94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2576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9A5850-98F6-A860-8A69-7A03A26B94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58F9796-694A-BEBA-A26C-1BC9E5ABEF4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1000" y="1147848"/>
            <a:ext cx="11430000" cy="564388"/>
          </a:xfr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99FC1387-F76A-5CD9-1471-AB709200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432000"/>
          </a:xfrm>
        </p:spPr>
        <p:txBody>
          <a:bodyPr vert="horz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A9038AC-B619-5EB1-8D41-D4C38DBF5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B4469A7-C007-9466-EA28-F04CC2C2F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825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2" userDrawn="1">
          <p15:clr>
            <a:srgbClr val="547EB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D2B6B66-FB75-271B-FA63-2A6910A3EC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38762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3" imgH="473" progId="TCLayout.ActiveDocument.1">
                  <p:embed/>
                </p:oleObj>
              </mc:Choice>
              <mc:Fallback>
                <p:oleObj name="think-cell Slide" r:id="rId3" imgW="473" imgH="47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D2B6B66-FB75-271B-FA63-2A6910A3EC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3BC61A9-92B1-2D35-4680-3DE1FE9AB59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3B625-43D1-998E-66A4-B8CE5FAFEB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55426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B5853B-165F-2E6D-BF8F-A649DA55FC9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C20E22-E377-0D9F-CC0C-578DE8194C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942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4499A4D-E1EC-608F-9006-A468770F686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555295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3" progId="TCLayout.ActiveDocument.1">
                  <p:embed/>
                </p:oleObj>
              </mc:Choice>
              <mc:Fallback>
                <p:oleObj name="think-cell Slide" r:id="rId9" imgW="473" imgH="473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4499A4D-E1EC-608F-9006-A468770F686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dirty="0"/>
              <a:t>Place headline here (32pt, min 28pt)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First level (copy 20pt)</a:t>
            </a:r>
          </a:p>
          <a:p>
            <a:pPr lvl="1"/>
            <a:r>
              <a:rPr lang="en-US" dirty="0"/>
              <a:t>Second level (bullet 20pt)</a:t>
            </a:r>
          </a:p>
          <a:p>
            <a:pPr lvl="2"/>
            <a:r>
              <a:rPr lang="en-US" dirty="0"/>
              <a:t>Third level (bullet 20pt)</a:t>
            </a:r>
          </a:p>
          <a:p>
            <a:pPr lvl="3"/>
            <a:r>
              <a:rPr lang="en-US" dirty="0"/>
              <a:t>Fourth level (bullet 18pt)</a:t>
            </a:r>
          </a:p>
          <a:p>
            <a:pPr lvl="4"/>
            <a:r>
              <a:rPr lang="en-US" dirty="0"/>
              <a:t>Fifth level (bullet 18pt)</a:t>
            </a:r>
          </a:p>
          <a:p>
            <a:pPr lvl="5"/>
            <a:r>
              <a:rPr lang="en-US" dirty="0"/>
              <a:t>Sixth level (copy 16pt)</a:t>
            </a:r>
          </a:p>
          <a:p>
            <a:pPr lvl="6"/>
            <a:r>
              <a:rPr lang="en-US" dirty="0"/>
              <a:t>Seventh level (small copy 12pt)</a:t>
            </a:r>
          </a:p>
          <a:p>
            <a:pPr lvl="7"/>
            <a:r>
              <a:rPr lang="en-US" dirty="0"/>
              <a:t>EIGHT LEVEL (DESCRIPTOR 10PT)</a:t>
            </a:r>
          </a:p>
          <a:p>
            <a:pPr lvl="8"/>
            <a:r>
              <a:rPr lang="en-US" dirty="0"/>
              <a:t>Ninth level (footer 8pt)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algn="r" defTabSz="228600">
              <a:spcAft>
                <a:spcPts val="1200"/>
              </a:spcAft>
              <a:defRPr/>
            </a:pPr>
            <a:r>
              <a:rPr lang="en-US" dirty="0"/>
              <a:t>Copyright © 2025 Accenture. All rights reserved.</a:t>
            </a:r>
            <a:endParaRPr lang="en-GB" dirty="0"/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1F90F471-3972-4120-B8B3-0237DE626C3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103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745" r:id="rId2"/>
    <p:sldLayoutId id="2147483747" r:id="rId3"/>
    <p:sldLayoutId id="2147483746" r:id="rId4"/>
    <p:sldLayoutId id="2147483741" r:id="rId5"/>
    <p:sldLayoutId id="2147483748" r:id="rId6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6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C35EA4"/>
          </p15:clr>
        </p15:guide>
        <p15:guide id="2" orient="horz" pos="3976" userDrawn="1">
          <p15:clr>
            <a:srgbClr val="C35EA4"/>
          </p15:clr>
        </p15:guide>
        <p15:guide id="3" pos="240" userDrawn="1">
          <p15:clr>
            <a:srgbClr val="C35EA4"/>
          </p15:clr>
        </p15:guide>
        <p15:guide id="4" pos="74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D1E98B0-7510-87D5-CCB6-701AB65D0F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en-GB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E6C534-DED3-A4E8-8CB3-7C50A41B98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F90F471-3972-4120-B8B3-0237DE626C35}" type="slidenum">
              <a:rPr lang="en-US" smtClean="0"/>
              <a:pPr/>
              <a:t>1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B5EC8AA-8682-C69B-1309-B8492133F6EB}"/>
              </a:ext>
            </a:extLst>
          </p:cNvPr>
          <p:cNvGrpSpPr/>
          <p:nvPr/>
        </p:nvGrpSpPr>
        <p:grpSpPr>
          <a:xfrm>
            <a:off x="381000" y="1591298"/>
            <a:ext cx="11516772" cy="4573358"/>
            <a:chOff x="381000" y="1591298"/>
            <a:chExt cx="11516772" cy="457335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69708755-FC82-9B6D-38F7-6ABB03D0A580}"/>
                </a:ext>
              </a:extLst>
            </p:cNvPr>
            <p:cNvGrpSpPr/>
            <p:nvPr/>
          </p:nvGrpSpPr>
          <p:grpSpPr>
            <a:xfrm>
              <a:off x="2322261" y="1867498"/>
              <a:ext cx="9575511" cy="491339"/>
              <a:chOff x="444789" y="-330997"/>
              <a:chExt cx="9575511" cy="491339"/>
            </a:xfrm>
          </p:grpSpPr>
          <p:sp>
            <p:nvSpPr>
              <p:cNvPr id="39" name="Arrow: Chevron 38">
                <a:extLst>
                  <a:ext uri="{FF2B5EF4-FFF2-40B4-BE49-F238E27FC236}">
                    <a16:creationId xmlns:a16="http://schemas.microsoft.com/office/drawing/2014/main" id="{A2AAB93F-E4E9-9EF4-5FF8-BA757FF3EE03}"/>
                  </a:ext>
                </a:extLst>
              </p:cNvPr>
              <p:cNvSpPr/>
              <p:nvPr/>
            </p:nvSpPr>
            <p:spPr>
              <a:xfrm>
                <a:off x="3611409" y="-330997"/>
                <a:ext cx="3242271" cy="491339"/>
              </a:xfrm>
              <a:prstGeom prst="chevron">
                <a:avLst>
                  <a:gd name="adj" fmla="val 28868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pt-BR" sz="1200">
                    <a:latin typeface="+mj-lt"/>
                  </a:rPr>
                  <a:t>Síntese das Oportunidades</a:t>
                </a:r>
              </a:p>
            </p:txBody>
          </p:sp>
          <p:sp>
            <p:nvSpPr>
              <p:cNvPr id="40" name="Arrow: Chevron 39">
                <a:extLst>
                  <a:ext uri="{FF2B5EF4-FFF2-40B4-BE49-F238E27FC236}">
                    <a16:creationId xmlns:a16="http://schemas.microsoft.com/office/drawing/2014/main" id="{E1571AE2-C5D3-E1EC-DA38-BD3C84223377}"/>
                  </a:ext>
                </a:extLst>
              </p:cNvPr>
              <p:cNvSpPr/>
              <p:nvPr/>
            </p:nvSpPr>
            <p:spPr>
              <a:xfrm>
                <a:off x="6778029" y="-330997"/>
                <a:ext cx="3242271" cy="491339"/>
              </a:xfrm>
              <a:prstGeom prst="chevron">
                <a:avLst>
                  <a:gd name="adj" fmla="val 28868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pt-BR" sz="1200">
                    <a:latin typeface="+mj-lt"/>
                  </a:rPr>
                  <a:t>Priorização e Recomendações</a:t>
                </a:r>
              </a:p>
            </p:txBody>
          </p:sp>
          <p:sp>
            <p:nvSpPr>
              <p:cNvPr id="41" name="Arrow: Chevron 40">
                <a:extLst>
                  <a:ext uri="{FF2B5EF4-FFF2-40B4-BE49-F238E27FC236}">
                    <a16:creationId xmlns:a16="http://schemas.microsoft.com/office/drawing/2014/main" id="{95A1B850-D72B-3D16-DF7A-0382D2520F4E}"/>
                  </a:ext>
                </a:extLst>
              </p:cNvPr>
              <p:cNvSpPr/>
              <p:nvPr/>
            </p:nvSpPr>
            <p:spPr>
              <a:xfrm>
                <a:off x="444789" y="-330997"/>
                <a:ext cx="3242271" cy="491339"/>
              </a:xfrm>
              <a:prstGeom prst="chevron">
                <a:avLst>
                  <a:gd name="adj" fmla="val 28868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0" bIns="91440" rtlCol="0" anchor="ctr"/>
              <a:lstStyle/>
              <a:p>
                <a:pPr algn="ctr"/>
                <a:r>
                  <a:rPr lang="pt-BR" sz="1200">
                    <a:latin typeface="+mj-lt"/>
                  </a:rPr>
                  <a:t>Avaliação Externa &amp; Interna</a:t>
                </a: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5468623-C5F8-6F53-0B23-610F5B2427A3}"/>
                </a:ext>
              </a:extLst>
            </p:cNvPr>
            <p:cNvSpPr txBox="1"/>
            <p:nvPr/>
          </p:nvSpPr>
          <p:spPr>
            <a:xfrm>
              <a:off x="381000" y="1885796"/>
              <a:ext cx="720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228600">
                <a:spcAft>
                  <a:spcPts val="1200"/>
                </a:spcAft>
              </a:pPr>
              <a:r>
                <a:rPr lang="pt-BR" sz="1100" noProof="0">
                  <a:latin typeface="+mj-lt"/>
                </a:rPr>
                <a:t>Macro Etapas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0FCDDFB-887D-FDE7-5D99-04A81B401535}"/>
                </a:ext>
              </a:extLst>
            </p:cNvPr>
            <p:cNvSpPr/>
            <p:nvPr/>
          </p:nvSpPr>
          <p:spPr>
            <a:xfrm>
              <a:off x="1255193" y="2499942"/>
              <a:ext cx="1080000" cy="252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>
              <a:noAutofit/>
            </a:bodyPr>
            <a:lstStyle/>
            <a:p>
              <a:pPr marR="0" lvl="0" algn="l" defTabSz="914400" eaLnBrk="1" fontAlgn="auto" latinLnBrk="0" hangingPunct="1">
                <a:lnSpc>
                  <a:spcPct val="100000"/>
                </a:lnSpc>
                <a:spcAft>
                  <a:spcPts val="600"/>
                </a:spcAft>
                <a:buSzTx/>
                <a:tabLst/>
                <a:defRPr/>
              </a:pPr>
              <a:r>
                <a:rPr kumimoji="0" lang="pt-BR" sz="900" b="1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Graphik" panose="020B0503030202060203" pitchFamily="34" charset="0"/>
                  <a:ea typeface="+mn-ea"/>
                  <a:cs typeface="+mn-cs"/>
                </a:rPr>
                <a:t>Solicitar dados </a:t>
              </a:r>
              <a:r>
                <a:rPr kumimoji="0" lang="pt-BR" sz="90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Graphik" panose="020B0503030202060203" pitchFamily="34" charset="0"/>
                  <a:ea typeface="+mn-ea"/>
                  <a:cs typeface="+mn-cs"/>
                </a:rPr>
                <a:t>organizacionais, financeiros e operacionais</a:t>
              </a:r>
            </a:p>
            <a:p>
              <a:pPr marR="0" lvl="0" algn="l" defTabSz="914400" eaLnBrk="1" fontAlgn="auto" latinLnBrk="0" hangingPunct="1">
                <a:lnSpc>
                  <a:spcPct val="100000"/>
                </a:lnSpc>
                <a:spcAft>
                  <a:spcPts val="600"/>
                </a:spcAft>
                <a:buSzTx/>
                <a:tabLst/>
                <a:defRPr/>
              </a:pPr>
              <a:r>
                <a:rPr kumimoji="0" lang="pt-BR" sz="90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Graphik" panose="020B0503030202060203" pitchFamily="34" charset="0"/>
                  <a:ea typeface="+mn-ea"/>
                  <a:cs typeface="+mn-cs"/>
                </a:rPr>
                <a:t>Realizar </a:t>
              </a:r>
              <a:r>
                <a:rPr kumimoji="0" lang="pt-BR" sz="900" b="1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Graphik" panose="020B0503030202060203" pitchFamily="34" charset="0"/>
                  <a:ea typeface="+mn-ea"/>
                  <a:cs typeface="+mn-cs"/>
                </a:rPr>
                <a:t>entrevistas iniciais </a:t>
              </a:r>
              <a:r>
                <a:rPr kumimoji="0" lang="pt-BR" sz="90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Graphik" panose="020B0503030202060203" pitchFamily="34" charset="0"/>
                  <a:ea typeface="+mn-ea"/>
                  <a:cs typeface="+mn-cs"/>
                </a:rPr>
                <a:t>com executivos</a:t>
              </a:r>
            </a:p>
            <a:p>
              <a:pPr marR="0" lvl="0" algn="l" defTabSz="914400" eaLnBrk="1" fontAlgn="auto" latinLnBrk="0" hangingPunct="1">
                <a:lnSpc>
                  <a:spcPct val="100000"/>
                </a:lnSpc>
                <a:spcAft>
                  <a:spcPts val="600"/>
                </a:spcAft>
                <a:buSzTx/>
                <a:tabLst/>
                <a:defRPr/>
              </a:pPr>
              <a:r>
                <a:rPr lang="pt-BR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" panose="020B0503030202060203" pitchFamily="34" charset="0"/>
                </a:rPr>
                <a:t>Definir </a:t>
              </a:r>
              <a:r>
                <a:rPr kumimoji="0" lang="pt-BR" sz="90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Graphik" panose="020B0503030202060203" pitchFamily="34" charset="0"/>
                  <a:ea typeface="+mn-ea"/>
                  <a:cs typeface="+mn-cs"/>
                </a:rPr>
                <a:t>os principais </a:t>
              </a:r>
              <a:r>
                <a:rPr kumimoji="0" lang="pt-BR" sz="900" b="1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Graphik" panose="020B0503030202060203" pitchFamily="34" charset="0"/>
                  <a:ea typeface="+mn-ea"/>
                  <a:cs typeface="+mn-cs"/>
                </a:rPr>
                <a:t>pontos focais </a:t>
              </a:r>
              <a:r>
                <a:rPr kumimoji="0" lang="pt-BR" sz="900" i="0" u="none" strike="noStrike" kern="1200" cap="none" spc="0" normalizeH="0" baseline="0" noProof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Graphik" panose="020B0503030202060203" pitchFamily="34" charset="0"/>
                  <a:ea typeface="+mn-ea"/>
                  <a:cs typeface="+mn-cs"/>
                </a:rPr>
                <a:t>por área</a:t>
              </a:r>
            </a:p>
            <a:p>
              <a:pPr marR="0" lvl="0" algn="l" defTabSz="914400" eaLnBrk="1" fontAlgn="auto" latinLnBrk="0" hangingPunct="1">
                <a:lnSpc>
                  <a:spcPct val="100000"/>
                </a:lnSpc>
                <a:spcAft>
                  <a:spcPts val="600"/>
                </a:spcAft>
                <a:buSzTx/>
                <a:tabLst/>
                <a:defRPr/>
              </a:pPr>
              <a:r>
                <a:rPr lang="pt-BR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" panose="020B0503030202060203" pitchFamily="34" charset="0"/>
                </a:rPr>
                <a:t>Início das </a:t>
              </a:r>
              <a:r>
                <a:rPr lang="pt-BR" sz="900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" panose="020B0503030202060203" pitchFamily="34" charset="0"/>
                </a:rPr>
                <a:t>frentes</a:t>
              </a:r>
              <a:r>
                <a:rPr lang="pt-BR" sz="900">
                  <a:solidFill>
                    <a:schemeClr val="tx1">
                      <a:lumMod val="75000"/>
                      <a:lumOff val="25000"/>
                    </a:schemeClr>
                  </a:solidFill>
                  <a:latin typeface="Graphik" panose="020B0503030202060203" pitchFamily="34" charset="0"/>
                </a:rPr>
                <a:t> de trabalho</a:t>
              </a:r>
              <a:endParaRPr kumimoji="0" lang="pt-BR" sz="90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8CB1A67-0353-31C2-C4A0-5C5302E2BB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46339" y="1689843"/>
              <a:ext cx="9297151" cy="0"/>
            </a:xfrm>
            <a:prstGeom prst="line">
              <a:avLst/>
            </a:prstGeom>
            <a:noFill/>
            <a:ln w="6350" cap="flat" cmpd="sng" algn="ctr">
              <a:solidFill>
                <a:schemeClr val="tx2"/>
              </a:solidFill>
              <a:prstDash val="dash"/>
              <a:miter lim="800000"/>
              <a:headEnd type="oval" w="med" len="med"/>
              <a:tailEnd type="oval" w="med" len="med"/>
            </a:ln>
            <a:effectLst/>
          </p:spPr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DC14A2C-E63F-9899-8983-5E9308C66023}"/>
                </a:ext>
              </a:extLst>
            </p:cNvPr>
            <p:cNvSpPr txBox="1"/>
            <p:nvPr>
              <p:custDataLst>
                <p:tags r:id="rId1"/>
              </p:custDataLst>
            </p:nvPr>
          </p:nvSpPr>
          <p:spPr>
            <a:xfrm>
              <a:off x="6553451" y="1591298"/>
              <a:ext cx="882927" cy="197091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1000" b="1" kern="0">
                  <a:latin typeface="Graphik"/>
                  <a:ea typeface="+mj-ea"/>
                  <a:cs typeface="+mj-cs"/>
                  <a:sym typeface="Calibri"/>
                </a:rPr>
                <a:t>7</a:t>
              </a:r>
              <a:r>
                <a:rPr kumimoji="0" lang="pt-BR" sz="1000" b="1" i="0" u="none" strike="noStrike" kern="0" cap="none" spc="0" normalizeH="0" baseline="0" noProof="0">
                  <a:ln>
                    <a:noFill/>
                  </a:ln>
                  <a:effectLst/>
                  <a:uLnTx/>
                  <a:uFillTx/>
                  <a:latin typeface="Graphik"/>
                  <a:ea typeface="+mj-ea"/>
                  <a:cs typeface="+mj-cs"/>
                  <a:sym typeface="Calibri"/>
                </a:rPr>
                <a:t> semanas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9B0924A-2D44-9A8F-6431-83AF68AD7812}"/>
                </a:ext>
              </a:extLst>
            </p:cNvPr>
            <p:cNvSpPr txBox="1"/>
            <p:nvPr/>
          </p:nvSpPr>
          <p:spPr>
            <a:xfrm>
              <a:off x="381000" y="1592692"/>
              <a:ext cx="720000" cy="16927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228600">
                <a:spcAft>
                  <a:spcPts val="1200"/>
                </a:spcAft>
              </a:pPr>
              <a:r>
                <a:rPr lang="pt-BR" sz="1100" noProof="0">
                  <a:latin typeface="+mj-lt"/>
                </a:rPr>
                <a:t>Duração</a:t>
              </a:r>
            </a:p>
          </p:txBody>
        </p:sp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F34B7F70-8013-68FD-C3A0-C01817E3FC9C}"/>
                </a:ext>
              </a:extLst>
            </p:cNvPr>
            <p:cNvSpPr/>
            <p:nvPr/>
          </p:nvSpPr>
          <p:spPr>
            <a:xfrm>
              <a:off x="1255194" y="1867498"/>
              <a:ext cx="1152000" cy="491339"/>
            </a:xfrm>
            <a:prstGeom prst="homePlate">
              <a:avLst>
                <a:gd name="adj" fmla="val 28868"/>
              </a:avLst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 bIns="91440" rtlCol="0" anchor="ctr"/>
            <a:lstStyle/>
            <a:p>
              <a:pPr algn="ctr"/>
              <a:r>
                <a:rPr lang="pt-BR" sz="1100">
                  <a:latin typeface="+mj-lt"/>
                </a:rPr>
                <a:t>Mobilização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C1F49FA-BB41-2654-C7AE-7B43E826590F}"/>
                </a:ext>
              </a:extLst>
            </p:cNvPr>
            <p:cNvSpPr txBox="1"/>
            <p:nvPr/>
          </p:nvSpPr>
          <p:spPr>
            <a:xfrm>
              <a:off x="381000" y="2499942"/>
              <a:ext cx="756000" cy="16927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228600">
                <a:spcAft>
                  <a:spcPts val="1200"/>
                </a:spcAft>
              </a:pPr>
              <a:r>
                <a:rPr lang="pt-BR" sz="1100" noProof="0">
                  <a:latin typeface="+mj-lt"/>
                </a:rPr>
                <a:t>Atividades</a:t>
              </a: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EDE38B1-9B58-514B-C709-C9A0FB8EC3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31806" y="1689843"/>
              <a:ext cx="1108227" cy="0"/>
            </a:xfrm>
            <a:prstGeom prst="line">
              <a:avLst/>
            </a:prstGeom>
            <a:noFill/>
            <a:ln w="6350" cap="flat" cmpd="sng" algn="ctr">
              <a:solidFill>
                <a:schemeClr val="tx2"/>
              </a:solidFill>
              <a:prstDash val="dash"/>
              <a:miter lim="800000"/>
              <a:headEnd type="oval" w="med" len="med"/>
              <a:tailEnd type="oval" w="med" len="med"/>
            </a:ln>
            <a:effectLst/>
          </p:spPr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F81EA1BA-91F2-7699-9E58-CD882C74A430}"/>
                </a:ext>
              </a:extLst>
            </p:cNvPr>
            <p:cNvSpPr txBox="1"/>
            <p:nvPr>
              <p:custDataLst>
                <p:tags r:id="rId2"/>
              </p:custDataLst>
            </p:nvPr>
          </p:nvSpPr>
          <p:spPr>
            <a:xfrm>
              <a:off x="1344456" y="1591298"/>
              <a:ext cx="882927" cy="197091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wrap="square" lIns="0" tIns="0" rIns="0" bIns="0" rtlCol="0" anchor="ctr">
              <a:noAutofit/>
            </a:bodyPr>
            <a:lstStyle/>
            <a:p>
              <a:pPr marL="0" marR="0" lvl="0" indent="0" algn="ctr" defTabSz="91440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BR" sz="1000" b="1" kern="0">
                  <a:latin typeface="Graphik"/>
                  <a:ea typeface="+mj-ea"/>
                  <a:cs typeface="+mj-cs"/>
                  <a:sym typeface="Calibri"/>
                </a:rPr>
                <a:t>1~2</a:t>
              </a:r>
              <a:r>
                <a:rPr kumimoji="0" lang="pt-BR" sz="1000" b="1" i="0" u="none" strike="noStrike" kern="0" cap="none" spc="0" normalizeH="0" noProof="0">
                  <a:ln>
                    <a:noFill/>
                  </a:ln>
                  <a:effectLst/>
                  <a:uLnTx/>
                  <a:uFillTx/>
                  <a:latin typeface="Graphik"/>
                  <a:ea typeface="+mj-ea"/>
                  <a:cs typeface="+mj-cs"/>
                  <a:sym typeface="Calibri"/>
                </a:rPr>
                <a:t> semanas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325B4C6-22D9-A20D-8939-1E0DAACC4966}"/>
                </a:ext>
              </a:extLst>
            </p:cNvPr>
            <p:cNvSpPr txBox="1"/>
            <p:nvPr/>
          </p:nvSpPr>
          <p:spPr>
            <a:xfrm>
              <a:off x="381000" y="5768656"/>
              <a:ext cx="864000" cy="33855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defTabSz="228600">
                <a:spcAft>
                  <a:spcPts val="1200"/>
                </a:spcAft>
              </a:pPr>
              <a:r>
                <a:rPr lang="pt-BR" sz="1100" noProof="0">
                  <a:latin typeface="+mj-lt"/>
                </a:rPr>
                <a:t>Entregáveis do projeto</a:t>
              </a: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6E68E35-0606-251D-9EB3-0B63401FBE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1000" y="5688963"/>
              <a:ext cx="11430000" cy="0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422185C3-A8D8-54A0-E264-4C8821130DFB}"/>
                </a:ext>
              </a:extLst>
            </p:cNvPr>
            <p:cNvSpPr/>
            <p:nvPr/>
          </p:nvSpPr>
          <p:spPr>
            <a:xfrm>
              <a:off x="5603417" y="5768656"/>
              <a:ext cx="3052084" cy="396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marL="108000" indent="-108000">
                <a:spcAft>
                  <a:spcPts val="300"/>
                </a:spcAft>
                <a:buFont typeface="Arial" panose="020B0604020202020204" pitchFamily="34" charset="0"/>
                <a:buChar char="•"/>
                <a:defRPr/>
              </a:pPr>
              <a:r>
                <a:rPr kumimoji="0" lang="pt-BR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raphik Medium" panose="020B0603030202060203" pitchFamily="34" charset="0"/>
                  <a:cs typeface="Arial" panose="020B0604020202020204" pitchFamily="34" charset="0"/>
                </a:rPr>
                <a:t>Mapa integrado de oportunidades qualificadas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FF424B-F2CD-C6E1-EF8B-57AE3646D62D}"/>
                </a:ext>
              </a:extLst>
            </p:cNvPr>
            <p:cNvSpPr/>
            <p:nvPr/>
          </p:nvSpPr>
          <p:spPr>
            <a:xfrm>
              <a:off x="8743036" y="5768656"/>
              <a:ext cx="3154736" cy="396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marL="108000" marR="0" lvl="0" indent="-108000" algn="l" defTabSz="914400" eaLnBrk="1" fontAlgn="auto" latinLnBrk="0" hangingPunct="1">
                <a:lnSpc>
                  <a:spcPct val="100000"/>
                </a:lnSpc>
                <a:spcAft>
                  <a:spcPts val="300"/>
                </a:spcAft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pt-BR" sz="900">
                  <a:solidFill>
                    <a:schemeClr val="tx1"/>
                  </a:solidFill>
                  <a:latin typeface="Graphik Medium" panose="020B0603030202060203" pitchFamily="34" charset="0"/>
                </a:rPr>
                <a:t>Portfólio de oportunidades priorizadas</a:t>
              </a:r>
            </a:p>
            <a:p>
              <a:pPr marL="108000" marR="0" lvl="0" indent="-108000" algn="l" defTabSz="914400" eaLnBrk="1" fontAlgn="auto" latinLnBrk="0" hangingPunct="1">
                <a:lnSpc>
                  <a:spcPct val="100000"/>
                </a:lnSpc>
                <a:spcAft>
                  <a:spcPts val="300"/>
                </a:spcAft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lang="pt-BR" sz="900">
                  <a:solidFill>
                    <a:schemeClr val="tx1"/>
                  </a:solidFill>
                  <a:latin typeface="Graphik Medium" panose="020B0603030202060203" pitchFamily="34" charset="0"/>
                </a:rPr>
                <a:t>Horizontes de evolução</a:t>
              </a:r>
            </a:p>
            <a:p>
              <a:pPr marL="108000" marR="0" lvl="0" indent="-108000" algn="l" defTabSz="914400" eaLnBrk="1" fontAlgn="auto" latinLnBrk="0" hangingPunct="1">
                <a:lnSpc>
                  <a:spcPct val="100000"/>
                </a:lnSpc>
                <a:spcAft>
                  <a:spcPts val="300"/>
                </a:spcAft>
                <a:buSzTx/>
                <a:buFont typeface="Arial" panose="020B0604020202020204" pitchFamily="34" charset="0"/>
                <a:buChar char="•"/>
                <a:tabLst/>
                <a:defRPr/>
              </a:pPr>
              <a:r>
                <a:rPr kumimoji="0" lang="pt-BR" sz="9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Graphik Medium" panose="020B0603030202060203" pitchFamily="34" charset="0"/>
                </a:rPr>
                <a:t>Resumo executivo do diagnóstico e das recomendações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E61D811-FD00-98A4-09DE-2D972E7F3291}"/>
                </a:ext>
              </a:extLst>
            </p:cNvPr>
            <p:cNvSpPr/>
            <p:nvPr/>
          </p:nvSpPr>
          <p:spPr>
            <a:xfrm>
              <a:off x="2360977" y="5768656"/>
              <a:ext cx="3116786" cy="396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t" anchorCtr="0">
              <a:noAutofit/>
            </a:bodyPr>
            <a:lstStyle/>
            <a:p>
              <a:pPr marL="108000" indent="-10800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pt-BR" sz="900">
                  <a:solidFill>
                    <a:schemeClr val="tx1"/>
                  </a:solidFill>
                  <a:latin typeface="Graphik Medium" panose="020B0603030202060203" pitchFamily="34" charset="0"/>
                </a:rPr>
                <a:t>Sumário comparativo externo–interno da Ágora</a:t>
              </a:r>
            </a:p>
            <a:p>
              <a:pPr marL="108000" indent="-108000"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r>
                <a:rPr lang="pt-BR" sz="900">
                  <a:solidFill>
                    <a:schemeClr val="tx1"/>
                  </a:solidFill>
                  <a:latin typeface="Graphik Medium" panose="020B0603030202060203" pitchFamily="34" charset="0"/>
                  <a:cs typeface="Arial" panose="020B0604020202020204" pitchFamily="34" charset="0"/>
                </a:rPr>
                <a:t>Lista preliminar de temas com potencial de oportunidade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5D341EF-F0D7-F987-990D-C6D6EFFFB80F}"/>
                </a:ext>
              </a:extLst>
            </p:cNvPr>
            <p:cNvSpPr/>
            <p:nvPr/>
          </p:nvSpPr>
          <p:spPr>
            <a:xfrm>
              <a:off x="2463797" y="2729745"/>
              <a:ext cx="3013965" cy="255030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6800" tIns="36000" rIns="46800" bIns="36000" rtlCol="0" anchor="t" anchorCtr="0">
              <a:spAutoFit/>
            </a:bodyPr>
            <a:lstStyle/>
            <a:p>
              <a:pPr defTabSz="1087106">
                <a:spcAft>
                  <a:spcPts val="1000"/>
                </a:spcAft>
                <a:defRPr/>
              </a:pP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ea typeface="+mn-ea"/>
                  <a:cs typeface="+mn-cs"/>
                </a:rPr>
                <a:t>1. </a:t>
              </a: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rPr>
                <a:t>Benchmark estruturado de mercado – </a:t>
              </a: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rPr>
                <a:t>Comparar modelos de distribuição, portfólio, experiência digital </a:t>
              </a: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srgbClr val="B455AA"/>
                  </a:solidFill>
                  <a:effectLst/>
                  <a:uLnTx/>
                  <a:uFillTx/>
                  <a:ea typeface="+mn-ea"/>
                  <a:cs typeface="+mn-cs"/>
                </a:rPr>
                <a:t>(jornadas &amp; práticas de encantamento)</a:t>
              </a: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rPr>
                <a:t>, posicionamento, modelos organizacionais e </a:t>
              </a: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srgbClr val="B455AA"/>
                  </a:solidFill>
                  <a:effectLst/>
                  <a:uLnTx/>
                  <a:uFillTx/>
                  <a:ea typeface="+mn-ea"/>
                  <a:cs typeface="+mn-cs"/>
                </a:rPr>
                <a:t>modelo de incentivos</a:t>
              </a:r>
              <a:r>
                <a:rPr kumimoji="0" lang="pt-BR" sz="800" i="0" u="none" strike="noStrike" kern="1200" cap="none" spc="0" normalizeH="0" baseline="30000" noProof="0">
                  <a:ln>
                    <a:noFill/>
                  </a:ln>
                  <a:solidFill>
                    <a:srgbClr val="B455AA"/>
                  </a:solidFill>
                  <a:effectLst/>
                  <a:uLnTx/>
                  <a:uFillTx/>
                  <a:ea typeface="+mn-ea"/>
                  <a:cs typeface="+mn-cs"/>
                </a:rPr>
                <a:t>1</a:t>
              </a:r>
              <a:r>
                <a:rPr kumimoji="0" lang="pt-BR" sz="800" i="0" u="none" strike="noStrike" kern="120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rPr>
                <a:t> </a:t>
              </a: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rPr>
                <a:t>dos principais players</a:t>
              </a:r>
              <a:r>
                <a:rPr kumimoji="0" lang="pt-BR" sz="800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rPr>
                <a:t>2</a:t>
              </a: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rPr>
                <a:t> </a:t>
              </a:r>
              <a:r>
                <a:rPr lang="pt-BR" sz="800">
                  <a:solidFill>
                    <a:srgbClr val="04B47E"/>
                  </a:solidFill>
                </a:rPr>
                <a:t>incluindo abordagens por segmento (correntistas, não correntistas, B2B)</a:t>
              </a:r>
              <a:endParaRPr kumimoji="0" lang="pt-BR" sz="80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endParaRPr>
            </a:p>
            <a:p>
              <a:pPr marL="0" marR="0" lvl="0" indent="0" algn="l" defTabSz="1087106" rtl="0" eaLnBrk="1" fontAlgn="auto" latinLnBrk="0" hangingPunct="1"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ea typeface="+mn-ea"/>
                  <a:cs typeface="+mn-cs"/>
                </a:rPr>
                <a:t>2. </a:t>
              </a: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rPr>
                <a:t>Diagnóstico de performance das linhas de negócio – </a:t>
              </a: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rPr>
                <a:t>Avaliar receitas, margens relativas e papel das principais linhas de negócio na performance agregada, com base nos dados disponíveis</a:t>
              </a:r>
            </a:p>
            <a:p>
              <a:pPr marL="0" marR="0" lvl="0" indent="0" algn="l" defTabSz="1087106" rtl="0" eaLnBrk="1" fontAlgn="auto" latinLnBrk="0" hangingPunct="1"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ea typeface="+mn-ea"/>
                  <a:cs typeface="+mn-cs"/>
                </a:rPr>
                <a:t>3. </a:t>
              </a: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rPr>
                <a:t>Avaliação da estrutura organizacional – </a:t>
              </a: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rPr>
                <a:t>Analisar desenho de áreas, papéis e responsabilidades da Ágora, incluindo interfaces com </a:t>
              </a:r>
              <a:r>
                <a:rPr lang="pt-BR" sz="800">
                  <a:solidFill>
                    <a:srgbClr val="000000"/>
                  </a:solidFill>
                </a:rPr>
                <a:t>o</a:t>
              </a: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rPr>
                <a:t> GM, à luz de práticas de referência</a:t>
              </a:r>
            </a:p>
            <a:p>
              <a:pPr marL="0" marR="0" lvl="0" indent="0" algn="l" defTabSz="1087106" rtl="0" eaLnBrk="1" fontAlgn="auto" latinLnBrk="0" hangingPunct="1"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ea typeface="+mn-ea"/>
                  <a:cs typeface="+mn-cs"/>
                </a:rPr>
                <a:t>4. </a:t>
              </a:r>
              <a:r>
                <a:rPr kumimoji="0" lang="pt-BR" sz="8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rPr>
                <a:t>Integração das oportunidades dos GTs internos – </a:t>
              </a:r>
              <a:r>
                <a:rPr kumimoji="0" lang="pt-BR" sz="80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+mn-ea"/>
                  <a:cs typeface="+mn-cs"/>
                </a:rPr>
                <a:t>Levantar oportunidades já mapeadas pelos GTs internos e incorporá-las ao diagnóstico</a:t>
              </a:r>
            </a:p>
          </p:txBody>
        </p:sp>
        <p:sp>
          <p:nvSpPr>
            <p:cNvPr id="21" name="Rectangle 25">
              <a:extLst>
                <a:ext uri="{FF2B5EF4-FFF2-40B4-BE49-F238E27FC236}">
                  <a16:creationId xmlns:a16="http://schemas.microsoft.com/office/drawing/2014/main" id="{8E300034-E679-CE1D-FC04-8BE2B382CF67}"/>
                </a:ext>
              </a:extLst>
            </p:cNvPr>
            <p:cNvSpPr/>
            <p:nvPr/>
          </p:nvSpPr>
          <p:spPr>
            <a:xfrm>
              <a:off x="5603416" y="2729745"/>
              <a:ext cx="3024000" cy="267854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6800" tIns="36000" rIns="46800" bIns="36000" rtlCol="0" anchor="t" anchorCtr="0">
              <a:spAutoFit/>
            </a:bodyPr>
            <a:lstStyle/>
            <a:p>
              <a:pPr defTabSz="1087106">
                <a:spcAft>
                  <a:spcPts val="1000"/>
                </a:spcAft>
              </a:pPr>
              <a:r>
                <a:rPr lang="pt-BR" sz="800" b="1">
                  <a:solidFill>
                    <a:srgbClr val="B455AA"/>
                  </a:solidFill>
                  <a:highlight>
                    <a:srgbClr val="E6DCFF"/>
                  </a:highlight>
                </a:rPr>
                <a:t>5. Tendências para contextualizar oportunidades</a:t>
              </a:r>
              <a:r>
                <a:rPr lang="pt-BR" sz="800" b="1">
                  <a:solidFill>
                    <a:srgbClr val="000000"/>
                  </a:solidFill>
                  <a:highlight>
                    <a:srgbClr val="E6DCFF"/>
                  </a:highlight>
                </a:rPr>
                <a:t> </a:t>
              </a:r>
              <a:r>
                <a:rPr lang="pt-BR" sz="800" b="1">
                  <a:solidFill>
                    <a:srgbClr val="000000"/>
                  </a:solidFill>
                </a:rPr>
                <a:t>– </a:t>
              </a:r>
              <a:r>
                <a:rPr lang="pt-BR" sz="800">
                  <a:solidFill>
                    <a:srgbClr val="000000"/>
                  </a:solidFill>
                </a:rPr>
                <a:t>Mapa movimentos emergentes e novas tecnologias que podem influenciar o futuro das corretoras</a:t>
              </a:r>
              <a:endParaRPr lang="pt-BR" sz="800" b="1">
                <a:solidFill>
                  <a:schemeClr val="accent1"/>
                </a:solidFill>
              </a:endParaRPr>
            </a:p>
            <a:p>
              <a:pPr defTabSz="1087106">
                <a:spcAft>
                  <a:spcPts val="1000"/>
                </a:spcAft>
              </a:pPr>
              <a:r>
                <a:rPr lang="pt-BR" sz="800" b="1">
                  <a:solidFill>
                    <a:schemeClr val="accent1"/>
                  </a:solidFill>
                </a:rPr>
                <a:t>6. </a:t>
              </a:r>
              <a:r>
                <a:rPr lang="pt-BR" sz="800" b="1">
                  <a:solidFill>
                    <a:srgbClr val="000000"/>
                  </a:solidFill>
                </a:rPr>
                <a:t>Consolidação das oportunidades identificadas – </a:t>
              </a:r>
              <a:r>
                <a:rPr lang="pt-BR" sz="800">
                  <a:solidFill>
                    <a:srgbClr val="000000"/>
                  </a:solidFill>
                </a:rPr>
                <a:t>Integrar achados externos e internos em um mapa único de oportunidades por tema (distribuição, oferta, experiência, estrutura, </a:t>
              </a:r>
              <a:r>
                <a:rPr lang="pt-BR" sz="800">
                  <a:solidFill>
                    <a:srgbClr val="04B47E"/>
                  </a:solidFill>
                </a:rPr>
                <a:t>crescimento em correntistas e não correntistas, avenidas potenciais no B2B</a:t>
              </a:r>
              <a:r>
                <a:rPr lang="pt-BR" sz="800">
                  <a:solidFill>
                    <a:srgbClr val="000000"/>
                  </a:solidFill>
                </a:rPr>
                <a:t>, </a:t>
              </a:r>
              <a:r>
                <a:rPr lang="pt-BR" sz="800">
                  <a:solidFill>
                    <a:srgbClr val="B455AA"/>
                  </a:solidFill>
                </a:rPr>
                <a:t>parcerias/ecossistema</a:t>
              </a:r>
              <a:r>
                <a:rPr lang="pt-BR" sz="800">
                  <a:solidFill>
                    <a:srgbClr val="000000"/>
                  </a:solidFill>
                </a:rPr>
                <a:t>)</a:t>
              </a:r>
            </a:p>
            <a:p>
              <a:pPr defTabSz="1087106">
                <a:spcAft>
                  <a:spcPts val="1000"/>
                </a:spcAft>
              </a:pPr>
              <a:r>
                <a:rPr lang="pt-BR" sz="800" b="1">
                  <a:solidFill>
                    <a:schemeClr val="accent1"/>
                  </a:solidFill>
                </a:rPr>
                <a:t>7. </a:t>
              </a:r>
              <a:r>
                <a:rPr lang="pt-BR" sz="800" b="1">
                  <a:solidFill>
                    <a:srgbClr val="000000"/>
                  </a:solidFill>
                </a:rPr>
                <a:t>Avaliação de impacto potencial – </a:t>
              </a:r>
              <a:r>
                <a:rPr lang="pt-BR" sz="800">
                  <a:solidFill>
                    <a:srgbClr val="000000"/>
                  </a:solidFill>
                </a:rPr>
                <a:t>Estimar ordem de magnitude do impacto esperado de cada oportunidade (receita, eficiência, risco), com base em benchmarks e dados internos</a:t>
              </a:r>
            </a:p>
            <a:p>
              <a:pPr defTabSz="1087106">
                <a:spcAft>
                  <a:spcPts val="1000"/>
                </a:spcAft>
              </a:pPr>
              <a:r>
                <a:rPr lang="pt-BR" sz="800" b="1">
                  <a:solidFill>
                    <a:schemeClr val="accent1"/>
                  </a:solidFill>
                </a:rPr>
                <a:t>8. </a:t>
              </a:r>
              <a:r>
                <a:rPr lang="pt-BR" sz="800" b="1">
                  <a:solidFill>
                    <a:srgbClr val="000000"/>
                  </a:solidFill>
                </a:rPr>
                <a:t>Avaliação de esforço e complexidade – </a:t>
              </a:r>
              <a:r>
                <a:rPr lang="pt-BR" sz="800">
                  <a:solidFill>
                    <a:srgbClr val="000000"/>
                  </a:solidFill>
                </a:rPr>
                <a:t>Classificar oportunidades por nível de esforço, dependências e grau de mudança requerido</a:t>
              </a:r>
            </a:p>
            <a:p>
              <a:pPr defTabSz="1087106">
                <a:spcAft>
                  <a:spcPts val="1000"/>
                </a:spcAft>
              </a:pPr>
              <a:r>
                <a:rPr lang="pt-BR" sz="800" b="1">
                  <a:solidFill>
                    <a:schemeClr val="accent1"/>
                  </a:solidFill>
                </a:rPr>
                <a:t>9. </a:t>
              </a:r>
              <a:r>
                <a:rPr lang="pt-BR" sz="800" b="1">
                  <a:solidFill>
                    <a:srgbClr val="000000"/>
                  </a:solidFill>
                </a:rPr>
                <a:t>Refinamento – </a:t>
              </a:r>
              <a:r>
                <a:rPr lang="pt-BR" sz="800">
                  <a:solidFill>
                    <a:srgbClr val="000000"/>
                  </a:solidFill>
                </a:rPr>
                <a:t>Discutir e ajustar a lista de oportunidades quanto à aderência ao contexto e relevância para o negócio</a:t>
              </a:r>
            </a:p>
          </p:txBody>
        </p:sp>
        <p:sp>
          <p:nvSpPr>
            <p:cNvPr id="22" name="Rectangle 25">
              <a:extLst>
                <a:ext uri="{FF2B5EF4-FFF2-40B4-BE49-F238E27FC236}">
                  <a16:creationId xmlns:a16="http://schemas.microsoft.com/office/drawing/2014/main" id="{BD597D06-B009-3F0E-BEDF-DADB77162AC7}"/>
                </a:ext>
              </a:extLst>
            </p:cNvPr>
            <p:cNvSpPr/>
            <p:nvPr/>
          </p:nvSpPr>
          <p:spPr>
            <a:xfrm>
              <a:off x="8743036" y="2729745"/>
              <a:ext cx="3013965" cy="20578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46800" tIns="36000" rIns="46800" bIns="36000" rtlCol="0" anchor="t" anchorCtr="0">
              <a:spAutoFit/>
            </a:bodyPr>
            <a:lstStyle/>
            <a:p>
              <a:pPr defTabSz="1087106">
                <a:spcAft>
                  <a:spcPts val="1000"/>
                </a:spcAft>
              </a:pPr>
              <a:r>
                <a:rPr lang="pt-BR" sz="800" b="1">
                  <a:solidFill>
                    <a:schemeClr val="accent1"/>
                  </a:solidFill>
                </a:rPr>
                <a:t>10. </a:t>
              </a:r>
              <a:r>
                <a:rPr lang="pt-BR" sz="800" b="1">
                  <a:solidFill>
                    <a:srgbClr val="000000"/>
                  </a:solidFill>
                </a:rPr>
                <a:t>Matriz impacto–esforço–viabilidade – </a:t>
              </a:r>
              <a:r>
                <a:rPr lang="pt-BR" sz="800">
                  <a:solidFill>
                    <a:srgbClr val="000000"/>
                  </a:solidFill>
                </a:rPr>
                <a:t>Ordenar as oportunidades com base em critérios comuns definidos com a liderança</a:t>
              </a:r>
            </a:p>
            <a:p>
              <a:pPr defTabSz="1087106">
                <a:spcAft>
                  <a:spcPts val="1000"/>
                </a:spcAft>
              </a:pPr>
              <a:r>
                <a:rPr lang="pt-BR" sz="800" b="1">
                  <a:solidFill>
                    <a:schemeClr val="accent1"/>
                  </a:solidFill>
                </a:rPr>
                <a:t>11. </a:t>
              </a:r>
              <a:r>
                <a:rPr lang="pt-BR" sz="800" b="1">
                  <a:solidFill>
                    <a:srgbClr val="000000"/>
                  </a:solidFill>
                </a:rPr>
                <a:t>Definição das prioridades de curto e médio prazo – </a:t>
              </a:r>
              <a:r>
                <a:rPr lang="pt-BR" sz="800">
                  <a:solidFill>
                    <a:srgbClr val="000000"/>
                  </a:solidFill>
                </a:rPr>
                <a:t>Selecionar os movimentos recomendados para cada horizonte, a partir da matriz de priorização</a:t>
              </a:r>
            </a:p>
            <a:p>
              <a:pPr defTabSz="1087106">
                <a:spcAft>
                  <a:spcPts val="1000"/>
                </a:spcAft>
              </a:pPr>
              <a:r>
                <a:rPr lang="pt-BR" sz="800" b="1">
                  <a:solidFill>
                    <a:schemeClr val="accent1"/>
                  </a:solidFill>
                </a:rPr>
                <a:t>12. </a:t>
              </a:r>
              <a:r>
                <a:rPr lang="pt-BR" sz="800" b="1">
                  <a:solidFill>
                    <a:srgbClr val="000000"/>
                  </a:solidFill>
                </a:rPr>
                <a:t>Desenho de recomendações acionáveis – </a:t>
              </a:r>
              <a:r>
                <a:rPr lang="pt-BR" sz="800">
                  <a:solidFill>
                    <a:srgbClr val="000000"/>
                  </a:solidFill>
                </a:rPr>
                <a:t>Traduzir prioridades em recomendações práticas por frente (distribuição, oferta, experiência, estrutura) e </a:t>
              </a:r>
              <a:r>
                <a:rPr lang="pt-BR" sz="800">
                  <a:solidFill>
                    <a:srgbClr val="04B47E"/>
                  </a:solidFill>
                </a:rPr>
                <a:t>avenidas de crescimento (correntistas, não correntistas, B2B)</a:t>
              </a:r>
            </a:p>
            <a:p>
              <a:pPr defTabSz="1087106">
                <a:spcAft>
                  <a:spcPts val="1000"/>
                </a:spcAft>
              </a:pPr>
              <a:r>
                <a:rPr lang="pt-BR" sz="800" b="1">
                  <a:solidFill>
                    <a:schemeClr val="accent1"/>
                  </a:solidFill>
                </a:rPr>
                <a:t>13.</a:t>
              </a:r>
              <a:r>
                <a:rPr lang="pt-BR" sz="800" b="1">
                  <a:solidFill>
                    <a:schemeClr val="tx1"/>
                  </a:solidFill>
                </a:rPr>
                <a:t> </a:t>
              </a:r>
              <a:r>
                <a:rPr lang="pt-BR" sz="800" b="1">
                  <a:solidFill>
                    <a:schemeClr val="accent4"/>
                  </a:solidFill>
                </a:rPr>
                <a:t>Roadmap com horizontes de evolução</a:t>
              </a:r>
              <a:r>
                <a:rPr lang="pt-BR" sz="800">
                  <a:solidFill>
                    <a:schemeClr val="tx1"/>
                  </a:solidFill>
                </a:rPr>
                <a:t> – </a:t>
              </a:r>
              <a:r>
                <a:rPr lang="pt-BR" sz="800">
                  <a:solidFill>
                    <a:srgbClr val="000000"/>
                  </a:solidFill>
                </a:rPr>
                <a:t>Organizar as prioridades recomendadas em horizontes de tempo para orientar próximos ciclos de evolução</a:t>
              </a:r>
            </a:p>
          </p:txBody>
        </p:sp>
        <p:sp>
          <p:nvSpPr>
            <p:cNvPr id="23" name="Rectangle: Rounded Corners 78">
              <a:extLst>
                <a:ext uri="{FF2B5EF4-FFF2-40B4-BE49-F238E27FC236}">
                  <a16:creationId xmlns:a16="http://schemas.microsoft.com/office/drawing/2014/main" id="{75E9A0D0-406E-B886-FAAD-7D5860687F62}"/>
                </a:ext>
              </a:extLst>
            </p:cNvPr>
            <p:cNvSpPr/>
            <p:nvPr/>
          </p:nvSpPr>
          <p:spPr>
            <a:xfrm>
              <a:off x="2636306" y="2391532"/>
              <a:ext cx="1651853" cy="277105"/>
            </a:xfrm>
            <a:prstGeom prst="round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" tIns="36000" rIns="18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pt-BR" sz="900" kern="0">
                  <a:solidFill>
                    <a:schemeClr val="tx1"/>
                  </a:solidFill>
                  <a:latin typeface="Graphik" panose="020B0503030202060203" pitchFamily="34" charset="0"/>
                </a:rPr>
                <a:t>Kickoff</a:t>
              </a:r>
            </a:p>
          </p:txBody>
        </p:sp>
        <p:grpSp>
          <p:nvGrpSpPr>
            <p:cNvPr id="24" name="Group 86">
              <a:extLst>
                <a:ext uri="{FF2B5EF4-FFF2-40B4-BE49-F238E27FC236}">
                  <a16:creationId xmlns:a16="http://schemas.microsoft.com/office/drawing/2014/main" id="{7B479382-CA62-6B5D-75DF-17E9A6C5ACF8}"/>
                </a:ext>
              </a:extLst>
            </p:cNvPr>
            <p:cNvGrpSpPr/>
            <p:nvPr/>
          </p:nvGrpSpPr>
          <p:grpSpPr>
            <a:xfrm>
              <a:off x="2359202" y="2404451"/>
              <a:ext cx="255600" cy="253799"/>
              <a:chOff x="10428164" y="5269526"/>
              <a:chExt cx="144000" cy="144000"/>
            </a:xfrm>
          </p:grpSpPr>
          <p:sp>
            <p:nvSpPr>
              <p:cNvPr id="37" name="Oval 87">
                <a:extLst>
                  <a:ext uri="{FF2B5EF4-FFF2-40B4-BE49-F238E27FC236}">
                    <a16:creationId xmlns:a16="http://schemas.microsoft.com/office/drawing/2014/main" id="{445381E4-A8AF-AF44-EA9F-F3450FE3A2A3}"/>
                  </a:ext>
                </a:extLst>
              </p:cNvPr>
              <p:cNvSpPr/>
              <p:nvPr/>
            </p:nvSpPr>
            <p:spPr>
              <a:xfrm>
                <a:off x="10428164" y="5269526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16000" rtlCol="0" anchor="ctr"/>
              <a:lstStyle/>
              <a:p>
                <a:pPr algn="l"/>
                <a:endParaRPr lang="pt-BR" sz="1600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Estrela: 5 Pontas 37">
                <a:extLst>
                  <a:ext uri="{FF2B5EF4-FFF2-40B4-BE49-F238E27FC236}">
                    <a16:creationId xmlns:a16="http://schemas.microsoft.com/office/drawing/2014/main" id="{AD15258F-D501-CE69-F9BA-7EEF44B29721}"/>
                  </a:ext>
                </a:extLst>
              </p:cNvPr>
              <p:cNvSpPr/>
              <p:nvPr/>
            </p:nvSpPr>
            <p:spPr>
              <a:xfrm>
                <a:off x="10446164" y="5287526"/>
                <a:ext cx="108000" cy="108000"/>
              </a:xfrm>
              <a:prstGeom prst="star5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16000" rtlCol="0" anchor="ctr"/>
              <a:lstStyle/>
              <a:p>
                <a:pPr algn="l"/>
                <a:endParaRPr lang="pt-BR" sz="16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5" name="Rectangle: Rounded Corners 78">
              <a:extLst>
                <a:ext uri="{FF2B5EF4-FFF2-40B4-BE49-F238E27FC236}">
                  <a16:creationId xmlns:a16="http://schemas.microsoft.com/office/drawing/2014/main" id="{C3CD1EDC-B640-096F-A2B8-6814544147A3}"/>
                </a:ext>
              </a:extLst>
            </p:cNvPr>
            <p:cNvSpPr/>
            <p:nvPr/>
          </p:nvSpPr>
          <p:spPr>
            <a:xfrm>
              <a:off x="3637792" y="2391532"/>
              <a:ext cx="1651853" cy="277105"/>
            </a:xfrm>
            <a:prstGeom prst="round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" tIns="36000" rIns="18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/>
              <a:r>
                <a:rPr lang="pt-BR" sz="900" kern="0">
                  <a:solidFill>
                    <a:schemeClr val="tx1"/>
                  </a:solidFill>
                  <a:latin typeface="Graphik" panose="020B0503030202060203" pitchFamily="34" charset="0"/>
                </a:rPr>
                <a:t>Workshop de contexto interno e externo</a:t>
              </a:r>
            </a:p>
          </p:txBody>
        </p:sp>
        <p:grpSp>
          <p:nvGrpSpPr>
            <p:cNvPr id="26" name="Group 86">
              <a:extLst>
                <a:ext uri="{FF2B5EF4-FFF2-40B4-BE49-F238E27FC236}">
                  <a16:creationId xmlns:a16="http://schemas.microsoft.com/office/drawing/2014/main" id="{083991FD-BA12-E30C-9636-6B29A585E305}"/>
                </a:ext>
              </a:extLst>
            </p:cNvPr>
            <p:cNvGrpSpPr/>
            <p:nvPr/>
          </p:nvGrpSpPr>
          <p:grpSpPr>
            <a:xfrm>
              <a:off x="5343496" y="2404451"/>
              <a:ext cx="255600" cy="253799"/>
              <a:chOff x="10428164" y="5269526"/>
              <a:chExt cx="144000" cy="144000"/>
            </a:xfrm>
          </p:grpSpPr>
          <p:sp>
            <p:nvSpPr>
              <p:cNvPr id="35" name="Oval 87">
                <a:extLst>
                  <a:ext uri="{FF2B5EF4-FFF2-40B4-BE49-F238E27FC236}">
                    <a16:creationId xmlns:a16="http://schemas.microsoft.com/office/drawing/2014/main" id="{392FD371-BBF7-C91B-54D2-FFF1EC7927F8}"/>
                  </a:ext>
                </a:extLst>
              </p:cNvPr>
              <p:cNvSpPr/>
              <p:nvPr/>
            </p:nvSpPr>
            <p:spPr>
              <a:xfrm>
                <a:off x="10428164" y="5269526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16000" rtlCol="0" anchor="ctr"/>
              <a:lstStyle/>
              <a:p>
                <a:pPr algn="l"/>
                <a:endParaRPr lang="pt-BR" sz="160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Estrela: 5 Pontas 37">
                <a:extLst>
                  <a:ext uri="{FF2B5EF4-FFF2-40B4-BE49-F238E27FC236}">
                    <a16:creationId xmlns:a16="http://schemas.microsoft.com/office/drawing/2014/main" id="{0609988F-9C82-552D-78B5-E9D3E0592479}"/>
                  </a:ext>
                </a:extLst>
              </p:cNvPr>
              <p:cNvSpPr/>
              <p:nvPr/>
            </p:nvSpPr>
            <p:spPr>
              <a:xfrm>
                <a:off x="10446164" y="5287526"/>
                <a:ext cx="108000" cy="108000"/>
              </a:xfrm>
              <a:prstGeom prst="star5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16000" rtlCol="0" anchor="ctr"/>
              <a:lstStyle/>
              <a:p>
                <a:pPr algn="l"/>
                <a:endParaRPr lang="pt-BR" sz="16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7" name="Rectangle: Rounded Corners 78">
              <a:extLst>
                <a:ext uri="{FF2B5EF4-FFF2-40B4-BE49-F238E27FC236}">
                  <a16:creationId xmlns:a16="http://schemas.microsoft.com/office/drawing/2014/main" id="{A7194502-A7EB-B1BF-8757-A6F61DBF30BE}"/>
                </a:ext>
              </a:extLst>
            </p:cNvPr>
            <p:cNvSpPr/>
            <p:nvPr/>
          </p:nvSpPr>
          <p:spPr>
            <a:xfrm>
              <a:off x="7315200" y="2391532"/>
              <a:ext cx="1161811" cy="277105"/>
            </a:xfrm>
            <a:prstGeom prst="round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" tIns="36000" rIns="18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/>
              <a:r>
                <a:rPr lang="pt-BR" sz="900" kern="0">
                  <a:solidFill>
                    <a:schemeClr val="tx1"/>
                  </a:solidFill>
                  <a:latin typeface="Graphik" panose="020B0503030202060203" pitchFamily="34" charset="0"/>
                </a:rPr>
                <a:t>Workshop de priorização</a:t>
              </a:r>
            </a:p>
          </p:txBody>
        </p:sp>
        <p:grpSp>
          <p:nvGrpSpPr>
            <p:cNvPr id="28" name="Group 86">
              <a:extLst>
                <a:ext uri="{FF2B5EF4-FFF2-40B4-BE49-F238E27FC236}">
                  <a16:creationId xmlns:a16="http://schemas.microsoft.com/office/drawing/2014/main" id="{2F2F4CB1-F109-08DE-6792-061BF14ACE58}"/>
                </a:ext>
              </a:extLst>
            </p:cNvPr>
            <p:cNvGrpSpPr/>
            <p:nvPr/>
          </p:nvGrpSpPr>
          <p:grpSpPr>
            <a:xfrm>
              <a:off x="8530862" y="2404451"/>
              <a:ext cx="255600" cy="253799"/>
              <a:chOff x="10428164" y="5269526"/>
              <a:chExt cx="144000" cy="144000"/>
            </a:xfrm>
          </p:grpSpPr>
          <p:sp>
            <p:nvSpPr>
              <p:cNvPr id="33" name="Oval 87">
                <a:extLst>
                  <a:ext uri="{FF2B5EF4-FFF2-40B4-BE49-F238E27FC236}">
                    <a16:creationId xmlns:a16="http://schemas.microsoft.com/office/drawing/2014/main" id="{C86E42AB-6882-00C7-2235-62267B1E76F8}"/>
                  </a:ext>
                </a:extLst>
              </p:cNvPr>
              <p:cNvSpPr/>
              <p:nvPr/>
            </p:nvSpPr>
            <p:spPr>
              <a:xfrm>
                <a:off x="10428164" y="5269526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16000" rtlCol="0" anchor="ctr"/>
              <a:lstStyle/>
              <a:p>
                <a:pPr algn="l"/>
                <a:endParaRPr lang="pt-BR" sz="160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Estrela: 5 Pontas 37">
                <a:extLst>
                  <a:ext uri="{FF2B5EF4-FFF2-40B4-BE49-F238E27FC236}">
                    <a16:creationId xmlns:a16="http://schemas.microsoft.com/office/drawing/2014/main" id="{D04A0E9F-D80C-937C-C25C-D4CA032372C9}"/>
                  </a:ext>
                </a:extLst>
              </p:cNvPr>
              <p:cNvSpPr/>
              <p:nvPr/>
            </p:nvSpPr>
            <p:spPr>
              <a:xfrm>
                <a:off x="10446164" y="5287526"/>
                <a:ext cx="108000" cy="108000"/>
              </a:xfrm>
              <a:prstGeom prst="star5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16000" rtlCol="0" anchor="ctr"/>
              <a:lstStyle/>
              <a:p>
                <a:pPr algn="l"/>
                <a:endParaRPr lang="pt-BR" sz="16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9" name="Rectangle: Rounded Corners 78">
              <a:extLst>
                <a:ext uri="{FF2B5EF4-FFF2-40B4-BE49-F238E27FC236}">
                  <a16:creationId xmlns:a16="http://schemas.microsoft.com/office/drawing/2014/main" id="{86160CC0-940A-0C40-1BBC-6D018A1B6222}"/>
                </a:ext>
              </a:extLst>
            </p:cNvPr>
            <p:cNvSpPr/>
            <p:nvPr/>
          </p:nvSpPr>
          <p:spPr>
            <a:xfrm>
              <a:off x="10288921" y="2391532"/>
              <a:ext cx="1276354" cy="277105"/>
            </a:xfrm>
            <a:prstGeom prst="round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" tIns="36000" rIns="18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r"/>
              <a:r>
                <a:rPr lang="pt-BR" sz="900" kern="0">
                  <a:solidFill>
                    <a:schemeClr val="tx1"/>
                  </a:solidFill>
                  <a:latin typeface="Graphik" panose="020B0503030202060203" pitchFamily="34" charset="0"/>
                </a:rPr>
                <a:t>Apresentação final</a:t>
              </a:r>
            </a:p>
          </p:txBody>
        </p:sp>
        <p:grpSp>
          <p:nvGrpSpPr>
            <p:cNvPr id="30" name="Group 86">
              <a:extLst>
                <a:ext uri="{FF2B5EF4-FFF2-40B4-BE49-F238E27FC236}">
                  <a16:creationId xmlns:a16="http://schemas.microsoft.com/office/drawing/2014/main" id="{5828B181-6E00-0D68-5DB2-453CA333ABC5}"/>
                </a:ext>
              </a:extLst>
            </p:cNvPr>
            <p:cNvGrpSpPr/>
            <p:nvPr/>
          </p:nvGrpSpPr>
          <p:grpSpPr>
            <a:xfrm>
              <a:off x="11619126" y="2404451"/>
              <a:ext cx="255600" cy="253799"/>
              <a:chOff x="10428164" y="5269526"/>
              <a:chExt cx="144000" cy="144000"/>
            </a:xfrm>
          </p:grpSpPr>
          <p:sp>
            <p:nvSpPr>
              <p:cNvPr id="31" name="Oval 87">
                <a:extLst>
                  <a:ext uri="{FF2B5EF4-FFF2-40B4-BE49-F238E27FC236}">
                    <a16:creationId xmlns:a16="http://schemas.microsoft.com/office/drawing/2014/main" id="{75703203-3DD6-30C3-E8FF-384A0CB38FF2}"/>
                  </a:ext>
                </a:extLst>
              </p:cNvPr>
              <p:cNvSpPr/>
              <p:nvPr/>
            </p:nvSpPr>
            <p:spPr>
              <a:xfrm>
                <a:off x="10428164" y="5269526"/>
                <a:ext cx="144000" cy="14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16000" rtlCol="0" anchor="ctr"/>
              <a:lstStyle/>
              <a:p>
                <a:pPr algn="l"/>
                <a:endParaRPr lang="pt-BR" sz="160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Estrela: 5 Pontas 37">
                <a:extLst>
                  <a:ext uri="{FF2B5EF4-FFF2-40B4-BE49-F238E27FC236}">
                    <a16:creationId xmlns:a16="http://schemas.microsoft.com/office/drawing/2014/main" id="{D4011811-17FE-6390-CA9A-44EAA56FA551}"/>
                  </a:ext>
                </a:extLst>
              </p:cNvPr>
              <p:cNvSpPr/>
              <p:nvPr/>
            </p:nvSpPr>
            <p:spPr>
              <a:xfrm>
                <a:off x="10446164" y="5287526"/>
                <a:ext cx="108000" cy="108000"/>
              </a:xfrm>
              <a:prstGeom prst="star5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216000" rtlCol="0" anchor="ctr"/>
              <a:lstStyle/>
              <a:p>
                <a:pPr algn="l"/>
                <a:endParaRPr lang="pt-BR" sz="160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69122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DAB4E39-E30E-FE93-5468-AC30FEF3C9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6D22CC-C406-A8CC-9585-FDF8E7824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5200" y="6488234"/>
            <a:ext cx="4114800" cy="198318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US"/>
              <a:t>Copyright © 2025 Accenture. All rights reserved.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573F8-AB97-C846-60CB-202117F90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84746" y="6490025"/>
            <a:ext cx="326254" cy="201168"/>
          </a:xfrm>
        </p:spPr>
        <p:txBody>
          <a:bodyPr/>
          <a:lstStyle/>
          <a:p>
            <a:fld id="{1F90F471-3972-4120-B8B3-0237DE626C35}" type="slidenum">
              <a:rPr lang="pt-BR" smtClean="0"/>
              <a:pPr/>
              <a:t>2</a:t>
            </a:fld>
            <a:endParaRPr lang="pt-BR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CE802C8-6229-F9CD-D8EB-539C5F891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027607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BOX" val="gelb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BOX" val="gelb"/>
</p:tagLst>
</file>

<file path=ppt/theme/theme1.xml><?xml version="1.0" encoding="utf-8"?>
<a:theme xmlns:a="http://schemas.openxmlformats.org/drawingml/2006/main" name="Accenture Templat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Graphik">
      <a:majorFont>
        <a:latin typeface="Graphik Semibold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IMP_Acc_PPT_Tmplt_Graphik_210225_Fixed_Accessible.potx" id="{80BF15C9-A5DA-472C-9F1E-82F4EBB43D59}" vid="{02DD174B-CE7A-418B-90DA-AC9D16AAE59C}"/>
    </a:ext>
  </a:extLst>
</a:theme>
</file>

<file path=ppt/theme/theme2.xml><?xml version="1.0" encoding="utf-8"?>
<a:theme xmlns:a="http://schemas.openxmlformats.org/drawingml/2006/main" name="Office Theme">
  <a:themeElements>
    <a:clrScheme name="Acc_Colors_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_Fonts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9EF807C2354943A31A31FB9E6B8A38" ma:contentTypeVersion="2" ma:contentTypeDescription="Create a new document." ma:contentTypeScope="" ma:versionID="f03a519f31e72ece704f842ab0e4ba72">
  <xsd:schema xmlns:xsd="http://www.w3.org/2001/XMLSchema" xmlns:xs="http://www.w3.org/2001/XMLSchema" xmlns:p="http://schemas.microsoft.com/office/2006/metadata/properties" xmlns:ns2="5d757215-fbc3-4533-822f-84ec73f97a40" targetNamespace="http://schemas.microsoft.com/office/2006/metadata/properties" ma:root="true" ma:fieldsID="1cb72d0557a9ded9ba0b46b2c3d18190" ns2:_="">
    <xsd:import namespace="5d757215-fbc3-4533-822f-84ec73f97a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757215-fbc3-4533-822f-84ec73f97a4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BFFC05-B2F6-4CED-BE65-F75B1EB7AD7B}">
  <ds:schemaRefs>
    <ds:schemaRef ds:uri="http://purl.org/dc/dcmitype/"/>
    <ds:schemaRef ds:uri="http://purl.org/dc/terms/"/>
    <ds:schemaRef ds:uri="http://purl.org/dc/elements/1.1/"/>
    <ds:schemaRef ds:uri="http://schemas.microsoft.com/office/2006/metadata/properties"/>
    <ds:schemaRef ds:uri="http://schemas.microsoft.com/office/2006/documentManagement/types"/>
    <ds:schemaRef ds:uri="f09dec34-126f-4759-b06d-a920de720ce4"/>
    <ds:schemaRef ds:uri="http://schemas.openxmlformats.org/package/2006/metadata/core-properties"/>
    <ds:schemaRef ds:uri="http://schemas.microsoft.com/office/infopath/2007/PartnerControls"/>
    <ds:schemaRef ds:uri="17c09f85-56e7-4417-b5d2-7fa4154de31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FB95095-D3DE-4DE5-BB17-E1EF8BB262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757215-fbc3-4533-822f-84ec73f97a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9831B46-6CD1-40D2-9FB5-3E58559F90A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Acc_PPT_Template_Graphik</Template>
  <TotalTime>68</TotalTime>
  <Words>480</Words>
  <Application>Microsoft Office PowerPoint</Application>
  <PresentationFormat>Widescreen</PresentationFormat>
  <Paragraphs>41</Paragraphs>
  <Slides>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Graphik</vt:lpstr>
      <vt:lpstr>Graphik Medium</vt:lpstr>
      <vt:lpstr>Graphik Semibold</vt:lpstr>
      <vt:lpstr>Accenture Template</vt:lpstr>
      <vt:lpstr>think-cell Slide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>Accenture PowerPoint Template 16x9 Graphik</dc:subject>
  <dc:creator>Graciotti, Brenno</dc:creator>
  <cp:lastModifiedBy>Graciotti, Brenno</cp:lastModifiedBy>
  <cp:revision>5</cp:revision>
  <cp:lastPrinted>2020-11-17T04:05:48Z</cp:lastPrinted>
  <dcterms:created xsi:type="dcterms:W3CDTF">2023-07-17T21:32:38Z</dcterms:created>
  <dcterms:modified xsi:type="dcterms:W3CDTF">2026-03-14T20:37:15Z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0x010100339EF807C2354943A31A31FB9E6B8A38</vt:lpwstr>
  </property>
</Properties>
</file>