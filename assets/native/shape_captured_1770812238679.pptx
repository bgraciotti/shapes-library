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2/11/2026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4C6D7E7-2DD5-FA2F-4F7C-73AFC7EBDF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215EEB-D1C3-3D60-F2E5-22B5A8D19D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76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DFB7A9-EA91-E5A1-B41D-BF6F486C64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03B1B2-41A7-2F33-CE72-90CC501DB9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017AA4-B35C-2AA3-AA75-EF36DBC2F1A5}"/>
              </a:ext>
            </a:extLst>
          </p:cNvPr>
          <p:cNvSpPr/>
          <p:nvPr/>
        </p:nvSpPr>
        <p:spPr>
          <a:xfrm>
            <a:off x="850900" y="1958073"/>
            <a:ext cx="4896000" cy="21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>
              <a:spcAft>
                <a:spcPts val="600"/>
              </a:spcAft>
            </a:pPr>
            <a:r>
              <a:rPr lang="pt-BR" sz="1400" b="1" dirty="0">
                <a:solidFill>
                  <a:schemeClr val="tx1"/>
                </a:solidFill>
              </a:rPr>
              <a:t>Missão:</a:t>
            </a:r>
            <a:r>
              <a:rPr lang="pt-BR" sz="1400" dirty="0">
                <a:solidFill>
                  <a:schemeClr val="tx1"/>
                </a:solidFill>
              </a:rPr>
              <a:t> Democratizar insights de mercado e recomendações práticas para o varejo, com clareza, consistência e compliance.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</a:rPr>
              <a:t>Traduzir cenário macro e eventos do dia em “o que fazer agora”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</a:rPr>
              <a:t>Recomendações e carteiras modelo (perfiladas por risco/objetivo) e rebalanceamentos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</a:rPr>
              <a:t>Alertas e “</a:t>
            </a:r>
            <a:r>
              <a:rPr lang="pt-BR" sz="1100" dirty="0" err="1">
                <a:solidFill>
                  <a:schemeClr val="tx1"/>
                </a:solidFill>
              </a:rPr>
              <a:t>market</a:t>
            </a:r>
            <a:r>
              <a:rPr lang="pt-BR" sz="1100" dirty="0">
                <a:solidFill>
                  <a:schemeClr val="tx1"/>
                </a:solidFill>
              </a:rPr>
              <a:t> </a:t>
            </a:r>
            <a:r>
              <a:rPr lang="pt-BR" sz="1100" dirty="0" err="1">
                <a:solidFill>
                  <a:schemeClr val="tx1"/>
                </a:solidFill>
              </a:rPr>
              <a:t>calls</a:t>
            </a:r>
            <a:r>
              <a:rPr lang="pt-BR" sz="1100" dirty="0">
                <a:solidFill>
                  <a:schemeClr val="tx1"/>
                </a:solidFill>
              </a:rPr>
              <a:t>” em tempo real 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</a:rPr>
              <a:t>Curadoria de produtos/temas com linguagem acessível</a:t>
            </a: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10FDDD-B7CB-C6D1-D3EE-1C54F05E08E0}"/>
              </a:ext>
            </a:extLst>
          </p:cNvPr>
          <p:cNvSpPr/>
          <p:nvPr/>
        </p:nvSpPr>
        <p:spPr>
          <a:xfrm>
            <a:off x="850900" y="4268006"/>
            <a:ext cx="4896000" cy="21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>
              <a:spcAft>
                <a:spcPts val="600"/>
              </a:spcAft>
            </a:pPr>
            <a:r>
              <a:rPr lang="pt-BR" sz="1400" b="1" dirty="0">
                <a:solidFill>
                  <a:schemeClr val="tx1"/>
                </a:solidFill>
              </a:rPr>
              <a:t>Missão:</a:t>
            </a:r>
            <a:r>
              <a:rPr lang="pt-BR" sz="1400" dirty="0">
                <a:solidFill>
                  <a:schemeClr val="tx1"/>
                </a:solidFill>
              </a:rPr>
              <a:t> Entregar visão proprietária, rigor analítico e acesso a especialistas para suportar decisões de alocação e execução de clientes institucionais, ampliando influência e wallet share com governança.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</a:rPr>
              <a:t>Cobertura profunda (setor/empresa) com teses, </a:t>
            </a:r>
            <a:r>
              <a:rPr lang="pt-BR" sz="1100" dirty="0" err="1">
                <a:solidFill>
                  <a:schemeClr val="tx1"/>
                </a:solidFill>
              </a:rPr>
              <a:t>valuation</a:t>
            </a:r>
            <a:r>
              <a:rPr lang="pt-BR" sz="1100" dirty="0">
                <a:solidFill>
                  <a:schemeClr val="tx1"/>
                </a:solidFill>
              </a:rPr>
              <a:t> e riscos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</a:rPr>
              <a:t>Produção de relatórios proprietários 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</a:rPr>
              <a:t>Modelagem financeira e cenários 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/>
                </a:solidFill>
              </a:rPr>
              <a:t>Corporate </a:t>
            </a:r>
            <a:r>
              <a:rPr lang="pt-BR" sz="1100" dirty="0" err="1">
                <a:solidFill>
                  <a:schemeClr val="tx1"/>
                </a:solidFill>
              </a:rPr>
              <a:t>access</a:t>
            </a:r>
            <a:r>
              <a:rPr lang="pt-BR" sz="1100" dirty="0">
                <a:solidFill>
                  <a:schemeClr val="tx1"/>
                </a:solidFill>
              </a:rPr>
              <a:t> com governança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C5C0EA-1B4E-F46F-435A-B74E843A79DB}"/>
              </a:ext>
            </a:extLst>
          </p:cNvPr>
          <p:cNvSpPr/>
          <p:nvPr/>
        </p:nvSpPr>
        <p:spPr>
          <a:xfrm>
            <a:off x="381000" y="1958074"/>
            <a:ext cx="360000" cy="2160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algn="ctr"/>
            <a:r>
              <a:rPr lang="pt-BR" sz="1200" b="1" dirty="0">
                <a:solidFill>
                  <a:schemeClr val="bg1"/>
                </a:solidFill>
              </a:rPr>
              <a:t>VAREJO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67CCE6-DFD5-F318-E149-76F1165DCD8A}"/>
              </a:ext>
            </a:extLst>
          </p:cNvPr>
          <p:cNvSpPr/>
          <p:nvPr/>
        </p:nvSpPr>
        <p:spPr>
          <a:xfrm>
            <a:off x="381000" y="4268006"/>
            <a:ext cx="360000" cy="2160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tIns="91440" bIns="91440" rtlCol="0" anchor="ctr"/>
          <a:lstStyle/>
          <a:p>
            <a:pPr algn="ctr"/>
            <a:r>
              <a:rPr lang="pt-BR" sz="1200" b="1" dirty="0">
                <a:solidFill>
                  <a:schemeClr val="bg1"/>
                </a:solidFill>
              </a:rPr>
              <a:t>INSTITUCIONAL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92D279-2F6C-A9A2-718D-ED58C2440941}"/>
              </a:ext>
            </a:extLst>
          </p:cNvPr>
          <p:cNvCxnSpPr>
            <a:cxnSpLocks/>
          </p:cNvCxnSpPr>
          <p:nvPr/>
        </p:nvCxnSpPr>
        <p:spPr>
          <a:xfrm>
            <a:off x="850900" y="1843808"/>
            <a:ext cx="4896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92D923-C48C-8840-CECA-D3C73EBB43C8}"/>
              </a:ext>
            </a:extLst>
          </p:cNvPr>
          <p:cNvCxnSpPr>
            <a:cxnSpLocks/>
          </p:cNvCxnSpPr>
          <p:nvPr/>
        </p:nvCxnSpPr>
        <p:spPr>
          <a:xfrm>
            <a:off x="6303000" y="1843808"/>
            <a:ext cx="5508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1A07B50-F83E-5419-31BB-79A3B848F296}"/>
              </a:ext>
            </a:extLst>
          </p:cNvPr>
          <p:cNvSpPr txBox="1"/>
          <p:nvPr/>
        </p:nvSpPr>
        <p:spPr>
          <a:xfrm>
            <a:off x="850900" y="1401286"/>
            <a:ext cx="4896000" cy="44449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pt-BR" sz="1600" b="1" dirty="0"/>
              <a:t>Funções/Missão</a:t>
            </a:r>
            <a:endParaRPr lang="pt-BR" sz="1600" b="1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5EDD96-7262-1A4F-D928-6D6BACEB3751}"/>
              </a:ext>
            </a:extLst>
          </p:cNvPr>
          <p:cNvSpPr txBox="1"/>
          <p:nvPr/>
        </p:nvSpPr>
        <p:spPr>
          <a:xfrm>
            <a:off x="6303000" y="1401286"/>
            <a:ext cx="5508000" cy="44449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pt-BR" sz="1600" b="1" dirty="0"/>
              <a:t>Métricas de sucesso</a:t>
            </a:r>
            <a:endParaRPr lang="pt-BR" sz="1600" b="1" noProof="0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E269E729-7994-50BD-10EF-A4DA2DD7E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399" y="1958072"/>
            <a:ext cx="5562601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Aft>
                <a:spcPts val="18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Engajamento -</a:t>
            </a:r>
            <a:r>
              <a:rPr kumimoji="0" lang="pt-B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Alcance mensal e CTR para páginas de </a:t>
            </a:r>
            <a:r>
              <a:rPr kumimoji="0" lang="pt-BR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watchlist</a:t>
            </a:r>
            <a:r>
              <a:rPr kumimoji="0" lang="pt-B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/simuladores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Aft>
                <a:spcPts val="18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Qualidade -</a:t>
            </a:r>
            <a:r>
              <a:rPr kumimoji="0" lang="pt-B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SLA de publicação e Satisfação do usuário (rating/NPS do conteúd</a:t>
            </a:r>
            <a:r>
              <a:rPr lang="pt-BR" altLang="en-US" sz="1400" dirty="0"/>
              <a:t>o</a:t>
            </a:r>
            <a:r>
              <a:rPr kumimoji="0" lang="pt-B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Aft>
                <a:spcPts val="18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Impacto comercial –</a:t>
            </a:r>
            <a:r>
              <a:rPr kumimoji="0" lang="pt-B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Abertura /Conversão de novas contas e trades com foco em giro de carteira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815510-1255-7AAE-DDBF-F3A93DB528B3}"/>
              </a:ext>
            </a:extLst>
          </p:cNvPr>
          <p:cNvSpPr txBox="1"/>
          <p:nvPr/>
        </p:nvSpPr>
        <p:spPr>
          <a:xfrm>
            <a:off x="6248399" y="4268004"/>
            <a:ext cx="5562601" cy="216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171450" indent="-171450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1400" b="1" dirty="0"/>
              <a:t>Impacto comercial</a:t>
            </a:r>
            <a:r>
              <a:rPr lang="pt-BR" sz="1400" dirty="0"/>
              <a:t> – Fluxo de grandes </a:t>
            </a:r>
            <a:r>
              <a:rPr lang="pt-BR" sz="1400" dirty="0" err="1"/>
              <a:t>deals</a:t>
            </a:r>
            <a:r>
              <a:rPr lang="pt-BR" sz="1400" dirty="0"/>
              <a:t> por investidores institucionais após iniciativas-chave (eventos/</a:t>
            </a:r>
            <a:r>
              <a:rPr lang="pt-BR" sz="1400" dirty="0" err="1"/>
              <a:t>calls</a:t>
            </a:r>
            <a:r>
              <a:rPr lang="pt-BR" sz="1400" dirty="0"/>
              <a:t>)</a:t>
            </a:r>
          </a:p>
          <a:p>
            <a:pPr marL="171450" indent="-171450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1400" b="1" dirty="0"/>
              <a:t>Relacionamento</a:t>
            </a:r>
            <a:r>
              <a:rPr lang="pt-BR" sz="1400" dirty="0"/>
              <a:t> - nº de contas institucionais com interações qualificadas/mês (por </a:t>
            </a:r>
            <a:r>
              <a:rPr lang="pt-BR" sz="1400" dirty="0" err="1"/>
              <a:t>tier</a:t>
            </a:r>
            <a:r>
              <a:rPr lang="pt-BR" sz="1400" dirty="0"/>
              <a:t>) </a:t>
            </a:r>
          </a:p>
          <a:p>
            <a:pPr marL="171450" indent="-171450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pt-BR" sz="1400" b="1" dirty="0"/>
              <a:t>Influência</a:t>
            </a:r>
            <a:r>
              <a:rPr lang="pt-BR" sz="1400" dirty="0"/>
              <a:t> - Tração de ideias: nº de follow-ups/solicitações geradas por peças publicadas</a:t>
            </a:r>
          </a:p>
        </p:txBody>
      </p:sp>
    </p:spTree>
    <p:extLst>
      <p:ext uri="{BB962C8B-B14F-4D97-AF65-F5344CB8AC3E}">
        <p14:creationId xmlns:p14="http://schemas.microsoft.com/office/powerpoint/2010/main" val="2432852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240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Graphik</vt:lpstr>
      <vt:lpstr>Graphik Semibold</vt:lpstr>
      <vt:lpstr>Wingdings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2026-02-11T12:17:28Z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