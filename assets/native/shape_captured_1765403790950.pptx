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7"/>
  </p:notesMasterIdLst>
  <p:sldIdLst>
    <p:sldId id="2147482658" r:id="rId5"/>
    <p:sldId id="2147482657" r:id="rId6"/>
  </p:sldIdLst>
  <p:sldSz cx="12192000" cy="6858000"/>
  <p:notesSz cx="6858000" cy="9144000"/>
  <p:custDataLst>
    <p:tags r:id="rId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23C"/>
    <a:srgbClr val="FFFFFF"/>
    <a:srgbClr val="00EB81"/>
    <a:srgbClr val="E6DCFF"/>
    <a:srgbClr val="0041F0"/>
    <a:srgbClr val="DCAFFF"/>
    <a:srgbClr val="FF50A0"/>
    <a:srgbClr val="FF3246"/>
    <a:srgbClr val="00FFFF"/>
    <a:srgbClr val="D4D4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4021F68-0494-496A-BD4B-43C0DD56B880}" v="32" dt="2025-10-31T21:53:34.360"/>
    <p1510:client id="{F8B6DB93-B16F-4284-82B1-E93DAFE73FFA}" v="1" dt="2025-10-31T23:27:17.724"/>
  </p1510:revLst>
</p1510:revInfo>
</file>

<file path=ppt/tableStyles.xml><?xml version="1.0" encoding="utf-8"?>
<a:tblStyleLst xmlns:a="http://schemas.openxmlformats.org/drawingml/2006/main" def="{A0BC3CC4-8867-4C89-9D3F-A6A6B9ED4035}">
  <a:tblStyle styleId="{A0BC3CC4-8867-4C89-9D3F-A6A6B9ED4035}" styleName="Acc_Table_1">
    <a:wholeTbl>
      <a:tcTxStyle>
        <a:fontRef idx="minor">
          <a:prstClr val="black"/>
        </a:fontRef>
        <a:schemeClr val="dk1"/>
      </a:tcTxStyle>
      <a:tcStyle>
        <a:tcBdr>
          <a:left>
            <a:ln w="0" cmpd="sng">
              <a:solidFill>
                <a:srgbClr val="FFFFFF"/>
              </a:solidFill>
            </a:ln>
          </a:left>
          <a:right>
            <a:ln w="0" cmpd="sng">
              <a:solidFill>
                <a:srgbClr val="FFFFFF"/>
              </a:solidFill>
            </a:ln>
          </a:right>
          <a:top>
            <a:ln w="0" cmpd="sng">
              <a:solidFill>
                <a:srgbClr val="FFFFFF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6350" cmpd="sng">
              <a:solidFill>
                <a:srgbClr val="D9D9D9"/>
              </a:solidFill>
            </a:ln>
          </a:insideH>
          <a:insideV>
            <a:ln w="6350" cmpd="sng">
              <a:solidFill>
                <a:srgbClr val="D9D9D9"/>
              </a:solidFill>
            </a:ln>
          </a:insideV>
        </a:tcBdr>
        <a:fill>
          <a:noFill/>
        </a:fill>
      </a:tcStyle>
    </a:wholeTbl>
    <a:band1H>
      <a:tcTxStyle>
        <a:fontRef idx="minor">
          <a:prstClr val="black"/>
        </a:fontRef>
        <a:schemeClr val="dk1"/>
      </a:tcTxStyle>
      <a:tcStyle>
        <a:tcBdr/>
        <a:fill>
          <a:solidFill>
            <a:srgbClr val="F2F2F2"/>
          </a:solidFill>
        </a:fill>
      </a:tcStyle>
    </a:band1H>
    <a:band1V>
      <a:tcTxStyle>
        <a:fontRef idx="minor">
          <a:prstClr val="black"/>
        </a:fontRef>
        <a:schemeClr val="dk1"/>
      </a:tcTxStyle>
      <a:tcStyle>
        <a:tcBdr/>
        <a:fill>
          <a:solidFill>
            <a:srgbClr val="F2F2F2"/>
          </a:solidFill>
        </a:fill>
      </a:tcStyle>
    </a:band1V>
    <a:lastCol>
      <a:tcTxStyle b="on">
        <a:fontRef idx="minor">
          <a:prstClr val="black"/>
        </a:fontRef>
        <a:schemeClr val="dk1"/>
      </a:tcTxStyle>
      <a:tcStyle>
        <a:tcBdr/>
      </a:tcStyle>
    </a:lastCol>
    <a:firstCol>
      <a:tcTxStyle b="on">
        <a:fontRef idx="minor">
          <a:prstClr val="black"/>
        </a:fontRef>
        <a:schemeClr val="dk1"/>
      </a:tcTxStyle>
      <a:tcStyle>
        <a:tcBdr/>
      </a:tcStyle>
    </a:firstCol>
    <a:lastRow>
      <a:tcTxStyle b="on">
        <a:fontRef idx="minor">
          <a:prstClr val="black"/>
        </a:fontRef>
        <a:schemeClr val="dk1"/>
      </a:tcTxStyle>
      <a:tcStyle>
        <a:tcBdr/>
      </a:tcStyle>
    </a:lastRow>
    <a:firstRow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04" autoAdjust="0"/>
    <p:restoredTop sz="94924" autoAdjust="0"/>
  </p:normalViewPr>
  <p:slideViewPr>
    <p:cSldViewPr snapToGrid="0" showGuides="1">
      <p:cViewPr varScale="1">
        <p:scale>
          <a:sx n="70" d="100"/>
          <a:sy n="70" d="100"/>
        </p:scale>
        <p:origin x="1157" y="2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8141"/>
    </p:cViewPr>
  </p:sorterViewPr>
  <p:notesViewPr>
    <p:cSldViewPr snapToGrid="0">
      <p:cViewPr varScale="1">
        <p:scale>
          <a:sx n="81" d="100"/>
          <a:sy n="81" d="100"/>
        </p:scale>
        <p:origin x="3516" y="5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828800" cy="21237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027613" y="0"/>
            <a:ext cx="1828800" cy="21237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fld id="{1DE7078C-3525-4C9B-BF62-C9FD13B9A875}" type="datetimeFigureOut">
              <a:rPr lang="en-US" smtClean="0"/>
              <a:pPr/>
              <a:t>12/10/2025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0205" y="274505"/>
            <a:ext cx="4734172" cy="266297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0206" y="2999605"/>
            <a:ext cx="6751750" cy="586989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-1" y="8923817"/>
            <a:ext cx="6217919" cy="21237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399213" y="8917749"/>
            <a:ext cx="457200" cy="21844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fld id="{436E8A87-18DA-4CCE-A8C2-BDBC489258C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7384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12713" indent="-112713" algn="l" defTabSz="914400" rtl="0" eaLnBrk="1" latinLnBrk="0" hangingPunct="1">
      <a:buFont typeface="Graphik" panose="020B0604020202020204" pitchFamily="34" charset="0"/>
      <a:buChar char="•"/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230188" indent="-112713" algn="l">
      <a:buFont typeface="Graphik" panose="020B0604020202020204" pitchFamily="34" charset="0"/>
      <a:buChar char="•"/>
      <a:defRPr sz="1000">
        <a:latin typeface="+mn-lt"/>
      </a:defRPr>
    </a:lvl2pPr>
    <a:lvl3pPr marL="342900" indent="-112713" algn="l">
      <a:buFont typeface="Graphik" panose="020B0604020202020204" pitchFamily="34" charset="0"/>
      <a:buChar char="•"/>
      <a:defRPr sz="900">
        <a:latin typeface="+mn-lt"/>
      </a:defRPr>
    </a:lvl3pPr>
    <a:lvl4pPr marL="460375" indent="-112713" algn="l">
      <a:buFont typeface="Graphik" panose="020B0604020202020204" pitchFamily="34" charset="0"/>
      <a:buChar char="•"/>
      <a:defRPr sz="800">
        <a:latin typeface="+mn-lt"/>
      </a:defRPr>
    </a:lvl4pPr>
    <a:lvl5pPr marL="571500" indent="-112713" algn="l">
      <a:buFont typeface="Graphik" panose="020B0604020202020204" pitchFamily="34" charset="0"/>
      <a:buChar char="•"/>
      <a:defRPr sz="800">
        <a:latin typeface="+mn-lt"/>
      </a:defRPr>
    </a:lvl5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67FF053D-F28D-430E-0239-CE8ED656641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8397199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7FF053D-F28D-430E-0239-CE8ED656641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itle 8">
            <a:extLst>
              <a:ext uri="{FF2B5EF4-FFF2-40B4-BE49-F238E27FC236}">
                <a16:creationId xmlns:a16="http://schemas.microsoft.com/office/drawing/2014/main" id="{C06DB281-EA53-C29C-C70A-13D0082F3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432000"/>
          </a:xfrm>
        </p:spPr>
        <p:txBody>
          <a:bodyPr vert="horz"/>
          <a:lstStyle>
            <a:lvl1pPr>
              <a:defRPr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CC1B7B8-2FCE-B823-1046-0985C007FCD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B0FA015-B515-8D42-24DE-DB142CE72AA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32450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899A5850-98F6-A860-8A69-7A03A26B94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0331330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9A5850-98F6-A860-8A69-7A03A26B94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itle 9">
            <a:extLst>
              <a:ext uri="{FF2B5EF4-FFF2-40B4-BE49-F238E27FC236}">
                <a16:creationId xmlns:a16="http://schemas.microsoft.com/office/drawing/2014/main" id="{AFF1CEE3-E058-7E9F-C296-DD3BD5D25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432000"/>
          </a:xfrm>
        </p:spPr>
        <p:txBody>
          <a:bodyPr vert="horz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58F9796-694A-BEBA-A26C-1BC9E5ABEF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791592"/>
            <a:ext cx="11430000" cy="564388"/>
          </a:xfrm>
        </p:spPr>
        <p:txBody>
          <a:bodyPr/>
          <a:lstStyle>
            <a:lvl1pPr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22FA907-42B9-6FA1-C4DF-A540BFE35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18C3AE-678A-48F5-EE59-84E1AE2DC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96915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 userDrawn="1">
          <p15:clr>
            <a:srgbClr val="547EBF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ong Headline-subtitle Inver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899A5850-98F6-A860-8A69-7A03A26B94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004200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9A5850-98F6-A860-8A69-7A03A26B94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58F9796-694A-BEBA-A26C-1BC9E5ABEF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308927"/>
            <a:ext cx="11430000" cy="324000"/>
          </a:xfrm>
        </p:spPr>
        <p:txBody>
          <a:bodyPr/>
          <a:lstStyle>
            <a:lvl1pPr>
              <a:defRPr sz="1600">
                <a:solidFill>
                  <a:schemeClr val="accent1"/>
                </a:solidFill>
              </a:defRPr>
            </a:lvl1pPr>
          </a:lstStyle>
          <a:p>
            <a:pPr lvl="0"/>
            <a:endParaRPr lang="pt-BR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AFF1CEE3-E058-7E9F-C296-DD3BD5D25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650247"/>
            <a:ext cx="11430000" cy="432000"/>
          </a:xfrm>
        </p:spPr>
        <p:txBody>
          <a:bodyPr vert="horz"/>
          <a:lstStyle/>
          <a:p>
            <a:r>
              <a:rPr lang="pt-BR" dirty="0"/>
              <a:t>Click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edit</a:t>
            </a:r>
            <a:r>
              <a:rPr lang="pt-BR" dirty="0"/>
              <a:t> Master </a:t>
            </a:r>
            <a:r>
              <a:rPr lang="pt-BR" dirty="0" err="1"/>
              <a:t>title</a:t>
            </a:r>
            <a:r>
              <a:rPr lang="pt-BR" dirty="0"/>
              <a:t> </a:t>
            </a:r>
            <a:r>
              <a:rPr lang="pt-BR" dirty="0" err="1"/>
              <a:t>style</a:t>
            </a:r>
            <a:endParaRPr lang="pt-BR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8F9C570-8ADD-BDD4-0CD9-C5A9C02D1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3963760-62E3-11BA-AEE9-E17FF19CD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7948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>
          <p15:clr>
            <a:srgbClr val="547EBF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899A5850-98F6-A860-8A69-7A03A26B94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925768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9A5850-98F6-A860-8A69-7A03A26B94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58F9796-694A-BEBA-A26C-1BC9E5ABEF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1147848"/>
            <a:ext cx="11430000" cy="564388"/>
          </a:xfrm>
        </p:spPr>
        <p:txBody>
          <a:bodyPr/>
          <a:lstStyle>
            <a:lvl1pPr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99FC1387-F76A-5CD9-1471-AB709200A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432000"/>
          </a:xfrm>
        </p:spPr>
        <p:txBody>
          <a:bodyPr vert="horz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A9038AC-B619-5EB1-8D41-D4C38DBF5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B4469A7-C007-9466-EA28-F04CC2C2F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48257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 userDrawn="1">
          <p15:clr>
            <a:srgbClr val="547EBF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CD2B6B66-FB75-271B-FA63-2A6910A3EC4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387627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D2B6B66-FB75-271B-FA63-2A6910A3EC4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3BC61A9-92B1-2D35-4680-3DE1FE9AB59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F3B625-43D1-998E-66A4-B8CE5FAFEB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55426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39F038B-F7C9-2977-E231-94469A83341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8FFF73D-9F0D-A85A-C1BF-7062E6A3124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5060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14499A4D-E1EC-608F-9006-A468770F686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5552951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73" imgH="473" progId="TCLayout.ActiveDocument.1">
                  <p:embed/>
                </p:oleObj>
              </mc:Choice>
              <mc:Fallback>
                <p:oleObj name="think-cell Slide" r:id="rId9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4499A4D-E1EC-608F-9006-A468770F686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81000" y="380999"/>
            <a:ext cx="11430000" cy="9906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Place headline here (32pt, min 28pt)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381000" y="1371600"/>
            <a:ext cx="11430000" cy="49360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First level (copy 20pt)</a:t>
            </a:r>
          </a:p>
          <a:p>
            <a:pPr lvl="1"/>
            <a:r>
              <a:rPr lang="en-US" dirty="0"/>
              <a:t>Second level (bullet 20pt)</a:t>
            </a:r>
          </a:p>
          <a:p>
            <a:pPr lvl="2"/>
            <a:r>
              <a:rPr lang="en-US" dirty="0"/>
              <a:t>Third level (bullet 20pt)</a:t>
            </a:r>
          </a:p>
          <a:p>
            <a:pPr lvl="3"/>
            <a:r>
              <a:rPr lang="en-US" dirty="0"/>
              <a:t>Fourth level (bullet 18pt)</a:t>
            </a:r>
          </a:p>
          <a:p>
            <a:pPr lvl="4"/>
            <a:r>
              <a:rPr lang="en-US" dirty="0"/>
              <a:t>Fifth level (bullet 18pt)</a:t>
            </a:r>
          </a:p>
          <a:p>
            <a:pPr lvl="5"/>
            <a:r>
              <a:rPr lang="en-US" dirty="0"/>
              <a:t>Sixth level (copy 16pt)</a:t>
            </a:r>
          </a:p>
          <a:p>
            <a:pPr lvl="6"/>
            <a:r>
              <a:rPr lang="en-US" dirty="0"/>
              <a:t>Seventh level (small copy 12pt)</a:t>
            </a:r>
          </a:p>
          <a:p>
            <a:pPr lvl="7"/>
            <a:r>
              <a:rPr lang="en-US" dirty="0"/>
              <a:t>EIGHT LEVEL (DESCRIPTOR 10PT)</a:t>
            </a:r>
          </a:p>
          <a:p>
            <a:pPr lvl="8"/>
            <a:r>
              <a:rPr lang="en-US" dirty="0"/>
              <a:t>Ninth level (footer 8pt)</a:t>
            </a:r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9624E0B2-760E-457A-8367-213CE89D65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US" dirty="0"/>
              <a:t>Copyright © 2025 Accenture. All rights reserved.</a:t>
            </a:r>
            <a:endParaRPr lang="en-GB" dirty="0"/>
          </a:p>
        </p:txBody>
      </p:sp>
      <p:sp>
        <p:nvSpPr>
          <p:cNvPr id="9" name="GTS_Purple" descr="Accenture Greater Than symbol in purple">
            <a:extLst>
              <a:ext uri="{FF2B5EF4-FFF2-40B4-BE49-F238E27FC236}">
                <a16:creationId xmlns:a16="http://schemas.microsoft.com/office/drawing/2014/main" id="{AE0355C2-058C-4310-9508-BCC0F498FBBE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380209" y="6483675"/>
            <a:ext cx="183202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A100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69DFD1-72F5-4590-A067-19F2501AAB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4746" y="6490025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5103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745" r:id="rId2"/>
    <p:sldLayoutId id="2147483747" r:id="rId3"/>
    <p:sldLayoutId id="2147483746" r:id="rId4"/>
    <p:sldLayoutId id="2147483741" r:id="rId5"/>
    <p:sldLayoutId id="2147483748" r:id="rId6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2600" b="0" kern="1200" spc="-1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Graphik" panose="020B0503030202060203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503030202060203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1113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503030202060203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0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8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 userDrawn="1">
          <p15:clr>
            <a:srgbClr val="C35EA4"/>
          </p15:clr>
        </p15:guide>
        <p15:guide id="2" orient="horz" pos="3976" userDrawn="1">
          <p15:clr>
            <a:srgbClr val="C35EA4"/>
          </p15:clr>
        </p15:guide>
        <p15:guide id="3" pos="240" userDrawn="1">
          <p15:clr>
            <a:srgbClr val="C35EA4"/>
          </p15:clr>
        </p15:guide>
        <p15:guide id="4" pos="7440" userDrawn="1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newsroom.accenture.com/news/accenture-named-a-leader-in-enterprise-platform-it-services-for-banking-and-financial-services-sectors-by-everest-group.htm?_ga=2.250604933.2022773317.1632147678-956931531.1632147677" TargetMode="External"/><Relationship Id="rId13" Type="http://schemas.openxmlformats.org/officeDocument/2006/relationships/image" Target="../media/image8.png"/><Relationship Id="rId18" Type="http://schemas.openxmlformats.org/officeDocument/2006/relationships/image" Target="../media/image13.png"/><Relationship Id="rId26" Type="http://schemas.openxmlformats.org/officeDocument/2006/relationships/image" Target="../media/image21.png"/><Relationship Id="rId3" Type="http://schemas.openxmlformats.org/officeDocument/2006/relationships/image" Target="../media/image3.png"/><Relationship Id="rId21" Type="http://schemas.openxmlformats.org/officeDocument/2006/relationships/image" Target="../media/image16.png"/><Relationship Id="rId7" Type="http://schemas.openxmlformats.org/officeDocument/2006/relationships/hyperlink" Target="https://newsroom.accenture.com/news/accenture-named-top-leader-in-open-finance-it-services-by-everest-group.htm" TargetMode="External"/><Relationship Id="rId12" Type="http://schemas.openxmlformats.org/officeDocument/2006/relationships/image" Target="../media/image7.png"/><Relationship Id="rId17" Type="http://schemas.openxmlformats.org/officeDocument/2006/relationships/image" Target="../media/image12.png"/><Relationship Id="rId25" Type="http://schemas.openxmlformats.org/officeDocument/2006/relationships/image" Target="../media/image20.png"/><Relationship Id="rId2" Type="http://schemas.openxmlformats.org/officeDocument/2006/relationships/image" Target="../media/image2.png"/><Relationship Id="rId16" Type="http://schemas.openxmlformats.org/officeDocument/2006/relationships/image" Target="../media/image11.png"/><Relationship Id="rId20" Type="http://schemas.openxmlformats.org/officeDocument/2006/relationships/image" Target="../media/image15.png"/><Relationship Id="rId29" Type="http://schemas.openxmlformats.org/officeDocument/2006/relationships/image" Target="../media/image24.png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kxdocuments.accenture.com/Contribution/6b0f9a64-eb39-4525-835d-23b2a4817e9b" TargetMode="External"/><Relationship Id="rId11" Type="http://schemas.openxmlformats.org/officeDocument/2006/relationships/image" Target="../media/image6.png"/><Relationship Id="rId24" Type="http://schemas.openxmlformats.org/officeDocument/2006/relationships/image" Target="../media/image19.png"/><Relationship Id="rId32" Type="http://schemas.openxmlformats.org/officeDocument/2006/relationships/image" Target="../media/image27.png"/><Relationship Id="rId5" Type="http://schemas.openxmlformats.org/officeDocument/2006/relationships/hyperlink" Target="https://www.accenture.com/us-en/insights/consulting/analyst-recognitions#block-accenture-is-a-market-leader-in-hfs-horizons-cards-and-payments-services-2023-report" TargetMode="External"/><Relationship Id="rId15" Type="http://schemas.openxmlformats.org/officeDocument/2006/relationships/image" Target="../media/image10.png"/><Relationship Id="rId23" Type="http://schemas.openxmlformats.org/officeDocument/2006/relationships/image" Target="../media/image18.png"/><Relationship Id="rId28" Type="http://schemas.openxmlformats.org/officeDocument/2006/relationships/image" Target="../media/image23.png"/><Relationship Id="rId10" Type="http://schemas.openxmlformats.org/officeDocument/2006/relationships/image" Target="../media/image5.png"/><Relationship Id="rId19" Type="http://schemas.openxmlformats.org/officeDocument/2006/relationships/image" Target="../media/image14.png"/><Relationship Id="rId31" Type="http://schemas.openxmlformats.org/officeDocument/2006/relationships/image" Target="../media/image26.png"/><Relationship Id="rId4" Type="http://schemas.openxmlformats.org/officeDocument/2006/relationships/image" Target="../media/image4.jpeg"/><Relationship Id="rId9" Type="http://schemas.openxmlformats.org/officeDocument/2006/relationships/hyperlink" Target="https://www.accenture.com/us-en/insights/consulting/analyst-recognitions#block-accenture-is-a-leader-in-the-inaugural-everest-group-lending-it-services-peak-matrix-assessment-2023" TargetMode="External"/><Relationship Id="rId14" Type="http://schemas.openxmlformats.org/officeDocument/2006/relationships/image" Target="../media/image9.png"/><Relationship Id="rId22" Type="http://schemas.openxmlformats.org/officeDocument/2006/relationships/image" Target="../media/image17.png"/><Relationship Id="rId27" Type="http://schemas.openxmlformats.org/officeDocument/2006/relationships/image" Target="../media/image22.png"/><Relationship Id="rId30" Type="http://schemas.openxmlformats.org/officeDocument/2006/relationships/image" Target="../media/image25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1871412-134F-969E-2BBC-D9466D5DC75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F1230D4-23AF-61DB-35BB-F583585A7FB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4" name="Title 12">
            <a:extLst>
              <a:ext uri="{FF2B5EF4-FFF2-40B4-BE49-F238E27FC236}">
                <a16:creationId xmlns:a16="http://schemas.microsoft.com/office/drawing/2014/main" id="{04050FAF-41C4-C201-921C-273F6E9B3D0D}"/>
              </a:ext>
            </a:extLst>
          </p:cNvPr>
          <p:cNvSpPr txBox="1">
            <a:spLocks/>
          </p:cNvSpPr>
          <p:nvPr/>
        </p:nvSpPr>
        <p:spPr>
          <a:xfrm>
            <a:off x="391755" y="1770857"/>
            <a:ext cx="2360378" cy="147732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3600" b="0" i="0" kern="1200" dirty="0">
                <a:solidFill>
                  <a:schemeClr val="tx1"/>
                </a:solidFill>
                <a:latin typeface="Graphik Light" panose="020B0403030202060203" pitchFamily="34" charset="77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0" i="0" u="none" strike="noStrike" kern="120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j-ea"/>
              </a:rPr>
              <a:t>Atuamos junto </a:t>
            </a:r>
            <a:br>
              <a:rPr kumimoji="0" lang="pt-BR" sz="2000" b="0" i="0" u="none" strike="noStrike" kern="120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j-ea"/>
              </a:rPr>
            </a:br>
            <a:r>
              <a:rPr kumimoji="0" lang="pt-BR" sz="2000" b="0" i="0" u="none" strike="noStrike" kern="120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j-ea"/>
              </a:rPr>
              <a:t>de </a:t>
            </a:r>
            <a:r>
              <a:rPr kumimoji="0" lang="pt-BR" sz="2000" b="1" i="0" u="none" strike="noStrike" kern="1200" cap="none" spc="0" normalizeH="0" baseline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j-ea"/>
              </a:rPr>
              <a:t>+1.000 clientes </a:t>
            </a:r>
            <a:r>
              <a:rPr kumimoji="0" lang="pt-BR" sz="2000" b="0" i="0" u="none" strike="noStrike" kern="120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j-ea"/>
              </a:rPr>
              <a:t>de serviços financeiros ao redor do mundo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D7B82EC-4618-5ECD-6807-EE768251F4D4}"/>
              </a:ext>
            </a:extLst>
          </p:cNvPr>
          <p:cNvGrpSpPr/>
          <p:nvPr/>
        </p:nvGrpSpPr>
        <p:grpSpPr>
          <a:xfrm>
            <a:off x="3091762" y="1754095"/>
            <a:ext cx="3707993" cy="1510852"/>
            <a:chOff x="3091762" y="1800262"/>
            <a:chExt cx="3707993" cy="1510852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55F3B59-E49E-84C4-02FB-CA4AAD67E856}"/>
                </a:ext>
              </a:extLst>
            </p:cNvPr>
            <p:cNvSpPr txBox="1"/>
            <p:nvPr/>
          </p:nvSpPr>
          <p:spPr>
            <a:xfrm>
              <a:off x="3091762" y="1800262"/>
              <a:ext cx="1677060" cy="646331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0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</a:rPr>
                <a:t>82%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pt-BR" sz="1100" kern="0" dirty="0">
                  <a:solidFill>
                    <a:srgbClr val="000000"/>
                  </a:solidFill>
                  <a:latin typeface="Graphik Light"/>
                </a:rPr>
                <a:t>d</a:t>
              </a:r>
              <a:r>
                <a:rPr kumimoji="0" lang="pt-BR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 Light"/>
                </a:rPr>
                <a:t>os </a:t>
              </a:r>
              <a:r>
                <a:rPr kumimoji="0" lang="pt-BR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 Light"/>
                </a:rPr>
                <a:t>top 50</a:t>
              </a:r>
              <a:r>
                <a:rPr kumimoji="0" lang="pt-BR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 Light"/>
                </a:rPr>
                <a:t> bancos do mundo são clientes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25EB736-44FF-FC18-B6DB-7800CCDA44E5}"/>
                </a:ext>
              </a:extLst>
            </p:cNvPr>
            <p:cNvSpPr txBox="1"/>
            <p:nvPr/>
          </p:nvSpPr>
          <p:spPr>
            <a:xfrm>
              <a:off x="5122695" y="1800262"/>
              <a:ext cx="1677060" cy="646331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0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</a:rPr>
                <a:t>20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pt-BR" sz="1100" kern="0" dirty="0">
                  <a:solidFill>
                    <a:srgbClr val="000000"/>
                  </a:solidFill>
                  <a:latin typeface="Graphik Light"/>
                </a:rPr>
                <a:t>d</a:t>
              </a:r>
              <a:r>
                <a:rPr kumimoji="0" lang="pt-BR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 Light"/>
                </a:rPr>
                <a:t>os top </a:t>
              </a:r>
              <a:r>
                <a:rPr kumimoji="0" lang="pt-BR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 Light"/>
                </a:rPr>
                <a:t>gestores </a:t>
              </a:r>
              <a:r>
                <a:rPr kumimoji="0" lang="pt-BR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 Light"/>
                </a:rPr>
                <a:t>no mundo são clientes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D69D68D-D0E9-3BDE-553A-180B3F04368F}"/>
                </a:ext>
              </a:extLst>
            </p:cNvPr>
            <p:cNvSpPr txBox="1"/>
            <p:nvPr/>
          </p:nvSpPr>
          <p:spPr>
            <a:xfrm>
              <a:off x="3091762" y="2664783"/>
              <a:ext cx="1677060" cy="646331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0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</a:rPr>
                <a:t>+35 mil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pt-BR" sz="1100" b="1" kern="0" dirty="0">
                  <a:solidFill>
                    <a:srgbClr val="000000"/>
                  </a:solidFill>
                  <a:latin typeface="Graphik Light"/>
                </a:rPr>
                <a:t>e</a:t>
              </a:r>
              <a:r>
                <a:rPr kumimoji="0" lang="pt-BR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 Light"/>
                </a:rPr>
                <a:t>specialistas</a:t>
              </a:r>
              <a:r>
                <a:rPr kumimoji="0" lang="pt-BR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 Light"/>
                </a:rPr>
                <a:t> </a:t>
              </a:r>
              <a:br>
                <a:rPr kumimoji="0" lang="pt-BR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 Light"/>
                </a:rPr>
              </a:br>
              <a:r>
                <a:rPr kumimoji="0" lang="pt-BR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 Light"/>
                </a:rPr>
                <a:t>em serviços financeiros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A928096-9A0D-CD0A-64FA-6791C3D21E9C}"/>
                </a:ext>
              </a:extLst>
            </p:cNvPr>
            <p:cNvSpPr txBox="1"/>
            <p:nvPr/>
          </p:nvSpPr>
          <p:spPr>
            <a:xfrm>
              <a:off x="5122695" y="2664783"/>
              <a:ext cx="1677060" cy="646331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0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</a:rPr>
                <a:t>50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pt-BR" sz="1100" kern="0" dirty="0">
                  <a:solidFill>
                    <a:srgbClr val="000000"/>
                  </a:solidFill>
                  <a:latin typeface="Graphik Light"/>
                </a:rPr>
                <a:t>c</a:t>
              </a:r>
              <a:r>
                <a:rPr kumimoji="0" lang="pt-BR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 Light"/>
                </a:rPr>
                <a:t>entros de entrega</a:t>
              </a:r>
              <a:r>
                <a:rPr lang="pt-BR" sz="1100" kern="0" dirty="0">
                  <a:solidFill>
                    <a:srgbClr val="000000"/>
                  </a:solidFill>
                  <a:latin typeface="Graphik Light"/>
                </a:rPr>
                <a:t> no mundo, incluindo </a:t>
              </a:r>
              <a:r>
                <a:rPr lang="pt-BR" sz="1100" b="1" kern="0" dirty="0">
                  <a:solidFill>
                    <a:srgbClr val="000000"/>
                  </a:solidFill>
                  <a:latin typeface="Graphik Light"/>
                </a:rPr>
                <a:t>Brasil</a:t>
              </a:r>
              <a:r>
                <a:rPr kumimoji="0" lang="pt-BR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 Light"/>
                </a:rPr>
                <a:t> </a:t>
              </a:r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EAECCDDE-FAE1-D7EC-6826-0790EA0B65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7974" y="2028665"/>
            <a:ext cx="1355970" cy="186013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8028A7F-33F9-9128-FA33-DF5B8F33969F}"/>
              </a:ext>
            </a:extLst>
          </p:cNvPr>
          <p:cNvSpPr txBox="1"/>
          <p:nvPr/>
        </p:nvSpPr>
        <p:spPr>
          <a:xfrm>
            <a:off x="8624349" y="1477106"/>
            <a:ext cx="32646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dirty="0"/>
              <a:t>O </a:t>
            </a:r>
            <a:r>
              <a:rPr lang="pt-BR" sz="1200" b="1" dirty="0">
                <a:solidFill>
                  <a:schemeClr val="accent2"/>
                </a:solidFill>
              </a:rPr>
              <a:t>melhor provedor de serviços para bancos de varejo</a:t>
            </a:r>
            <a:r>
              <a:rPr lang="pt-BR" sz="1200" dirty="0"/>
              <a:t>, 2024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0329AB6-6D39-47CE-B1F2-D37C27C6CACF}"/>
              </a:ext>
            </a:extLst>
          </p:cNvPr>
          <p:cNvSpPr txBox="1"/>
          <p:nvPr/>
        </p:nvSpPr>
        <p:spPr>
          <a:xfrm>
            <a:off x="8492269" y="1981540"/>
            <a:ext cx="3405811" cy="1954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100" i="1"/>
              <a:t>“A Accenture é uma das melhores na criação de </a:t>
            </a:r>
            <a:r>
              <a:rPr lang="pt-BR" sz="1100" b="1" i="1" err="1">
                <a:solidFill>
                  <a:schemeClr val="accent2"/>
                </a:solidFill>
              </a:rPr>
              <a:t>roadmaps</a:t>
            </a:r>
            <a:r>
              <a:rPr lang="pt-BR" sz="1100" b="1" i="1">
                <a:solidFill>
                  <a:schemeClr val="accent2"/>
                </a:solidFill>
              </a:rPr>
              <a:t> acionáveis </a:t>
            </a:r>
            <a:r>
              <a:rPr lang="pt-BR" sz="1100" i="1"/>
              <a:t>​​para seus clientes, alinhados às prioridades atuais em quase todas as partes de um banco e </a:t>
            </a:r>
            <a:r>
              <a:rPr lang="pt-BR" sz="1100" b="1" i="1">
                <a:solidFill>
                  <a:schemeClr val="accent2"/>
                </a:solidFill>
              </a:rPr>
              <a:t>entregando resultados rapidamente</a:t>
            </a:r>
            <a:r>
              <a:rPr lang="pt-BR" sz="1100" i="1">
                <a:solidFill>
                  <a:schemeClr val="accent2"/>
                </a:solidFill>
              </a:rPr>
              <a:t>. </a:t>
            </a:r>
          </a:p>
          <a:p>
            <a:endParaRPr lang="pt-BR" sz="1100" i="1"/>
          </a:p>
          <a:p>
            <a:pPr algn="just"/>
            <a:r>
              <a:rPr lang="pt-BR" sz="1100" i="1"/>
              <a:t>A </a:t>
            </a:r>
            <a:r>
              <a:rPr lang="pt-BR" sz="1100" b="1" i="1">
                <a:solidFill>
                  <a:schemeClr val="accent2"/>
                </a:solidFill>
              </a:rPr>
              <a:t>velocidade</a:t>
            </a:r>
            <a:r>
              <a:rPr lang="pt-BR" sz="1100" i="1"/>
              <a:t> vem do uso extensivo de dados, estruturas e aceleradores para compreender, melhorar e industrializar soluções”</a:t>
            </a:r>
          </a:p>
          <a:p>
            <a:endParaRPr lang="pt-BR" sz="1100" i="1"/>
          </a:p>
          <a:p>
            <a:pPr algn="r"/>
            <a:r>
              <a:rPr lang="pt-BR" sz="1100" i="1"/>
              <a:t>Elena Christopher, Diretora de Pesquisa da HFS</a:t>
            </a:r>
          </a:p>
        </p:txBody>
      </p:sp>
      <p:pic>
        <p:nvPicPr>
          <p:cNvPr id="13" name="Picture 2" descr="Download HFS Research Logo PNG and Vector (PDF, SVG, Ai, EPS) Free">
            <a:extLst>
              <a:ext uri="{FF2B5EF4-FFF2-40B4-BE49-F238E27FC236}">
                <a16:creationId xmlns:a16="http://schemas.microsoft.com/office/drawing/2014/main" id="{745C3530-F61B-9FC3-0906-8DAF1ECF425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65" t="29616" r="14444" b="30733"/>
          <a:stretch/>
        </p:blipFill>
        <p:spPr bwMode="auto">
          <a:xfrm>
            <a:off x="7074923" y="1426436"/>
            <a:ext cx="1355970" cy="563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4EF24229-EC1D-DBFD-CACD-3776E9CBC307}"/>
              </a:ext>
            </a:extLst>
          </p:cNvPr>
          <p:cNvGrpSpPr/>
          <p:nvPr/>
        </p:nvGrpSpPr>
        <p:grpSpPr>
          <a:xfrm>
            <a:off x="7125301" y="4032955"/>
            <a:ext cx="4782938" cy="2296028"/>
            <a:chOff x="6885264" y="4273003"/>
            <a:chExt cx="5033136" cy="1976601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13C79BC-7035-9600-E3EC-9DE08229145C}"/>
                </a:ext>
              </a:extLst>
            </p:cNvPr>
            <p:cNvSpPr/>
            <p:nvPr/>
          </p:nvSpPr>
          <p:spPr>
            <a:xfrm>
              <a:off x="8593930" y="4280144"/>
              <a:ext cx="1616569" cy="94107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ZA" sz="1200" err="1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C3C0300-BCE3-96BF-CA60-9DDB93843B97}"/>
                </a:ext>
              </a:extLst>
            </p:cNvPr>
            <p:cNvSpPr/>
            <p:nvPr/>
          </p:nvSpPr>
          <p:spPr>
            <a:xfrm>
              <a:off x="10301831" y="4280144"/>
              <a:ext cx="1616569" cy="94107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ZA" sz="1200" err="1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05695A3-E3A8-DCDF-E64B-50B640D64914}"/>
                </a:ext>
              </a:extLst>
            </p:cNvPr>
            <p:cNvSpPr/>
            <p:nvPr/>
          </p:nvSpPr>
          <p:spPr>
            <a:xfrm>
              <a:off x="6886029" y="5308534"/>
              <a:ext cx="1616569" cy="94107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ZA" sz="1200" err="1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8FBF24C-DC0A-A4E6-8A35-8EA9E1E47954}"/>
                </a:ext>
              </a:extLst>
            </p:cNvPr>
            <p:cNvSpPr/>
            <p:nvPr/>
          </p:nvSpPr>
          <p:spPr>
            <a:xfrm>
              <a:off x="6886029" y="4273003"/>
              <a:ext cx="1616569" cy="94107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ZA" sz="1200" err="1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4412325-728D-AB95-BBE0-51FF3624173A}"/>
                </a:ext>
              </a:extLst>
            </p:cNvPr>
            <p:cNvSpPr/>
            <p:nvPr/>
          </p:nvSpPr>
          <p:spPr>
            <a:xfrm>
              <a:off x="8593930" y="5302026"/>
              <a:ext cx="1616569" cy="94107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ZA" sz="1200" err="1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CFF0092-CBD3-3FA3-06F3-FBA97C8FB5DC}"/>
                </a:ext>
              </a:extLst>
            </p:cNvPr>
            <p:cNvSpPr/>
            <p:nvPr/>
          </p:nvSpPr>
          <p:spPr>
            <a:xfrm>
              <a:off x="10301831" y="5302026"/>
              <a:ext cx="1616569" cy="94107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ZA" sz="1200" err="1"/>
            </a:p>
          </p:txBody>
        </p:sp>
        <p:pic>
          <p:nvPicPr>
            <p:cNvPr id="21" name="Picture 20" descr="A close-up of a logo&#10;&#10;Description automatically generated">
              <a:extLst>
                <a:ext uri="{FF2B5EF4-FFF2-40B4-BE49-F238E27FC236}">
                  <a16:creationId xmlns:a16="http://schemas.microsoft.com/office/drawing/2014/main" id="{9DF2374A-CFB4-5029-64F2-5610D3E311D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066" b="25104"/>
            <a:stretch/>
          </p:blipFill>
          <p:spPr>
            <a:xfrm>
              <a:off x="8642641" y="4331080"/>
              <a:ext cx="980293" cy="261437"/>
            </a:xfrm>
            <a:prstGeom prst="rect">
              <a:avLst/>
            </a:prstGeom>
          </p:spPr>
        </p:pic>
        <p:pic>
          <p:nvPicPr>
            <p:cNvPr id="22" name="Picture 21" descr="A close-up of a logo&#10;&#10;Description automatically generated">
              <a:extLst>
                <a:ext uri="{FF2B5EF4-FFF2-40B4-BE49-F238E27FC236}">
                  <a16:creationId xmlns:a16="http://schemas.microsoft.com/office/drawing/2014/main" id="{B8973BA6-50D6-F2CE-1B73-C3458B20EF3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066" b="25104"/>
            <a:stretch/>
          </p:blipFill>
          <p:spPr>
            <a:xfrm>
              <a:off x="6953005" y="5364234"/>
              <a:ext cx="980293" cy="261437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AFA8E75-F8E9-9178-E50F-06D95DD1B489}"/>
                </a:ext>
              </a:extLst>
            </p:cNvPr>
            <p:cNvSpPr txBox="1"/>
            <p:nvPr/>
          </p:nvSpPr>
          <p:spPr>
            <a:xfrm>
              <a:off x="8613187" y="4622528"/>
              <a:ext cx="1576992" cy="486522"/>
            </a:xfrm>
            <a:prstGeom prst="rect">
              <a:avLst/>
            </a:prstGeom>
            <a:noFill/>
          </p:spPr>
          <p:txBody>
            <a:bodyPr wrap="square" lIns="36000" tIns="36000" rIns="36000" bIns="36000">
              <a:spAutoFit/>
            </a:bodyPr>
            <a:lstStyle/>
            <a:p>
              <a:r>
                <a:rPr lang="pt-BR" sz="800">
                  <a:solidFill>
                    <a:schemeClr val="tx1">
                      <a:lumMod val="85000"/>
                      <a:lumOff val="15000"/>
                    </a:schemeClr>
                  </a:solidFill>
                  <a:latin typeface="Graphik Light" panose="020B0403030202060203" pitchFamily="34" charset="0"/>
                </a:rPr>
                <a:t>Accenture é nomeada líder em serviços de TI em Pagamentos</a:t>
              </a:r>
            </a:p>
            <a:p>
              <a:r>
                <a:rPr lang="pt-BR" sz="800">
                  <a:solidFill>
                    <a:srgbClr val="A62BF8"/>
                  </a:solidFill>
                  <a:latin typeface="Graphik Light" panose="020B0403030202060203" pitchFamily="34" charset="0"/>
                  <a:hlinkClick r:id="rId5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Leia Mais</a:t>
              </a:r>
              <a:endParaRPr lang="pt-BR" sz="800">
                <a:solidFill>
                  <a:srgbClr val="A62BF8"/>
                </a:solidFill>
                <a:latin typeface="Graphik Light" panose="020B0403030202060203" pitchFamily="34" charset="0"/>
              </a:endParaRPr>
            </a:p>
          </p:txBody>
        </p:sp>
        <p:pic>
          <p:nvPicPr>
            <p:cNvPr id="24" name="Picture 23" descr="A close-up of a logo&#10;&#10;Description automatically generated">
              <a:extLst>
                <a:ext uri="{FF2B5EF4-FFF2-40B4-BE49-F238E27FC236}">
                  <a16:creationId xmlns:a16="http://schemas.microsoft.com/office/drawing/2014/main" id="{3EAC4538-2639-ED2F-C5A5-EF453D9849D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066" b="25104"/>
            <a:stretch/>
          </p:blipFill>
          <p:spPr>
            <a:xfrm>
              <a:off x="10350542" y="4304909"/>
              <a:ext cx="980293" cy="261437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846055F-4A6F-E94E-1405-C4C74DB2F7D8}"/>
                </a:ext>
              </a:extLst>
            </p:cNvPr>
            <p:cNvSpPr txBox="1"/>
            <p:nvPr/>
          </p:nvSpPr>
          <p:spPr>
            <a:xfrm>
              <a:off x="10321088" y="4622528"/>
              <a:ext cx="1576992" cy="486522"/>
            </a:xfrm>
            <a:prstGeom prst="rect">
              <a:avLst/>
            </a:prstGeom>
            <a:noFill/>
          </p:spPr>
          <p:txBody>
            <a:bodyPr wrap="square" lIns="36000" tIns="36000" rIns="36000" bIns="36000">
              <a:spAutoFit/>
            </a:bodyPr>
            <a:lstStyle/>
            <a:p>
              <a:r>
                <a:rPr lang="pt-BR" sz="800">
                  <a:solidFill>
                    <a:schemeClr val="tx1">
                      <a:lumMod val="85000"/>
                      <a:lumOff val="15000"/>
                    </a:schemeClr>
                  </a:solidFill>
                  <a:latin typeface="Graphik Light" panose="020B0403030202060203" pitchFamily="34" charset="0"/>
                </a:rPr>
                <a:t>Reconhecida como líder em Operações de Bancos 2023</a:t>
              </a:r>
              <a:br>
                <a:rPr lang="pt-BR" sz="800">
                  <a:solidFill>
                    <a:schemeClr val="tx1">
                      <a:lumMod val="85000"/>
                      <a:lumOff val="15000"/>
                    </a:schemeClr>
                  </a:solidFill>
                  <a:latin typeface="Graphik Light" panose="020B0403030202060203" pitchFamily="34" charset="0"/>
                </a:rPr>
              </a:br>
              <a:endParaRPr lang="pt-BR" sz="800">
                <a:solidFill>
                  <a:schemeClr val="tx1">
                    <a:lumMod val="85000"/>
                    <a:lumOff val="15000"/>
                  </a:schemeClr>
                </a:solidFill>
                <a:latin typeface="Graphik Light" panose="020B0403030202060203" pitchFamily="34" charset="0"/>
              </a:endParaRPr>
            </a:p>
            <a:p>
              <a:r>
                <a:rPr lang="pt-BR" sz="800">
                  <a:solidFill>
                    <a:srgbClr val="A62BF8"/>
                  </a:solidFill>
                  <a:latin typeface="Graphik Light" panose="020B0403030202060203" pitchFamily="34" charset="0"/>
                  <a:hlinkClick r:id="rId6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Leia Mais</a:t>
              </a:r>
              <a:endParaRPr lang="pt-BR" sz="800">
                <a:solidFill>
                  <a:srgbClr val="A62BF8"/>
                </a:solidFill>
                <a:latin typeface="Graphik Light" panose="020B0403030202060203" pitchFamily="34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C5F9F9B7-20F3-69C5-1C51-0FF502311396}"/>
                </a:ext>
              </a:extLst>
            </p:cNvPr>
            <p:cNvSpPr txBox="1"/>
            <p:nvPr/>
          </p:nvSpPr>
          <p:spPr>
            <a:xfrm>
              <a:off x="6905285" y="5650918"/>
              <a:ext cx="1576992" cy="486522"/>
            </a:xfrm>
            <a:prstGeom prst="rect">
              <a:avLst/>
            </a:prstGeom>
            <a:noFill/>
          </p:spPr>
          <p:txBody>
            <a:bodyPr wrap="square" lIns="36000" tIns="36000" rIns="36000" bIns="36000">
              <a:spAutoFit/>
            </a:bodyPr>
            <a:lstStyle/>
            <a:p>
              <a:r>
                <a:rPr lang="pt-BR" sz="800">
                  <a:solidFill>
                    <a:schemeClr val="tx1">
                      <a:lumMod val="85000"/>
                      <a:lumOff val="15000"/>
                    </a:schemeClr>
                  </a:solidFill>
                  <a:latin typeface="Graphik Light" panose="020B0403030202060203" pitchFamily="34" charset="0"/>
                </a:rPr>
                <a:t>Accenture é nomeada líder em serviços de TI para Open Finance </a:t>
              </a:r>
              <a:r>
                <a:rPr lang="pt-BR" sz="800" b="0" i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Graphik Light" panose="020B0403030202060203" pitchFamily="34" charset="0"/>
                </a:rPr>
                <a:t>2023</a:t>
              </a:r>
              <a:endParaRPr lang="pt-BR" sz="800">
                <a:solidFill>
                  <a:schemeClr val="tx1">
                    <a:lumMod val="85000"/>
                    <a:lumOff val="15000"/>
                  </a:schemeClr>
                </a:solidFill>
                <a:latin typeface="Graphik Light" panose="020B0403030202060203" pitchFamily="34" charset="0"/>
              </a:endParaRPr>
            </a:p>
            <a:p>
              <a:r>
                <a:rPr lang="pt-BR" sz="800">
                  <a:solidFill>
                    <a:srgbClr val="A62BF8"/>
                  </a:solidFill>
                  <a:latin typeface="Graphik Light" panose="020B0403030202060203" pitchFamily="34" charset="0"/>
                  <a:hlinkClick r:id="rId7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Leia Mais</a:t>
              </a:r>
              <a:endParaRPr lang="pt-BR" sz="800">
                <a:solidFill>
                  <a:srgbClr val="A62BF8"/>
                </a:solidFill>
                <a:latin typeface="Graphik Light" panose="020B0403030202060203" pitchFamily="34" charset="0"/>
              </a:endParaRPr>
            </a:p>
          </p:txBody>
        </p:sp>
        <p:pic>
          <p:nvPicPr>
            <p:cNvPr id="27" name="Picture 2" descr="Download HFS Research Logo PNG and Vector (PDF, SVG, Ai, EPS) Free">
              <a:extLst>
                <a:ext uri="{FF2B5EF4-FFF2-40B4-BE49-F238E27FC236}">
                  <a16:creationId xmlns:a16="http://schemas.microsoft.com/office/drawing/2014/main" id="{47C94E6D-8CAC-5125-18ED-04FD534A417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465" t="29616" r="14444" b="30733"/>
            <a:stretch/>
          </p:blipFill>
          <p:spPr bwMode="auto">
            <a:xfrm>
              <a:off x="6945161" y="4302874"/>
              <a:ext cx="812618" cy="2889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CDEB82F-F1AD-D582-4103-644DF23C299C}"/>
                </a:ext>
              </a:extLst>
            </p:cNvPr>
            <p:cNvSpPr txBox="1"/>
            <p:nvPr/>
          </p:nvSpPr>
          <p:spPr>
            <a:xfrm>
              <a:off x="6885264" y="4594323"/>
              <a:ext cx="1576992" cy="486522"/>
            </a:xfrm>
            <a:prstGeom prst="rect">
              <a:avLst/>
            </a:prstGeom>
            <a:noFill/>
          </p:spPr>
          <p:txBody>
            <a:bodyPr wrap="square" lIns="36000" tIns="36000" rIns="36000" bIns="36000">
              <a:spAutoFit/>
            </a:bodyPr>
            <a:lstStyle/>
            <a:p>
              <a:r>
                <a:rPr lang="pt-BR" sz="800">
                  <a:solidFill>
                    <a:schemeClr val="tx1">
                      <a:lumMod val="85000"/>
                      <a:lumOff val="15000"/>
                    </a:schemeClr>
                  </a:solidFill>
                  <a:latin typeface="Graphik Light" panose="020B0403030202060203" pitchFamily="34" charset="0"/>
                </a:rPr>
                <a:t>Accenture é nomeada líder em serviços de Pagamentos e cartões 2023</a:t>
              </a:r>
            </a:p>
            <a:p>
              <a:r>
                <a:rPr lang="pt-BR" sz="800">
                  <a:solidFill>
                    <a:srgbClr val="A62BF8"/>
                  </a:solidFill>
                  <a:latin typeface="Graphik Light" panose="020B0403030202060203" pitchFamily="34" charset="0"/>
                  <a:hlinkClick r:id="rId5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Leia Mais</a:t>
              </a:r>
              <a:endParaRPr lang="pt-BR" sz="800">
                <a:solidFill>
                  <a:srgbClr val="A62BF8"/>
                </a:solidFill>
                <a:latin typeface="Graphik Light" panose="020B0403030202060203" pitchFamily="34" charset="0"/>
              </a:endParaRPr>
            </a:p>
          </p:txBody>
        </p:sp>
        <p:pic>
          <p:nvPicPr>
            <p:cNvPr id="29" name="Picture 28" descr="A close-up of a logo&#10;&#10;Description automatically generated">
              <a:extLst>
                <a:ext uri="{FF2B5EF4-FFF2-40B4-BE49-F238E27FC236}">
                  <a16:creationId xmlns:a16="http://schemas.microsoft.com/office/drawing/2014/main" id="{452BF671-D672-5EB0-D76E-227D68F0D47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066" b="25104"/>
            <a:stretch/>
          </p:blipFill>
          <p:spPr>
            <a:xfrm>
              <a:off x="10353586" y="5358067"/>
              <a:ext cx="980293" cy="261437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C5A6247D-D11C-BFD9-FAC9-4A666FC8DA8C}"/>
                </a:ext>
              </a:extLst>
            </p:cNvPr>
            <p:cNvSpPr txBox="1"/>
            <p:nvPr/>
          </p:nvSpPr>
          <p:spPr>
            <a:xfrm>
              <a:off x="10324133" y="5623346"/>
              <a:ext cx="1576992" cy="486522"/>
            </a:xfrm>
            <a:prstGeom prst="rect">
              <a:avLst/>
            </a:prstGeom>
            <a:noFill/>
          </p:spPr>
          <p:txBody>
            <a:bodyPr wrap="square" lIns="36000" tIns="36000" rIns="36000" bIns="36000">
              <a:spAutoFit/>
            </a:bodyPr>
            <a:lstStyle/>
            <a:p>
              <a:r>
                <a:rPr lang="pt-BR" sz="800">
                  <a:solidFill>
                    <a:schemeClr val="tx1">
                      <a:lumMod val="85000"/>
                      <a:lumOff val="15000"/>
                    </a:schemeClr>
                  </a:solidFill>
                  <a:latin typeface="Graphik Light" panose="020B0403030202060203" pitchFamily="34" charset="0"/>
                </a:rPr>
                <a:t>Accenture é nomeada líder em serviços de TI em Bancos 2022</a:t>
              </a:r>
            </a:p>
            <a:p>
              <a:r>
                <a:rPr lang="pt-BR" sz="800">
                  <a:solidFill>
                    <a:srgbClr val="A62BF8"/>
                  </a:solidFill>
                  <a:latin typeface="Graphik Light" panose="020B0403030202060203" pitchFamily="34" charset="0"/>
                  <a:hlinkClick r:id="rId8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Leia Mais</a:t>
              </a:r>
              <a:endParaRPr lang="pt-BR" sz="800">
                <a:solidFill>
                  <a:srgbClr val="A62BF8"/>
                </a:solidFill>
                <a:latin typeface="Graphik Light" panose="020B0403030202060203" pitchFamily="34" charset="0"/>
              </a:endParaRPr>
            </a:p>
          </p:txBody>
        </p:sp>
        <p:pic>
          <p:nvPicPr>
            <p:cNvPr id="31" name="Picture 30" descr="A close-up of a logo&#10;&#10;Description automatically generated">
              <a:extLst>
                <a:ext uri="{FF2B5EF4-FFF2-40B4-BE49-F238E27FC236}">
                  <a16:creationId xmlns:a16="http://schemas.microsoft.com/office/drawing/2014/main" id="{FC72C2FE-005D-DF3C-5C5E-7C41232CB87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066" b="25104"/>
            <a:stretch/>
          </p:blipFill>
          <p:spPr>
            <a:xfrm>
              <a:off x="8651773" y="5331897"/>
              <a:ext cx="980293" cy="261437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511D08FE-D935-1DB4-7A34-30F98F7B06B6}"/>
                </a:ext>
              </a:extLst>
            </p:cNvPr>
            <p:cNvSpPr txBox="1"/>
            <p:nvPr/>
          </p:nvSpPr>
          <p:spPr>
            <a:xfrm>
              <a:off x="8622321" y="5623346"/>
              <a:ext cx="1576992" cy="486522"/>
            </a:xfrm>
            <a:prstGeom prst="rect">
              <a:avLst/>
            </a:prstGeom>
            <a:noFill/>
          </p:spPr>
          <p:txBody>
            <a:bodyPr wrap="square" lIns="36000" tIns="36000" rIns="36000" bIns="36000">
              <a:spAutoFit/>
            </a:bodyPr>
            <a:lstStyle/>
            <a:p>
              <a:r>
                <a:rPr lang="pt-BR" sz="800">
                  <a:solidFill>
                    <a:schemeClr val="tx1">
                      <a:lumMod val="85000"/>
                      <a:lumOff val="15000"/>
                    </a:schemeClr>
                  </a:solidFill>
                  <a:latin typeface="Graphik Light" panose="020B0403030202060203" pitchFamily="34" charset="0"/>
                </a:rPr>
                <a:t>Accenture é nomeada líder em serviços de TI para Empréstimos 2023</a:t>
              </a:r>
            </a:p>
            <a:p>
              <a:r>
                <a:rPr lang="pt-BR" sz="800">
                  <a:solidFill>
                    <a:srgbClr val="A62BF8"/>
                  </a:solidFill>
                  <a:latin typeface="Graphik Light" panose="020B0403030202060203" pitchFamily="34" charset="0"/>
                  <a:hlinkClick r:id="rId9"/>
                </a:rPr>
                <a:t>Leia Mais</a:t>
              </a:r>
              <a:endParaRPr lang="pt-BR" sz="800">
                <a:solidFill>
                  <a:srgbClr val="A62BF8"/>
                </a:solidFill>
                <a:latin typeface="Graphik Light" panose="020B0403030202060203" pitchFamily="34" charset="0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09B5A7D-4BF8-A531-06FD-45E93CBE79E9}"/>
              </a:ext>
            </a:extLst>
          </p:cNvPr>
          <p:cNvGrpSpPr/>
          <p:nvPr/>
        </p:nvGrpSpPr>
        <p:grpSpPr>
          <a:xfrm>
            <a:off x="391755" y="3500242"/>
            <a:ext cx="6408000" cy="2828741"/>
            <a:chOff x="391755" y="3593410"/>
            <a:chExt cx="6408000" cy="2828741"/>
          </a:xfrm>
        </p:grpSpPr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575476E4-06D9-3B72-7E46-95A4BDA4B34C}"/>
                </a:ext>
              </a:extLst>
            </p:cNvPr>
            <p:cNvSpPr/>
            <p:nvPr/>
          </p:nvSpPr>
          <p:spPr>
            <a:xfrm>
              <a:off x="391755" y="3810940"/>
              <a:ext cx="6408000" cy="579199"/>
            </a:xfrm>
            <a:prstGeom prst="roundRect">
              <a:avLst>
                <a:gd name="adj" fmla="val 11811"/>
              </a:avLst>
            </a:prstGeom>
            <a:solidFill>
              <a:schemeClr val="bg1">
                <a:lumMod val="95000"/>
              </a:schemeClr>
            </a:solidFill>
            <a:ln w="63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t"/>
            <a:lstStyle/>
            <a:p>
              <a:r>
                <a:rPr lang="pt-BR" sz="900" b="1">
                  <a:solidFill>
                    <a:schemeClr val="accent2"/>
                  </a:solidFill>
                </a:rPr>
                <a:t>GRANDES CONGLOMERADOS FINANCEIROS</a:t>
              </a:r>
            </a:p>
          </p:txBody>
        </p: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510A90B4-D8C3-44F7-5A69-5BF54D823F4F}"/>
                </a:ext>
              </a:extLst>
            </p:cNvPr>
            <p:cNvSpPr/>
            <p:nvPr/>
          </p:nvSpPr>
          <p:spPr>
            <a:xfrm>
              <a:off x="391755" y="4487163"/>
              <a:ext cx="6408000" cy="579199"/>
            </a:xfrm>
            <a:prstGeom prst="roundRect">
              <a:avLst>
                <a:gd name="adj" fmla="val 8873"/>
              </a:avLst>
            </a:prstGeom>
            <a:solidFill>
              <a:schemeClr val="bg1">
                <a:lumMod val="95000"/>
              </a:schemeClr>
            </a:solidFill>
            <a:ln w="63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t"/>
            <a:lstStyle/>
            <a:p>
              <a:r>
                <a:rPr lang="pt-BR" sz="900" b="1">
                  <a:solidFill>
                    <a:schemeClr val="accent2"/>
                  </a:solidFill>
                </a:rPr>
                <a:t>FINTECHS E PLAYERS DIGITAIS</a:t>
              </a:r>
            </a:p>
          </p:txBody>
        </p: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A3913865-D2A4-5D9B-A316-105BD87BAD99}"/>
                </a:ext>
              </a:extLst>
            </p:cNvPr>
            <p:cNvSpPr/>
            <p:nvPr/>
          </p:nvSpPr>
          <p:spPr>
            <a:xfrm>
              <a:off x="391755" y="5158625"/>
              <a:ext cx="6408000" cy="579199"/>
            </a:xfrm>
            <a:prstGeom prst="roundRect">
              <a:avLst>
                <a:gd name="adj" fmla="val 7405"/>
              </a:avLst>
            </a:prstGeom>
            <a:solidFill>
              <a:schemeClr val="bg1">
                <a:lumMod val="95000"/>
              </a:schemeClr>
            </a:solidFill>
            <a:ln w="63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t"/>
            <a:lstStyle/>
            <a:p>
              <a:r>
                <a:rPr lang="pt-BR" sz="900" b="1">
                  <a:solidFill>
                    <a:schemeClr val="accent2"/>
                  </a:solidFill>
                </a:rPr>
                <a:t> PAGAMENTOS</a:t>
              </a:r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7D0195CB-8273-4F2D-4FE0-DFDBE8615269}"/>
                </a:ext>
              </a:extLst>
            </p:cNvPr>
            <p:cNvSpPr/>
            <p:nvPr/>
          </p:nvSpPr>
          <p:spPr>
            <a:xfrm>
              <a:off x="391755" y="5842952"/>
              <a:ext cx="6408000" cy="579199"/>
            </a:xfrm>
            <a:prstGeom prst="roundRect">
              <a:avLst>
                <a:gd name="adj" fmla="val 4467"/>
              </a:avLst>
            </a:prstGeom>
            <a:solidFill>
              <a:schemeClr val="bg1">
                <a:lumMod val="95000"/>
              </a:schemeClr>
            </a:solidFill>
            <a:ln w="63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t"/>
            <a:lstStyle/>
            <a:p>
              <a:r>
                <a:rPr lang="pt-BR" sz="900" b="1">
                  <a:solidFill>
                    <a:schemeClr val="accent2"/>
                  </a:solidFill>
                </a:rPr>
                <a:t>SEGURADORAS</a:t>
              </a:r>
            </a:p>
          </p:txBody>
        </p:sp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FE575EC4-41BE-41FF-9514-3DD6B6B8725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26125" y="4100554"/>
              <a:ext cx="929614" cy="190294"/>
            </a:xfrm>
            <a:prstGeom prst="rect">
              <a:avLst/>
            </a:prstGeom>
          </p:spPr>
        </p:pic>
        <p:pic>
          <p:nvPicPr>
            <p:cNvPr id="39" name="Picture 2">
              <a:extLst>
                <a:ext uri="{FF2B5EF4-FFF2-40B4-BE49-F238E27FC236}">
                  <a16:creationId xmlns:a16="http://schemas.microsoft.com/office/drawing/2014/main" id="{2668728B-C82D-ABD2-FBB2-902D6BD484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32929" y="4027993"/>
              <a:ext cx="1125274" cy="33541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0" name="Picture 4">
              <a:extLst>
                <a:ext uri="{FF2B5EF4-FFF2-40B4-BE49-F238E27FC236}">
                  <a16:creationId xmlns:a16="http://schemas.microsoft.com/office/drawing/2014/main" id="{27C20D99-C2B3-DF2A-D9D3-2685CD9091D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92572" y="4099238"/>
              <a:ext cx="1237801" cy="1929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1D0DCB42-D519-144C-50ED-E46AA09AD19B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5495035" y="4074141"/>
              <a:ext cx="1101845" cy="243119"/>
            </a:xfrm>
            <a:prstGeom prst="rect">
              <a:avLst/>
            </a:prstGeom>
          </p:spPr>
        </p:pic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383E5503-0996-8975-ACC8-203E33051636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629848" y="4775256"/>
              <a:ext cx="447462" cy="227630"/>
            </a:xfrm>
            <a:prstGeom prst="rect">
              <a:avLst/>
            </a:prstGeom>
          </p:spPr>
        </p:pic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C17DC4E3-7CB4-A849-4B75-2CA1C75ACD75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1337454" y="4820577"/>
              <a:ext cx="929614" cy="170931"/>
            </a:xfrm>
            <a:prstGeom prst="rect">
              <a:avLst/>
            </a:prstGeom>
          </p:spPr>
        </p:pic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181FD0A1-6662-DB13-139C-417CF7153AE1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2527212" y="4759216"/>
              <a:ext cx="678735" cy="256287"/>
            </a:xfrm>
            <a:prstGeom prst="rect">
              <a:avLst/>
            </a:prstGeom>
          </p:spPr>
        </p:pic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9F2A7AA8-18B6-0880-B580-4BF123035B2A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3466091" y="4763065"/>
              <a:ext cx="1085668" cy="259198"/>
            </a:xfrm>
            <a:prstGeom prst="rect">
              <a:avLst/>
            </a:prstGeom>
          </p:spPr>
        </p:pic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F054F1C7-B376-DD52-C510-AFAD9F39EB56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4811903" y="4668905"/>
              <a:ext cx="792705" cy="369252"/>
            </a:xfrm>
            <a:prstGeom prst="rect">
              <a:avLst/>
            </a:prstGeom>
          </p:spPr>
        </p:pic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048A192A-5D55-4330-0F33-5F87919178C7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5864751" y="4732253"/>
              <a:ext cx="490877" cy="298689"/>
            </a:xfrm>
            <a:prstGeom prst="rect">
              <a:avLst/>
            </a:prstGeom>
          </p:spPr>
        </p:pic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10E444CC-C871-5047-B654-D89388BB0E6B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2061435" y="5412653"/>
              <a:ext cx="577217" cy="298507"/>
            </a:xfrm>
            <a:prstGeom prst="rect">
              <a:avLst/>
            </a:prstGeom>
          </p:spPr>
        </p:pic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3C3C60C5-DA9D-738D-BDE3-A38035C5ABF9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5694716" y="5321535"/>
              <a:ext cx="929614" cy="480744"/>
            </a:xfrm>
            <a:prstGeom prst="rect">
              <a:avLst/>
            </a:prstGeom>
          </p:spPr>
        </p:pic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041A4370-F307-30D2-5FE8-111ADBA1CE72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521069" y="5397627"/>
              <a:ext cx="556241" cy="328559"/>
            </a:xfrm>
            <a:prstGeom prst="rect">
              <a:avLst/>
            </a:prstGeom>
          </p:spPr>
        </p:pic>
        <p:pic>
          <p:nvPicPr>
            <p:cNvPr id="51" name="Picture 50">
              <a:extLst>
                <a:ext uri="{FF2B5EF4-FFF2-40B4-BE49-F238E27FC236}">
                  <a16:creationId xmlns:a16="http://schemas.microsoft.com/office/drawing/2014/main" id="{B6EDD71D-56B8-7A6B-91F7-2C9CD3CF79A2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1227892" y="5432142"/>
              <a:ext cx="682961" cy="259528"/>
            </a:xfrm>
            <a:prstGeom prst="rect">
              <a:avLst/>
            </a:prstGeom>
          </p:spPr>
        </p:pic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A9D10120-F4A1-FAF4-E8A1-3323789922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2789234" y="5446578"/>
              <a:ext cx="777743" cy="230657"/>
            </a:xfrm>
            <a:prstGeom prst="rect">
              <a:avLst/>
            </a:prstGeom>
          </p:spPr>
        </p:pic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76124072-4B65-7862-4B05-A98ABA6E6552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4837100" y="5438835"/>
              <a:ext cx="707037" cy="246144"/>
            </a:xfrm>
            <a:prstGeom prst="rect">
              <a:avLst/>
            </a:prstGeom>
          </p:spPr>
        </p:pic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F79B8D96-46F2-B404-A8A4-DC4C6E856479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3717559" y="5418538"/>
              <a:ext cx="968959" cy="286738"/>
            </a:xfrm>
            <a:prstGeom prst="rect">
              <a:avLst/>
            </a:prstGeom>
          </p:spPr>
        </p:pic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4BE094F3-5A70-0B65-8306-BC9634DBB931}"/>
                </a:ext>
              </a:extLst>
            </p:cNvPr>
            <p:cNvSpPr txBox="1"/>
            <p:nvPr/>
          </p:nvSpPr>
          <p:spPr>
            <a:xfrm>
              <a:off x="436880" y="3593410"/>
              <a:ext cx="4341110" cy="180909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l" defTabSz="228600">
                <a:spcAft>
                  <a:spcPts val="1200"/>
                </a:spcAft>
              </a:pPr>
              <a:r>
                <a:rPr lang="pt-BR" sz="900" noProof="0"/>
                <a:t>ALGUNS DE NOSSOS CLIENTES DE SERVIÇOS FINANCEIROS NO BRASIL</a:t>
              </a:r>
            </a:p>
          </p:txBody>
        </p:sp>
        <p:pic>
          <p:nvPicPr>
            <p:cNvPr id="56" name="Picture 55">
              <a:extLst>
                <a:ext uri="{FF2B5EF4-FFF2-40B4-BE49-F238E27FC236}">
                  <a16:creationId xmlns:a16="http://schemas.microsoft.com/office/drawing/2014/main" id="{D0FB1650-9BCA-6E1C-B029-AF3EF489663F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2354" y="6110116"/>
              <a:ext cx="1000221" cy="232083"/>
            </a:xfrm>
            <a:prstGeom prst="rect">
              <a:avLst/>
            </a:prstGeom>
          </p:spPr>
        </p:pic>
        <p:pic>
          <p:nvPicPr>
            <p:cNvPr id="57" name="Picture 2" descr="Bradesco Oficinas &gt; Mais Procedimentos">
              <a:extLst>
                <a:ext uri="{FF2B5EF4-FFF2-40B4-BE49-F238E27FC236}">
                  <a16:creationId xmlns:a16="http://schemas.microsoft.com/office/drawing/2014/main" id="{1C321568-ECC5-1CCE-F14D-8C7CE9AF17F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6670" b="6354"/>
            <a:stretch>
              <a:fillRect/>
            </a:stretch>
          </p:blipFill>
          <p:spPr bwMode="auto">
            <a:xfrm>
              <a:off x="1763677" y="5998365"/>
              <a:ext cx="980323" cy="38410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8" name="Picture 4" descr="SulAmérica • RC Saúde">
              <a:extLst>
                <a:ext uri="{FF2B5EF4-FFF2-40B4-BE49-F238E27FC236}">
                  <a16:creationId xmlns:a16="http://schemas.microsoft.com/office/drawing/2014/main" id="{3146C968-1C6B-5BD5-699C-5C1A7DD0643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9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55102" y="6009392"/>
              <a:ext cx="1191627" cy="30259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9" name="Picture 6" descr="Prudential – Casa do Seguro">
              <a:extLst>
                <a:ext uri="{FF2B5EF4-FFF2-40B4-BE49-F238E27FC236}">
                  <a16:creationId xmlns:a16="http://schemas.microsoft.com/office/drawing/2014/main" id="{8060D2C6-2182-2CEC-E448-1C8D757C7FF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0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57831" y="5946333"/>
              <a:ext cx="1140279" cy="4299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0" name="Picture 8" descr="HDI Seguros e HDI Global Seguros concluem com sucesso a união no Brasil |  SindsegSP">
              <a:extLst>
                <a:ext uri="{FF2B5EF4-FFF2-40B4-BE49-F238E27FC236}">
                  <a16:creationId xmlns:a16="http://schemas.microsoft.com/office/drawing/2014/main" id="{A9A80DEE-A57A-C3F0-9679-33D1E3F51A9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1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09210" y="5968225"/>
              <a:ext cx="862231" cy="3849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1" name="Picture 60" descr="An orange square with black text&#10;&#10;AI-generated content may be incorrect.">
              <a:extLst>
                <a:ext uri="{FF2B5EF4-FFF2-40B4-BE49-F238E27FC236}">
                  <a16:creationId xmlns:a16="http://schemas.microsoft.com/office/drawing/2014/main" id="{06171766-600D-BA74-E00C-12B872568160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/>
            <a:stretch>
              <a:fillRect/>
            </a:stretch>
          </p:blipFill>
          <p:spPr>
            <a:xfrm>
              <a:off x="3367206" y="4046356"/>
              <a:ext cx="298689" cy="29868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434321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DAB4E39-E30E-FE93-5468-AC30FEF3C9C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6D22CC-C406-A8CC-9585-FDF8E7824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5200" y="6488234"/>
            <a:ext cx="4114800" cy="198318"/>
          </a:xfrm>
        </p:spPr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5573F8-AB97-C846-60CB-202117F90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4746" y="6490025"/>
            <a:ext cx="326254" cy="201168"/>
          </a:xfrm>
        </p:spPr>
        <p:txBody>
          <a:bodyPr/>
          <a:lstStyle/>
          <a:p>
            <a:fld id="{1F90F471-3972-4120-B8B3-0237DE626C35}" type="slidenum">
              <a:rPr lang="pt-BR" smtClean="0"/>
              <a:pPr/>
              <a:t>2</a:t>
            </a:fld>
            <a:endParaRPr lang="pt-BR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CE802C8-6229-F9CD-D8EB-539C5F891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6027607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Accenture Template">
  <a:themeElements>
    <a:clrScheme name="Accenture 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Graphik">
      <a:majorFont>
        <a:latin typeface="Graphik Semibold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custClrLst>
    <a:custClr name="Accent Purple 1">
      <a:srgbClr val="B455AA"/>
    </a:custClr>
    <a:custClr name="Accent Purple 2">
      <a:srgbClr val="A055F5"/>
    </a:custClr>
    <a:custClr name="Accent Purple 3">
      <a:srgbClr val="BE82FF"/>
    </a:custClr>
    <a:custClr name="Accent Purple 4">
      <a:srgbClr val="DCAFFF"/>
    </a:custClr>
    <a:custClr name="Accent Purple 5">
      <a:srgbClr val="E6DC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ue">
      <a:srgbClr val="0041F0"/>
    </a:custClr>
    <a:custClr name="Light Blue">
      <a:srgbClr val="00FFFF"/>
    </a:custClr>
    <a:custClr name="Green">
      <a:srgbClr val="64FF50"/>
    </a:custClr>
    <a:custClr name="Blue Green">
      <a:srgbClr val="05F0A5"/>
    </a:custClr>
    <a:custClr name="Red">
      <a:srgbClr val="FF3246"/>
    </a:custClr>
    <a:custClr name="Pink">
      <a:srgbClr val="FF50A0"/>
    </a:custClr>
    <a:custClr name="Orange">
      <a:srgbClr val="FF7800"/>
    </a:custClr>
    <a:custClr name="Yellow">
      <a:srgbClr val="FFEB32"/>
    </a:custClr>
    <a:custClr name="BLANK">
      <a:srgbClr val="FFFFFF"/>
    </a:custClr>
    <a:custClr name="BLANK">
      <a:srgbClr val="FFFFFF"/>
    </a:custClr>
  </a:custClrLst>
  <a:extLst>
    <a:ext uri="{05A4C25C-085E-4340-85A3-A5531E510DB2}">
      <thm15:themeFamily xmlns:thm15="http://schemas.microsoft.com/office/thememl/2012/main" name="IMP_Acc_PPT_Tmplt_Graphik_210225_Fixed_Accessible.potx" id="{80BF15C9-A5DA-472C-9F1E-82F4EBB43D59}" vid="{02DD174B-CE7A-418B-90DA-AC9D16AAE59C}"/>
    </a:ext>
  </a:extLst>
</a:theme>
</file>

<file path=ppt/theme/theme2.xml><?xml version="1.0" encoding="utf-8"?>
<a:theme xmlns:a="http://schemas.openxmlformats.org/drawingml/2006/main" name="Office Theme">
  <a:themeElements>
    <a:clrScheme name="Acc_Colors_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Acc_Fonts_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39EF807C2354943A31A31FB9E6B8A38" ma:contentTypeVersion="2" ma:contentTypeDescription="Create a new document." ma:contentTypeScope="" ma:versionID="f03a519f31e72ece704f842ab0e4ba72">
  <xsd:schema xmlns:xsd="http://www.w3.org/2001/XMLSchema" xmlns:xs="http://www.w3.org/2001/XMLSchema" xmlns:p="http://schemas.microsoft.com/office/2006/metadata/properties" xmlns:ns2="5d757215-fbc3-4533-822f-84ec73f97a40" targetNamespace="http://schemas.microsoft.com/office/2006/metadata/properties" ma:root="true" ma:fieldsID="1cb72d0557a9ded9ba0b46b2c3d18190" ns2:_="">
    <xsd:import namespace="5d757215-fbc3-4533-822f-84ec73f97a4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757215-fbc3-4533-822f-84ec73f97a4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6BFFC05-B2F6-4CED-BE65-F75B1EB7AD7B}">
  <ds:schemaRefs>
    <ds:schemaRef ds:uri="http://purl.org/dc/dcmitype/"/>
    <ds:schemaRef ds:uri="http://purl.org/dc/terms/"/>
    <ds:schemaRef ds:uri="http://purl.org/dc/elements/1.1/"/>
    <ds:schemaRef ds:uri="http://schemas.microsoft.com/office/2006/metadata/properties"/>
    <ds:schemaRef ds:uri="http://schemas.microsoft.com/office/2006/documentManagement/types"/>
    <ds:schemaRef ds:uri="f09dec34-126f-4759-b06d-a920de720ce4"/>
    <ds:schemaRef ds:uri="http://schemas.openxmlformats.org/package/2006/metadata/core-properties"/>
    <ds:schemaRef ds:uri="http://schemas.microsoft.com/office/infopath/2007/PartnerControls"/>
    <ds:schemaRef ds:uri="17c09f85-56e7-4417-b5d2-7fa4154de313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CFB95095-D3DE-4DE5-BB17-E1EF8BB262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d757215-fbc3-4533-822f-84ec73f97a4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9831B46-6CD1-40D2-9FB5-3E58559F90A3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Acc_PPT_Template_Graphik</Template>
  <TotalTime>68</TotalTime>
  <Words>237</Words>
  <Application>Microsoft Office PowerPoint</Application>
  <PresentationFormat>Widescreen</PresentationFormat>
  <Paragraphs>36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Graphik</vt:lpstr>
      <vt:lpstr>Graphik Light</vt:lpstr>
      <vt:lpstr>Graphik Semibold</vt:lpstr>
      <vt:lpstr>Accenture Template</vt:lpstr>
      <vt:lpstr>think-cell Slide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Accenture PowerPoint Template 16x9 Graphik</dc:subject>
  <dc:creator>Graciotti, Brenno</dc:creator>
  <cp:lastModifiedBy>Graciotti, Brenno</cp:lastModifiedBy>
  <cp:revision>5</cp:revision>
  <cp:lastPrinted>2020-11-17T04:05:48Z</cp:lastPrinted>
  <dcterms:created xsi:type="dcterms:W3CDTF">2023-07-17T21:32:38Z</dcterms:created>
  <dcterms:modified xsi:type="dcterms:W3CDTF">2025-12-10T21:56:36Z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0x010100339EF807C2354943A31A31FB9E6B8A38</vt:lpwstr>
  </property>
</Properties>
</file>