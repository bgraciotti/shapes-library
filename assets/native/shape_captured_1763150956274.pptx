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53D08E-667C-5912-D118-37CD0B519D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50540-5AB2-925B-6E5A-8E79BB96A0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8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7CBEAA-608A-76B7-4032-507E5DDD18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EDA5B-D710-E270-CD7F-1476B94CB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133F78-51FC-B49A-E617-842E4602C8BA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639251" y="1272786"/>
            <a:ext cx="10913499" cy="51077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Strategic Initiative Definition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9A826A-2372-15A0-FAA2-09C54510063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43201" y="2470750"/>
            <a:ext cx="3622469" cy="167764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2BFE4B-19BC-0E9A-8EE6-263904353F5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50356" y="2888105"/>
            <a:ext cx="3387461" cy="11122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Establish a Portal that enables clients to select BaaS services desired, perform onboarding processes and start using the service through self-services, becoming the main channel for the platform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6C2C4-CE5F-4130-7988-7E7568D3BE7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535826" y="2470750"/>
            <a:ext cx="3381057" cy="167764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Key benefits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21CB0-3934-83EE-7BDB-48F39CF6D83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5840" y="2888105"/>
            <a:ext cx="3161711" cy="11122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Sales: main channels for customers to hire BaaS services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Reduced costs: by providing self-service, cost to serve is reduced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E9838-701A-BEA3-8768-1F69FB014CA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987040" y="2470750"/>
            <a:ext cx="3381057" cy="167764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Interdependencies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4960D-D5E3-3655-BD01-38B30AA98D0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087053" y="2888105"/>
            <a:ext cx="3161711" cy="111226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Core system needs to be modernized to expose its services as APIs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Sales team should be hired first to guide the portal development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40DABE-B4B8-0112-97E5-C9F6183DB60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843201" y="4386263"/>
            <a:ext cx="3622469" cy="167798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Financials (expected cash-flow – US$ M)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52ED17-7030-7837-7ABE-EF8528F29B0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50356" y="4803775"/>
            <a:ext cx="3387461" cy="11128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C51ACD-D221-28D7-86B5-8AD8E6E7882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535826" y="4386263"/>
            <a:ext cx="3381057" cy="167798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Milestones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1DF3E6-75DA-35F1-0B5D-DD2B614AAA2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635840" y="4803775"/>
            <a:ext cx="3161711" cy="11128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Q1/24: Kick-off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Q3/24: Launch for family/friends clients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Q4/24: Full market launch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41A82A-F53F-CCCE-CB40-F4901B8E409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987040" y="4386263"/>
            <a:ext cx="3381057" cy="167798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accent1"/>
                </a:solidFill>
                <a:cs typeface="Times New Roman" panose="02020603050405020304" pitchFamily="18" charset="0"/>
              </a:rPr>
              <a:t>Risks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5E1394-AD86-F4B7-5D9B-26B19B30D7C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8087053" y="4803775"/>
            <a:ext cx="3161711" cy="11128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Delays in core modernization impact Portal launch, delaying expected revenues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/>
                </a:solidFill>
              </a:rPr>
              <a:t>Over usage of customer support despite self-services, increasing operating costs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1FE071-A735-1EF8-8661-2CF8126580A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43200" y="1829499"/>
            <a:ext cx="10550757" cy="52297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9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FB3A2E-FFF2-11A9-4920-8907A46FEC7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528366" y="1906515"/>
            <a:ext cx="9720399" cy="36894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  <a:effectLst>
            <a:innerShdw blurRad="50800" dist="50800" dir="13500000">
              <a:schemeClr val="tx1">
                <a:lumMod val="40000"/>
                <a:lumOff val="60000"/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50" b="1" dirty="0">
                <a:solidFill>
                  <a:schemeClr val="tx1"/>
                </a:solidFill>
              </a:rPr>
              <a:t>Build and operate API portal for BaaS services (sales, onboarding and operations)</a:t>
            </a:r>
          </a:p>
        </p:txBody>
      </p:sp>
    </p:spTree>
    <p:extLst>
      <p:ext uri="{BB962C8B-B14F-4D97-AF65-F5344CB8AC3E}">
        <p14:creationId xmlns:p14="http://schemas.microsoft.com/office/powerpoint/2010/main" val="187071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mgj61NeNeMmOJcHLyg37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t9CMVMngJvlIiNHeWjyn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971AQJV3szf1gLHJq2xU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TMb89nEFrLuOTj7O3N6o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4dqSZppGzWzCbckVt0Yw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Ph79p9fVxeSMKaHSwhig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6O8g1dEEFn5elA8I6IXO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ITjuo3IuZpyRM2P0tkzL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FHXM7F_GQuThh4a4LNrB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FvQeryF4rhoKD6_OA1Bl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zJsb5M0fR1_J5obmRYFo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yM0r1R3SnDeq7hwMZeF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IXC47_04FvzONiQIC9Bc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8fXUYa_jELtmtdjrGLr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VvIwfeL05uWd_s9UsDVCg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167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Semibold</vt:lpstr>
      <vt:lpstr>Times New Roman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2025-11-14T20:09:21Z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