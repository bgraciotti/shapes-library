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43FF3B-E46A-72E6-17B5-E8C9DE38A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BB69E-2557-3385-B1EF-B83ABA31B9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6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6F72-E616-F222-8ED0-1A1FC49A1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5D8E36-5520-8AF3-0798-EE57195430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356FF-7FC3-3A59-260E-6FFB8B4E4F92}"/>
              </a:ext>
            </a:extLst>
          </p:cNvPr>
          <p:cNvSpPr>
            <a:spLocks/>
          </p:cNvSpPr>
          <p:nvPr/>
        </p:nvSpPr>
        <p:spPr>
          <a:xfrm>
            <a:off x="368330" y="3941173"/>
            <a:ext cx="2096241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2 | Situação atual Grupo GC</a:t>
            </a:r>
            <a:b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</a:b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Entendimento do cenário atual do Grupo GC (portfólio</a:t>
            </a:r>
            <a:r>
              <a:rPr lang="pt-BR" sz="1050" dirty="0">
                <a:solidFill>
                  <a:schemeClr val="tx1"/>
                </a:solidFill>
                <a:latin typeface="Graphik" panose="020B0503030202060203" pitchFamily="34" charset="0"/>
              </a:rPr>
              <a:t>, clientes, arquitetura e modelo de operação)</a:t>
            </a:r>
            <a:endParaRPr lang="pt-BR" sz="1050" noProof="0" dirty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FEFC32-EEFB-C25A-54A8-AA231883E14C}"/>
              </a:ext>
            </a:extLst>
          </p:cNvPr>
          <p:cNvSpPr>
            <a:spLocks/>
          </p:cNvSpPr>
          <p:nvPr/>
        </p:nvSpPr>
        <p:spPr>
          <a:xfrm>
            <a:off x="1126113" y="3402895"/>
            <a:ext cx="516359" cy="513899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4B1F6-23E5-4B4C-88EA-19C2711C0A87}"/>
              </a:ext>
            </a:extLst>
          </p:cNvPr>
          <p:cNvSpPr>
            <a:spLocks/>
          </p:cNvSpPr>
          <p:nvPr/>
        </p:nvSpPr>
        <p:spPr>
          <a:xfrm>
            <a:off x="368330" y="2456024"/>
            <a:ext cx="2096241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1 | Direcionadores Estratégicos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Entrevistas com executivos Grupo GC para capturar direcionadores e </a:t>
            </a:r>
            <a:r>
              <a:rPr lang="pt-BR" sz="1050" i="1" noProof="0" err="1">
                <a:solidFill>
                  <a:schemeClr val="tx1"/>
                </a:solidFill>
                <a:latin typeface="Graphik" panose="020B0503030202060203" pitchFamily="34" charset="0"/>
              </a:rPr>
              <a:t>guardrails</a:t>
            </a:r>
            <a:endParaRPr lang="pt-BR" sz="1050" i="1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E9F55A-8B89-BEAC-78BC-F7910B78E3C2}"/>
              </a:ext>
            </a:extLst>
          </p:cNvPr>
          <p:cNvSpPr>
            <a:spLocks/>
          </p:cNvSpPr>
          <p:nvPr/>
        </p:nvSpPr>
        <p:spPr>
          <a:xfrm>
            <a:off x="1126113" y="1921440"/>
            <a:ext cx="516359" cy="513899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grpSp>
        <p:nvGrpSpPr>
          <p:cNvPr id="8" name="Group 121">
            <a:extLst>
              <a:ext uri="{FF2B5EF4-FFF2-40B4-BE49-F238E27FC236}">
                <a16:creationId xmlns:a16="http://schemas.microsoft.com/office/drawing/2014/main" id="{0A372AFA-AABE-C171-B56A-7178707693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18279" y="1968568"/>
            <a:ext cx="332027" cy="392634"/>
            <a:chOff x="552" y="3156"/>
            <a:chExt cx="378" cy="447"/>
          </a:xfrm>
          <a:solidFill>
            <a:schemeClr val="bg1"/>
          </a:solidFill>
        </p:grpSpPr>
        <p:sp>
          <p:nvSpPr>
            <p:cNvPr id="9" name="Freeform 122">
              <a:extLst>
                <a:ext uri="{FF2B5EF4-FFF2-40B4-BE49-F238E27FC236}">
                  <a16:creationId xmlns:a16="http://schemas.microsoft.com/office/drawing/2014/main" id="{AD14AF8B-6181-3DD8-BEBE-3EE646CA1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3491"/>
              <a:ext cx="222" cy="112"/>
            </a:xfrm>
            <a:custGeom>
              <a:avLst/>
              <a:gdLst>
                <a:gd name="T0" fmla="*/ 108 w 145"/>
                <a:gd name="T1" fmla="*/ 0 h 75"/>
                <a:gd name="T2" fmla="*/ 68 w 145"/>
                <a:gd name="T3" fmla="*/ 35 h 75"/>
                <a:gd name="T4" fmla="*/ 37 w 145"/>
                <a:gd name="T5" fmla="*/ 66 h 75"/>
                <a:gd name="T6" fmla="*/ 9 w 145"/>
                <a:gd name="T7" fmla="*/ 38 h 75"/>
                <a:gd name="T8" fmla="*/ 37 w 145"/>
                <a:gd name="T9" fmla="*/ 10 h 75"/>
                <a:gd name="T10" fmla="*/ 52 w 145"/>
                <a:gd name="T11" fmla="*/ 17 h 75"/>
                <a:gd name="T12" fmla="*/ 54 w 145"/>
                <a:gd name="T13" fmla="*/ 19 h 75"/>
                <a:gd name="T14" fmla="*/ 44 w 145"/>
                <a:gd name="T15" fmla="*/ 17 h 75"/>
                <a:gd name="T16" fmla="*/ 38 w 145"/>
                <a:gd name="T17" fmla="*/ 21 h 75"/>
                <a:gd name="T18" fmla="*/ 39 w 145"/>
                <a:gd name="T19" fmla="*/ 25 h 75"/>
                <a:gd name="T20" fmla="*/ 42 w 145"/>
                <a:gd name="T21" fmla="*/ 27 h 75"/>
                <a:gd name="T22" fmla="*/ 63 w 145"/>
                <a:gd name="T23" fmla="*/ 31 h 75"/>
                <a:gd name="T24" fmla="*/ 64 w 145"/>
                <a:gd name="T25" fmla="*/ 31 h 75"/>
                <a:gd name="T26" fmla="*/ 64 w 145"/>
                <a:gd name="T27" fmla="*/ 31 h 75"/>
                <a:gd name="T28" fmla="*/ 65 w 145"/>
                <a:gd name="T29" fmla="*/ 30 h 75"/>
                <a:gd name="T30" fmla="*/ 65 w 145"/>
                <a:gd name="T31" fmla="*/ 30 h 75"/>
                <a:gd name="T32" fmla="*/ 66 w 145"/>
                <a:gd name="T33" fmla="*/ 30 h 75"/>
                <a:gd name="T34" fmla="*/ 66 w 145"/>
                <a:gd name="T35" fmla="*/ 30 h 75"/>
                <a:gd name="T36" fmla="*/ 67 w 145"/>
                <a:gd name="T37" fmla="*/ 29 h 75"/>
                <a:gd name="T38" fmla="*/ 68 w 145"/>
                <a:gd name="T39" fmla="*/ 28 h 75"/>
                <a:gd name="T40" fmla="*/ 68 w 145"/>
                <a:gd name="T41" fmla="*/ 28 h 75"/>
                <a:gd name="T42" fmla="*/ 68 w 145"/>
                <a:gd name="T43" fmla="*/ 28 h 75"/>
                <a:gd name="T44" fmla="*/ 68 w 145"/>
                <a:gd name="T45" fmla="*/ 27 h 75"/>
                <a:gd name="T46" fmla="*/ 72 w 145"/>
                <a:gd name="T47" fmla="*/ 6 h 75"/>
                <a:gd name="T48" fmla="*/ 71 w 145"/>
                <a:gd name="T49" fmla="*/ 3 h 75"/>
                <a:gd name="T50" fmla="*/ 68 w 145"/>
                <a:gd name="T51" fmla="*/ 1 h 75"/>
                <a:gd name="T52" fmla="*/ 65 w 145"/>
                <a:gd name="T53" fmla="*/ 1 h 75"/>
                <a:gd name="T54" fmla="*/ 63 w 145"/>
                <a:gd name="T55" fmla="*/ 4 h 75"/>
                <a:gd name="T56" fmla="*/ 61 w 145"/>
                <a:gd name="T57" fmla="*/ 13 h 75"/>
                <a:gd name="T58" fmla="*/ 60 w 145"/>
                <a:gd name="T59" fmla="*/ 12 h 75"/>
                <a:gd name="T60" fmla="*/ 37 w 145"/>
                <a:gd name="T61" fmla="*/ 0 h 75"/>
                <a:gd name="T62" fmla="*/ 0 w 145"/>
                <a:gd name="T63" fmla="*/ 38 h 75"/>
                <a:gd name="T64" fmla="*/ 37 w 145"/>
                <a:gd name="T65" fmla="*/ 75 h 75"/>
                <a:gd name="T66" fmla="*/ 76 w 145"/>
                <a:gd name="T67" fmla="*/ 40 h 75"/>
                <a:gd name="T68" fmla="*/ 108 w 145"/>
                <a:gd name="T69" fmla="*/ 10 h 75"/>
                <a:gd name="T70" fmla="*/ 136 w 145"/>
                <a:gd name="T71" fmla="*/ 38 h 75"/>
                <a:gd name="T72" fmla="*/ 108 w 145"/>
                <a:gd name="T73" fmla="*/ 66 h 75"/>
                <a:gd name="T74" fmla="*/ 85 w 145"/>
                <a:gd name="T75" fmla="*/ 53 h 75"/>
                <a:gd name="T76" fmla="*/ 82 w 145"/>
                <a:gd name="T77" fmla="*/ 51 h 75"/>
                <a:gd name="T78" fmla="*/ 81 w 145"/>
                <a:gd name="T79" fmla="*/ 51 h 75"/>
                <a:gd name="T80" fmla="*/ 79 w 145"/>
                <a:gd name="T81" fmla="*/ 51 h 75"/>
                <a:gd name="T82" fmla="*/ 77 w 145"/>
                <a:gd name="T83" fmla="*/ 58 h 75"/>
                <a:gd name="T84" fmla="*/ 108 w 145"/>
                <a:gd name="T85" fmla="*/ 75 h 75"/>
                <a:gd name="T86" fmla="*/ 145 w 145"/>
                <a:gd name="T87" fmla="*/ 38 h 75"/>
                <a:gd name="T88" fmla="*/ 108 w 145"/>
                <a:gd name="T8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5" h="75">
                  <a:moveTo>
                    <a:pt x="108" y="0"/>
                  </a:moveTo>
                  <a:cubicBezTo>
                    <a:pt x="91" y="0"/>
                    <a:pt x="79" y="18"/>
                    <a:pt x="68" y="35"/>
                  </a:cubicBezTo>
                  <a:cubicBezTo>
                    <a:pt x="59" y="50"/>
                    <a:pt x="49" y="66"/>
                    <a:pt x="37" y="66"/>
                  </a:cubicBezTo>
                  <a:cubicBezTo>
                    <a:pt x="22" y="66"/>
                    <a:pt x="9" y="53"/>
                    <a:pt x="9" y="38"/>
                  </a:cubicBezTo>
                  <a:cubicBezTo>
                    <a:pt x="9" y="22"/>
                    <a:pt x="22" y="10"/>
                    <a:pt x="37" y="10"/>
                  </a:cubicBezTo>
                  <a:cubicBezTo>
                    <a:pt x="42" y="10"/>
                    <a:pt x="48" y="12"/>
                    <a:pt x="52" y="17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1" y="17"/>
                    <a:pt x="39" y="19"/>
                    <a:pt x="38" y="21"/>
                  </a:cubicBezTo>
                  <a:cubicBezTo>
                    <a:pt x="38" y="22"/>
                    <a:pt x="38" y="24"/>
                    <a:pt x="39" y="25"/>
                  </a:cubicBezTo>
                  <a:cubicBezTo>
                    <a:pt x="40" y="26"/>
                    <a:pt x="41" y="26"/>
                    <a:pt x="42" y="27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3" y="31"/>
                    <a:pt x="63" y="31"/>
                    <a:pt x="6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31"/>
                    <a:pt x="64" y="31"/>
                    <a:pt x="65" y="30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6" y="30"/>
                    <a:pt x="67" y="29"/>
                    <a:pt x="67" y="29"/>
                  </a:cubicBezTo>
                  <a:cubicBezTo>
                    <a:pt x="67" y="29"/>
                    <a:pt x="67" y="29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5"/>
                    <a:pt x="72" y="4"/>
                    <a:pt x="71" y="3"/>
                  </a:cubicBezTo>
                  <a:cubicBezTo>
                    <a:pt x="71" y="2"/>
                    <a:pt x="70" y="1"/>
                    <a:pt x="68" y="1"/>
                  </a:cubicBezTo>
                  <a:cubicBezTo>
                    <a:pt x="67" y="0"/>
                    <a:pt x="66" y="1"/>
                    <a:pt x="65" y="1"/>
                  </a:cubicBezTo>
                  <a:cubicBezTo>
                    <a:pt x="64" y="2"/>
                    <a:pt x="63" y="3"/>
                    <a:pt x="63" y="4"/>
                  </a:cubicBezTo>
                  <a:cubicBezTo>
                    <a:pt x="61" y="13"/>
                    <a:pt x="61" y="13"/>
                    <a:pt x="61" y="13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3" y="4"/>
                    <a:pt x="46" y="0"/>
                    <a:pt x="37" y="0"/>
                  </a:cubicBezTo>
                  <a:cubicBezTo>
                    <a:pt x="16" y="0"/>
                    <a:pt x="0" y="17"/>
                    <a:pt x="0" y="38"/>
                  </a:cubicBezTo>
                  <a:cubicBezTo>
                    <a:pt x="0" y="58"/>
                    <a:pt x="16" y="75"/>
                    <a:pt x="37" y="75"/>
                  </a:cubicBezTo>
                  <a:cubicBezTo>
                    <a:pt x="54" y="75"/>
                    <a:pt x="66" y="57"/>
                    <a:pt x="76" y="40"/>
                  </a:cubicBezTo>
                  <a:cubicBezTo>
                    <a:pt x="86" y="25"/>
                    <a:pt x="96" y="10"/>
                    <a:pt x="108" y="10"/>
                  </a:cubicBezTo>
                  <a:cubicBezTo>
                    <a:pt x="123" y="10"/>
                    <a:pt x="136" y="22"/>
                    <a:pt x="136" y="38"/>
                  </a:cubicBezTo>
                  <a:cubicBezTo>
                    <a:pt x="136" y="53"/>
                    <a:pt x="123" y="66"/>
                    <a:pt x="108" y="66"/>
                  </a:cubicBezTo>
                  <a:cubicBezTo>
                    <a:pt x="93" y="66"/>
                    <a:pt x="86" y="54"/>
                    <a:pt x="85" y="53"/>
                  </a:cubicBezTo>
                  <a:cubicBezTo>
                    <a:pt x="85" y="52"/>
                    <a:pt x="84" y="51"/>
                    <a:pt x="82" y="51"/>
                  </a:cubicBezTo>
                  <a:cubicBezTo>
                    <a:pt x="82" y="51"/>
                    <a:pt x="82" y="51"/>
                    <a:pt x="81" y="51"/>
                  </a:cubicBezTo>
                  <a:cubicBezTo>
                    <a:pt x="80" y="51"/>
                    <a:pt x="80" y="51"/>
                    <a:pt x="79" y="51"/>
                  </a:cubicBezTo>
                  <a:cubicBezTo>
                    <a:pt x="77" y="53"/>
                    <a:pt x="76" y="56"/>
                    <a:pt x="77" y="58"/>
                  </a:cubicBezTo>
                  <a:cubicBezTo>
                    <a:pt x="78" y="59"/>
                    <a:pt x="88" y="75"/>
                    <a:pt x="108" y="75"/>
                  </a:cubicBezTo>
                  <a:cubicBezTo>
                    <a:pt x="129" y="75"/>
                    <a:pt x="145" y="58"/>
                    <a:pt x="145" y="38"/>
                  </a:cubicBezTo>
                  <a:cubicBezTo>
                    <a:pt x="145" y="17"/>
                    <a:pt x="129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10" name="Freeform 123">
              <a:extLst>
                <a:ext uri="{FF2B5EF4-FFF2-40B4-BE49-F238E27FC236}">
                  <a16:creationId xmlns:a16="http://schemas.microsoft.com/office/drawing/2014/main" id="{CF005D3C-C34C-9DCA-1853-A12039499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3156"/>
              <a:ext cx="309" cy="420"/>
            </a:xfrm>
            <a:custGeom>
              <a:avLst/>
              <a:gdLst>
                <a:gd name="T0" fmla="*/ 16 w 202"/>
                <a:gd name="T1" fmla="*/ 219 h 281"/>
                <a:gd name="T2" fmla="*/ 23 w 202"/>
                <a:gd name="T3" fmla="*/ 209 h 281"/>
                <a:gd name="T4" fmla="*/ 24 w 202"/>
                <a:gd name="T5" fmla="*/ 208 h 281"/>
                <a:gd name="T6" fmla="*/ 158 w 202"/>
                <a:gd name="T7" fmla="*/ 203 h 281"/>
                <a:gd name="T8" fmla="*/ 163 w 202"/>
                <a:gd name="T9" fmla="*/ 209 h 281"/>
                <a:gd name="T10" fmla="*/ 171 w 202"/>
                <a:gd name="T11" fmla="*/ 209 h 281"/>
                <a:gd name="T12" fmla="*/ 171 w 202"/>
                <a:gd name="T13" fmla="*/ 202 h 281"/>
                <a:gd name="T14" fmla="*/ 165 w 202"/>
                <a:gd name="T15" fmla="*/ 195 h 281"/>
                <a:gd name="T16" fmla="*/ 125 w 202"/>
                <a:gd name="T17" fmla="*/ 112 h 281"/>
                <a:gd name="T18" fmla="*/ 126 w 202"/>
                <a:gd name="T19" fmla="*/ 111 h 281"/>
                <a:gd name="T20" fmla="*/ 189 w 202"/>
                <a:gd name="T21" fmla="*/ 121 h 281"/>
                <a:gd name="T22" fmla="*/ 199 w 202"/>
                <a:gd name="T23" fmla="*/ 85 h 281"/>
                <a:gd name="T24" fmla="*/ 175 w 202"/>
                <a:gd name="T25" fmla="*/ 69 h 281"/>
                <a:gd name="T26" fmla="*/ 161 w 202"/>
                <a:gd name="T27" fmla="*/ 43 h 281"/>
                <a:gd name="T28" fmla="*/ 122 w 202"/>
                <a:gd name="T29" fmla="*/ 6 h 281"/>
                <a:gd name="T30" fmla="*/ 116 w 202"/>
                <a:gd name="T31" fmla="*/ 0 h 281"/>
                <a:gd name="T32" fmla="*/ 36 w 202"/>
                <a:gd name="T33" fmla="*/ 64 h 281"/>
                <a:gd name="T34" fmla="*/ 14 w 202"/>
                <a:gd name="T35" fmla="*/ 147 h 281"/>
                <a:gd name="T36" fmla="*/ 21 w 202"/>
                <a:gd name="T37" fmla="*/ 196 h 281"/>
                <a:gd name="T38" fmla="*/ 0 w 202"/>
                <a:gd name="T39" fmla="*/ 239 h 281"/>
                <a:gd name="T40" fmla="*/ 5 w 202"/>
                <a:gd name="T41" fmla="*/ 281 h 281"/>
                <a:gd name="T42" fmla="*/ 85 w 202"/>
                <a:gd name="T43" fmla="*/ 275 h 281"/>
                <a:gd name="T44" fmla="*/ 10 w 202"/>
                <a:gd name="T45" fmla="*/ 270 h 281"/>
                <a:gd name="T46" fmla="*/ 12 w 202"/>
                <a:gd name="T47" fmla="*/ 230 h 281"/>
                <a:gd name="T48" fmla="*/ 88 w 202"/>
                <a:gd name="T49" fmla="*/ 230 h 281"/>
                <a:gd name="T50" fmla="*/ 88 w 202"/>
                <a:gd name="T51" fmla="*/ 219 h 281"/>
                <a:gd name="T52" fmla="*/ 42 w 202"/>
                <a:gd name="T53" fmla="*/ 75 h 281"/>
                <a:gd name="T54" fmla="*/ 109 w 202"/>
                <a:gd name="T55" fmla="*/ 16 h 281"/>
                <a:gd name="T56" fmla="*/ 110 w 202"/>
                <a:gd name="T57" fmla="*/ 33 h 281"/>
                <a:gd name="T58" fmla="*/ 155 w 202"/>
                <a:gd name="T59" fmla="*/ 53 h 281"/>
                <a:gd name="T60" fmla="*/ 168 w 202"/>
                <a:gd name="T61" fmla="*/ 78 h 281"/>
                <a:gd name="T62" fmla="*/ 190 w 202"/>
                <a:gd name="T63" fmla="*/ 92 h 281"/>
                <a:gd name="T64" fmla="*/ 180 w 202"/>
                <a:gd name="T65" fmla="*/ 113 h 281"/>
                <a:gd name="T66" fmla="*/ 107 w 202"/>
                <a:gd name="T67" fmla="*/ 94 h 281"/>
                <a:gd name="T68" fmla="*/ 153 w 202"/>
                <a:gd name="T69" fmla="*/ 192 h 281"/>
                <a:gd name="T70" fmla="*/ 31 w 202"/>
                <a:gd name="T71" fmla="*/ 192 h 281"/>
                <a:gd name="T72" fmla="*/ 25 w 202"/>
                <a:gd name="T73" fmla="*/ 14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281">
                  <a:moveTo>
                    <a:pt x="88" y="219"/>
                  </a:moveTo>
                  <a:cubicBezTo>
                    <a:pt x="16" y="219"/>
                    <a:pt x="16" y="219"/>
                    <a:pt x="16" y="219"/>
                  </a:cubicBezTo>
                  <a:cubicBezTo>
                    <a:pt x="17" y="218"/>
                    <a:pt x="17" y="218"/>
                    <a:pt x="17" y="218"/>
                  </a:cubicBezTo>
                  <a:cubicBezTo>
                    <a:pt x="19" y="215"/>
                    <a:pt x="21" y="212"/>
                    <a:pt x="23" y="209"/>
                  </a:cubicBezTo>
                  <a:cubicBezTo>
                    <a:pt x="23" y="209"/>
                    <a:pt x="23" y="209"/>
                    <a:pt x="23" y="209"/>
                  </a:cubicBezTo>
                  <a:cubicBezTo>
                    <a:pt x="24" y="209"/>
                    <a:pt x="24" y="209"/>
                    <a:pt x="24" y="208"/>
                  </a:cubicBezTo>
                  <a:cubicBezTo>
                    <a:pt x="29" y="203"/>
                    <a:pt x="29" y="203"/>
                    <a:pt x="29" y="203"/>
                  </a:cubicBezTo>
                  <a:cubicBezTo>
                    <a:pt x="158" y="203"/>
                    <a:pt x="158" y="203"/>
                    <a:pt x="158" y="203"/>
                  </a:cubicBezTo>
                  <a:cubicBezTo>
                    <a:pt x="158" y="203"/>
                    <a:pt x="158" y="203"/>
                    <a:pt x="158" y="203"/>
                  </a:cubicBezTo>
                  <a:cubicBezTo>
                    <a:pt x="160" y="205"/>
                    <a:pt x="161" y="207"/>
                    <a:pt x="163" y="209"/>
                  </a:cubicBezTo>
                  <a:cubicBezTo>
                    <a:pt x="164" y="210"/>
                    <a:pt x="165" y="211"/>
                    <a:pt x="167" y="211"/>
                  </a:cubicBezTo>
                  <a:cubicBezTo>
                    <a:pt x="168" y="211"/>
                    <a:pt x="170" y="210"/>
                    <a:pt x="171" y="209"/>
                  </a:cubicBezTo>
                  <a:cubicBezTo>
                    <a:pt x="172" y="209"/>
                    <a:pt x="172" y="207"/>
                    <a:pt x="172" y="206"/>
                  </a:cubicBezTo>
                  <a:cubicBezTo>
                    <a:pt x="173" y="204"/>
                    <a:pt x="172" y="203"/>
                    <a:pt x="171" y="202"/>
                  </a:cubicBezTo>
                  <a:cubicBezTo>
                    <a:pt x="169" y="199"/>
                    <a:pt x="166" y="197"/>
                    <a:pt x="165" y="195"/>
                  </a:cubicBezTo>
                  <a:cubicBezTo>
                    <a:pt x="165" y="195"/>
                    <a:pt x="165" y="195"/>
                    <a:pt x="165" y="195"/>
                  </a:cubicBezTo>
                  <a:cubicBezTo>
                    <a:pt x="165" y="195"/>
                    <a:pt x="165" y="195"/>
                    <a:pt x="165" y="195"/>
                  </a:cubicBezTo>
                  <a:cubicBezTo>
                    <a:pt x="160" y="171"/>
                    <a:pt x="138" y="132"/>
                    <a:pt x="125" y="112"/>
                  </a:cubicBezTo>
                  <a:cubicBezTo>
                    <a:pt x="125" y="110"/>
                    <a:pt x="125" y="110"/>
                    <a:pt x="125" y="110"/>
                  </a:cubicBezTo>
                  <a:cubicBezTo>
                    <a:pt x="126" y="111"/>
                    <a:pt x="126" y="111"/>
                    <a:pt x="126" y="111"/>
                  </a:cubicBezTo>
                  <a:cubicBezTo>
                    <a:pt x="139" y="115"/>
                    <a:pt x="158" y="119"/>
                    <a:pt x="183" y="124"/>
                  </a:cubicBezTo>
                  <a:cubicBezTo>
                    <a:pt x="185" y="125"/>
                    <a:pt x="188" y="123"/>
                    <a:pt x="189" y="121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2" y="90"/>
                    <a:pt x="202" y="87"/>
                    <a:pt x="199" y="85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4" y="45"/>
                    <a:pt x="162" y="44"/>
                    <a:pt x="161" y="43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2" y="6"/>
                    <a:pt x="122" y="6"/>
                    <a:pt x="122" y="6"/>
                  </a:cubicBezTo>
                  <a:cubicBezTo>
                    <a:pt x="122" y="4"/>
                    <a:pt x="121" y="2"/>
                    <a:pt x="119" y="1"/>
                  </a:cubicBezTo>
                  <a:cubicBezTo>
                    <a:pt x="118" y="0"/>
                    <a:pt x="117" y="0"/>
                    <a:pt x="116" y="0"/>
                  </a:cubicBezTo>
                  <a:cubicBezTo>
                    <a:pt x="115" y="0"/>
                    <a:pt x="114" y="0"/>
                    <a:pt x="113" y="1"/>
                  </a:cubicBezTo>
                  <a:cubicBezTo>
                    <a:pt x="107" y="5"/>
                    <a:pt x="47" y="42"/>
                    <a:pt x="36" y="64"/>
                  </a:cubicBezTo>
                  <a:cubicBezTo>
                    <a:pt x="35" y="66"/>
                    <a:pt x="34" y="68"/>
                    <a:pt x="33" y="70"/>
                  </a:cubicBezTo>
                  <a:cubicBezTo>
                    <a:pt x="23" y="90"/>
                    <a:pt x="11" y="112"/>
                    <a:pt x="14" y="147"/>
                  </a:cubicBezTo>
                  <a:cubicBezTo>
                    <a:pt x="16" y="173"/>
                    <a:pt x="19" y="189"/>
                    <a:pt x="21" y="196"/>
                  </a:cubicBezTo>
                  <a:cubicBezTo>
                    <a:pt x="21" y="196"/>
                    <a:pt x="21" y="196"/>
                    <a:pt x="21" y="196"/>
                  </a:cubicBezTo>
                  <a:cubicBezTo>
                    <a:pt x="20" y="196"/>
                    <a:pt x="20" y="196"/>
                    <a:pt x="20" y="196"/>
                  </a:cubicBezTo>
                  <a:cubicBezTo>
                    <a:pt x="14" y="202"/>
                    <a:pt x="0" y="219"/>
                    <a:pt x="0" y="239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0" y="278"/>
                    <a:pt x="2" y="281"/>
                    <a:pt x="5" y="281"/>
                  </a:cubicBezTo>
                  <a:cubicBezTo>
                    <a:pt x="80" y="281"/>
                    <a:pt x="80" y="281"/>
                    <a:pt x="80" y="281"/>
                  </a:cubicBezTo>
                  <a:cubicBezTo>
                    <a:pt x="83" y="281"/>
                    <a:pt x="85" y="278"/>
                    <a:pt x="85" y="275"/>
                  </a:cubicBezTo>
                  <a:cubicBezTo>
                    <a:pt x="85" y="272"/>
                    <a:pt x="83" y="270"/>
                    <a:pt x="80" y="270"/>
                  </a:cubicBezTo>
                  <a:cubicBezTo>
                    <a:pt x="10" y="270"/>
                    <a:pt x="10" y="270"/>
                    <a:pt x="10" y="27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10" y="236"/>
                    <a:pt x="11" y="233"/>
                    <a:pt x="12" y="230"/>
                  </a:cubicBezTo>
                  <a:cubicBezTo>
                    <a:pt x="12" y="230"/>
                    <a:pt x="12" y="230"/>
                    <a:pt x="12" y="230"/>
                  </a:cubicBezTo>
                  <a:cubicBezTo>
                    <a:pt x="88" y="230"/>
                    <a:pt x="88" y="230"/>
                    <a:pt x="88" y="230"/>
                  </a:cubicBezTo>
                  <a:cubicBezTo>
                    <a:pt x="91" y="230"/>
                    <a:pt x="93" y="228"/>
                    <a:pt x="93" y="225"/>
                  </a:cubicBezTo>
                  <a:cubicBezTo>
                    <a:pt x="93" y="222"/>
                    <a:pt x="91" y="219"/>
                    <a:pt x="88" y="219"/>
                  </a:cubicBezTo>
                  <a:close/>
                  <a:moveTo>
                    <a:pt x="42" y="75"/>
                  </a:moveTo>
                  <a:cubicBezTo>
                    <a:pt x="42" y="75"/>
                    <a:pt x="42" y="75"/>
                    <a:pt x="42" y="75"/>
                  </a:cubicBezTo>
                  <a:cubicBezTo>
                    <a:pt x="43" y="73"/>
                    <a:pt x="44" y="71"/>
                    <a:pt x="45" y="69"/>
                  </a:cubicBezTo>
                  <a:cubicBezTo>
                    <a:pt x="53" y="53"/>
                    <a:pt x="96" y="25"/>
                    <a:pt x="109" y="16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110" y="33"/>
                    <a:pt x="110" y="33"/>
                    <a:pt x="110" y="33"/>
                  </a:cubicBezTo>
                  <a:cubicBezTo>
                    <a:pt x="110" y="35"/>
                    <a:pt x="111" y="37"/>
                    <a:pt x="113" y="38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66" y="75"/>
                    <a:pt x="166" y="75"/>
                    <a:pt x="166" y="75"/>
                  </a:cubicBezTo>
                  <a:cubicBezTo>
                    <a:pt x="166" y="76"/>
                    <a:pt x="167" y="77"/>
                    <a:pt x="168" y="78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0" y="113"/>
                    <a:pt x="180" y="113"/>
                    <a:pt x="180" y="113"/>
                  </a:cubicBezTo>
                  <a:cubicBezTo>
                    <a:pt x="152" y="107"/>
                    <a:pt x="120" y="99"/>
                    <a:pt x="115" y="95"/>
                  </a:cubicBezTo>
                  <a:cubicBezTo>
                    <a:pt x="113" y="93"/>
                    <a:pt x="110" y="92"/>
                    <a:pt x="107" y="94"/>
                  </a:cubicBezTo>
                  <a:cubicBezTo>
                    <a:pt x="105" y="95"/>
                    <a:pt x="104" y="99"/>
                    <a:pt x="106" y="101"/>
                  </a:cubicBezTo>
                  <a:cubicBezTo>
                    <a:pt x="108" y="104"/>
                    <a:pt x="144" y="159"/>
                    <a:pt x="153" y="192"/>
                  </a:cubicBezTo>
                  <a:cubicBezTo>
                    <a:pt x="153" y="192"/>
                    <a:pt x="153" y="192"/>
                    <a:pt x="153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29" y="185"/>
                    <a:pt x="27" y="170"/>
                    <a:pt x="25" y="146"/>
                  </a:cubicBezTo>
                  <a:cubicBezTo>
                    <a:pt x="22" y="114"/>
                    <a:pt x="33" y="94"/>
                    <a:pt x="4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56210CD-6575-621F-4E13-338F819A8C75}"/>
              </a:ext>
            </a:extLst>
          </p:cNvPr>
          <p:cNvSpPr>
            <a:spLocks/>
          </p:cNvSpPr>
          <p:nvPr/>
        </p:nvSpPr>
        <p:spPr>
          <a:xfrm>
            <a:off x="2660104" y="4041207"/>
            <a:ext cx="2016000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4 | Visão de Mercado </a:t>
            </a:r>
            <a:r>
              <a:rPr lang="pt-BR" sz="1100" noProof="0">
                <a:solidFill>
                  <a:schemeClr val="tx1"/>
                </a:solidFill>
                <a:latin typeface="Graphik" panose="020B0503030202060203" pitchFamily="34" charset="0"/>
              </a:rPr>
              <a:t>(Oferta e Demanda)</a:t>
            </a:r>
            <a:endParaRPr lang="pt-BR" sz="1200" noProof="0">
              <a:solidFill>
                <a:schemeClr val="tx1"/>
              </a:solidFill>
              <a:latin typeface="Graphik" panose="020B0503030202060203" pitchFamily="34" charset="0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Análise do cenário competitivo, </a:t>
            </a:r>
            <a:r>
              <a:rPr lang="pt-BR" sz="1050">
                <a:solidFill>
                  <a:schemeClr val="tx1"/>
                </a:solidFill>
                <a:latin typeface="Graphik" panose="020B0503030202060203" pitchFamily="34" charset="0"/>
              </a:rPr>
              <a:t>demandas </a:t>
            </a: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e mapeamento das possibilidades de crescimento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D5F1C13-19D2-4CDC-60BA-262F1B6C5F3E}"/>
              </a:ext>
            </a:extLst>
          </p:cNvPr>
          <p:cNvCxnSpPr>
            <a:cxnSpLocks/>
            <a:stCxn id="85" idx="6"/>
          </p:cNvCxnSpPr>
          <p:nvPr/>
        </p:nvCxnSpPr>
        <p:spPr>
          <a:xfrm flipV="1">
            <a:off x="1642472" y="3659845"/>
            <a:ext cx="1767453" cy="146823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DE3DCFB-2819-B634-205B-3C8A09EA56C8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642472" y="2178390"/>
            <a:ext cx="1767453" cy="148145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29D4E55-C164-4863-A224-53132BE6F9A8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1642472" y="3656733"/>
            <a:ext cx="854238" cy="311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D31CC9-AA55-5FF4-8DA7-14F2F2A78171}"/>
              </a:ext>
            </a:extLst>
          </p:cNvPr>
          <p:cNvGrpSpPr/>
          <p:nvPr/>
        </p:nvGrpSpPr>
        <p:grpSpPr>
          <a:xfrm>
            <a:off x="3409925" y="3402895"/>
            <a:ext cx="516359" cy="513899"/>
            <a:chOff x="3409925" y="3382407"/>
            <a:chExt cx="516359" cy="51389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237BEE-A2DD-62CA-34C2-76236315097E}"/>
                </a:ext>
              </a:extLst>
            </p:cNvPr>
            <p:cNvSpPr>
              <a:spLocks/>
            </p:cNvSpPr>
            <p:nvPr/>
          </p:nvSpPr>
          <p:spPr>
            <a:xfrm>
              <a:off x="3409925" y="3382407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grpSp>
          <p:nvGrpSpPr>
            <p:cNvPr id="17" name="Group 119">
              <a:extLst>
                <a:ext uri="{FF2B5EF4-FFF2-40B4-BE49-F238E27FC236}">
                  <a16:creationId xmlns:a16="http://schemas.microsoft.com/office/drawing/2014/main" id="{6AAB4F2C-5564-BA38-ADD8-4117F1D62D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16655" y="3500706"/>
              <a:ext cx="302898" cy="277301"/>
              <a:chOff x="5503" y="1738"/>
              <a:chExt cx="426" cy="390"/>
            </a:xfrm>
            <a:solidFill>
              <a:schemeClr val="bg1"/>
            </a:solidFill>
          </p:grpSpPr>
          <p:sp>
            <p:nvSpPr>
              <p:cNvPr id="18" name="Freeform 120">
                <a:extLst>
                  <a:ext uri="{FF2B5EF4-FFF2-40B4-BE49-F238E27FC236}">
                    <a16:creationId xmlns:a16="http://schemas.microsoft.com/office/drawing/2014/main" id="{084EAAD8-C0E8-CE3F-A12B-856DD0649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5" y="1738"/>
                <a:ext cx="284" cy="106"/>
              </a:xfrm>
              <a:custGeom>
                <a:avLst/>
                <a:gdLst>
                  <a:gd name="T0" fmla="*/ 186 w 192"/>
                  <a:gd name="T1" fmla="*/ 72 h 72"/>
                  <a:gd name="T2" fmla="*/ 6 w 192"/>
                  <a:gd name="T3" fmla="*/ 72 h 72"/>
                  <a:gd name="T4" fmla="*/ 0 w 192"/>
                  <a:gd name="T5" fmla="*/ 66 h 72"/>
                  <a:gd name="T6" fmla="*/ 0 w 192"/>
                  <a:gd name="T7" fmla="*/ 6 h 72"/>
                  <a:gd name="T8" fmla="*/ 6 w 192"/>
                  <a:gd name="T9" fmla="*/ 0 h 72"/>
                  <a:gd name="T10" fmla="*/ 186 w 192"/>
                  <a:gd name="T11" fmla="*/ 0 h 72"/>
                  <a:gd name="T12" fmla="*/ 192 w 192"/>
                  <a:gd name="T13" fmla="*/ 6 h 72"/>
                  <a:gd name="T14" fmla="*/ 192 w 192"/>
                  <a:gd name="T15" fmla="*/ 66 h 72"/>
                  <a:gd name="T16" fmla="*/ 186 w 192"/>
                  <a:gd name="T17" fmla="*/ 72 h 72"/>
                  <a:gd name="T18" fmla="*/ 12 w 192"/>
                  <a:gd name="T19" fmla="*/ 60 h 72"/>
                  <a:gd name="T20" fmla="*/ 180 w 192"/>
                  <a:gd name="T21" fmla="*/ 60 h 72"/>
                  <a:gd name="T22" fmla="*/ 180 w 192"/>
                  <a:gd name="T23" fmla="*/ 12 h 72"/>
                  <a:gd name="T24" fmla="*/ 12 w 192"/>
                  <a:gd name="T25" fmla="*/ 12 h 72"/>
                  <a:gd name="T26" fmla="*/ 12 w 19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72">
                    <a:moveTo>
                      <a:pt x="18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90" y="0"/>
                      <a:pt x="192" y="3"/>
                      <a:pt x="192" y="6"/>
                    </a:cubicBezTo>
                    <a:cubicBezTo>
                      <a:pt x="192" y="66"/>
                      <a:pt x="192" y="66"/>
                      <a:pt x="192" y="66"/>
                    </a:cubicBezTo>
                    <a:cubicBezTo>
                      <a:pt x="192" y="70"/>
                      <a:pt x="190" y="72"/>
                      <a:pt x="186" y="72"/>
                    </a:cubicBezTo>
                    <a:close/>
                    <a:moveTo>
                      <a:pt x="12" y="60"/>
                    </a:moveTo>
                    <a:cubicBezTo>
                      <a:pt x="180" y="60"/>
                      <a:pt x="180" y="60"/>
                      <a:pt x="180" y="60"/>
                    </a:cubicBezTo>
                    <a:cubicBezTo>
                      <a:pt x="180" y="12"/>
                      <a:pt x="180" y="12"/>
                      <a:pt x="18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19" name="Freeform 121">
                <a:extLst>
                  <a:ext uri="{FF2B5EF4-FFF2-40B4-BE49-F238E27FC236}">
                    <a16:creationId xmlns:a16="http://schemas.microsoft.com/office/drawing/2014/main" id="{68BEE93F-2AD4-FC7C-FA90-784FB987C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5" y="1880"/>
                <a:ext cx="284" cy="106"/>
              </a:xfrm>
              <a:custGeom>
                <a:avLst/>
                <a:gdLst>
                  <a:gd name="T0" fmla="*/ 186 w 192"/>
                  <a:gd name="T1" fmla="*/ 72 h 72"/>
                  <a:gd name="T2" fmla="*/ 6 w 192"/>
                  <a:gd name="T3" fmla="*/ 72 h 72"/>
                  <a:gd name="T4" fmla="*/ 0 w 192"/>
                  <a:gd name="T5" fmla="*/ 66 h 72"/>
                  <a:gd name="T6" fmla="*/ 0 w 192"/>
                  <a:gd name="T7" fmla="*/ 6 h 72"/>
                  <a:gd name="T8" fmla="*/ 6 w 192"/>
                  <a:gd name="T9" fmla="*/ 0 h 72"/>
                  <a:gd name="T10" fmla="*/ 186 w 192"/>
                  <a:gd name="T11" fmla="*/ 0 h 72"/>
                  <a:gd name="T12" fmla="*/ 192 w 192"/>
                  <a:gd name="T13" fmla="*/ 6 h 72"/>
                  <a:gd name="T14" fmla="*/ 192 w 192"/>
                  <a:gd name="T15" fmla="*/ 66 h 72"/>
                  <a:gd name="T16" fmla="*/ 186 w 192"/>
                  <a:gd name="T17" fmla="*/ 72 h 72"/>
                  <a:gd name="T18" fmla="*/ 12 w 192"/>
                  <a:gd name="T19" fmla="*/ 60 h 72"/>
                  <a:gd name="T20" fmla="*/ 180 w 192"/>
                  <a:gd name="T21" fmla="*/ 60 h 72"/>
                  <a:gd name="T22" fmla="*/ 180 w 192"/>
                  <a:gd name="T23" fmla="*/ 12 h 72"/>
                  <a:gd name="T24" fmla="*/ 12 w 192"/>
                  <a:gd name="T25" fmla="*/ 12 h 72"/>
                  <a:gd name="T26" fmla="*/ 12 w 19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72">
                    <a:moveTo>
                      <a:pt x="18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90" y="0"/>
                      <a:pt x="192" y="3"/>
                      <a:pt x="192" y="6"/>
                    </a:cubicBezTo>
                    <a:cubicBezTo>
                      <a:pt x="192" y="66"/>
                      <a:pt x="192" y="66"/>
                      <a:pt x="192" y="66"/>
                    </a:cubicBezTo>
                    <a:cubicBezTo>
                      <a:pt x="192" y="70"/>
                      <a:pt x="190" y="72"/>
                      <a:pt x="186" y="72"/>
                    </a:cubicBezTo>
                    <a:close/>
                    <a:moveTo>
                      <a:pt x="12" y="60"/>
                    </a:moveTo>
                    <a:cubicBezTo>
                      <a:pt x="180" y="60"/>
                      <a:pt x="180" y="60"/>
                      <a:pt x="180" y="60"/>
                    </a:cubicBezTo>
                    <a:cubicBezTo>
                      <a:pt x="180" y="12"/>
                      <a:pt x="180" y="12"/>
                      <a:pt x="18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20" name="Freeform 122">
                <a:extLst>
                  <a:ext uri="{FF2B5EF4-FFF2-40B4-BE49-F238E27FC236}">
                    <a16:creationId xmlns:a16="http://schemas.microsoft.com/office/drawing/2014/main" id="{F40B6B60-A719-2BD7-A36B-58E6F1204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5" y="2022"/>
                <a:ext cx="284" cy="106"/>
              </a:xfrm>
              <a:custGeom>
                <a:avLst/>
                <a:gdLst>
                  <a:gd name="T0" fmla="*/ 186 w 192"/>
                  <a:gd name="T1" fmla="*/ 72 h 72"/>
                  <a:gd name="T2" fmla="*/ 6 w 192"/>
                  <a:gd name="T3" fmla="*/ 72 h 72"/>
                  <a:gd name="T4" fmla="*/ 0 w 192"/>
                  <a:gd name="T5" fmla="*/ 66 h 72"/>
                  <a:gd name="T6" fmla="*/ 0 w 192"/>
                  <a:gd name="T7" fmla="*/ 6 h 72"/>
                  <a:gd name="T8" fmla="*/ 6 w 192"/>
                  <a:gd name="T9" fmla="*/ 0 h 72"/>
                  <a:gd name="T10" fmla="*/ 186 w 192"/>
                  <a:gd name="T11" fmla="*/ 0 h 72"/>
                  <a:gd name="T12" fmla="*/ 192 w 192"/>
                  <a:gd name="T13" fmla="*/ 6 h 72"/>
                  <a:gd name="T14" fmla="*/ 192 w 192"/>
                  <a:gd name="T15" fmla="*/ 66 h 72"/>
                  <a:gd name="T16" fmla="*/ 186 w 192"/>
                  <a:gd name="T17" fmla="*/ 72 h 72"/>
                  <a:gd name="T18" fmla="*/ 12 w 192"/>
                  <a:gd name="T19" fmla="*/ 60 h 72"/>
                  <a:gd name="T20" fmla="*/ 180 w 192"/>
                  <a:gd name="T21" fmla="*/ 60 h 72"/>
                  <a:gd name="T22" fmla="*/ 180 w 192"/>
                  <a:gd name="T23" fmla="*/ 12 h 72"/>
                  <a:gd name="T24" fmla="*/ 12 w 192"/>
                  <a:gd name="T25" fmla="*/ 12 h 72"/>
                  <a:gd name="T26" fmla="*/ 12 w 19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72">
                    <a:moveTo>
                      <a:pt x="18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90" y="0"/>
                      <a:pt x="192" y="3"/>
                      <a:pt x="192" y="6"/>
                    </a:cubicBezTo>
                    <a:cubicBezTo>
                      <a:pt x="192" y="66"/>
                      <a:pt x="192" y="66"/>
                      <a:pt x="192" y="66"/>
                    </a:cubicBezTo>
                    <a:cubicBezTo>
                      <a:pt x="192" y="70"/>
                      <a:pt x="190" y="72"/>
                      <a:pt x="186" y="72"/>
                    </a:cubicBezTo>
                    <a:close/>
                    <a:moveTo>
                      <a:pt x="12" y="60"/>
                    </a:moveTo>
                    <a:cubicBezTo>
                      <a:pt x="180" y="60"/>
                      <a:pt x="180" y="60"/>
                      <a:pt x="180" y="60"/>
                    </a:cubicBezTo>
                    <a:cubicBezTo>
                      <a:pt x="180" y="12"/>
                      <a:pt x="180" y="12"/>
                      <a:pt x="18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21" name="Freeform 123">
                <a:extLst>
                  <a:ext uri="{FF2B5EF4-FFF2-40B4-BE49-F238E27FC236}">
                    <a16:creationId xmlns:a16="http://schemas.microsoft.com/office/drawing/2014/main" id="{C4512D4A-BE3E-A12D-DD08-D87972437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3" y="1738"/>
                <a:ext cx="106" cy="106"/>
              </a:xfrm>
              <a:custGeom>
                <a:avLst/>
                <a:gdLst>
                  <a:gd name="T0" fmla="*/ 66 w 72"/>
                  <a:gd name="T1" fmla="*/ 72 h 72"/>
                  <a:gd name="T2" fmla="*/ 6 w 72"/>
                  <a:gd name="T3" fmla="*/ 72 h 72"/>
                  <a:gd name="T4" fmla="*/ 0 w 72"/>
                  <a:gd name="T5" fmla="*/ 66 h 72"/>
                  <a:gd name="T6" fmla="*/ 0 w 72"/>
                  <a:gd name="T7" fmla="*/ 6 h 72"/>
                  <a:gd name="T8" fmla="*/ 6 w 72"/>
                  <a:gd name="T9" fmla="*/ 0 h 72"/>
                  <a:gd name="T10" fmla="*/ 66 w 72"/>
                  <a:gd name="T11" fmla="*/ 0 h 72"/>
                  <a:gd name="T12" fmla="*/ 72 w 72"/>
                  <a:gd name="T13" fmla="*/ 6 h 72"/>
                  <a:gd name="T14" fmla="*/ 72 w 72"/>
                  <a:gd name="T15" fmla="*/ 66 h 72"/>
                  <a:gd name="T16" fmla="*/ 66 w 72"/>
                  <a:gd name="T17" fmla="*/ 72 h 72"/>
                  <a:gd name="T18" fmla="*/ 12 w 72"/>
                  <a:gd name="T19" fmla="*/ 60 h 72"/>
                  <a:gd name="T20" fmla="*/ 60 w 72"/>
                  <a:gd name="T21" fmla="*/ 60 h 72"/>
                  <a:gd name="T22" fmla="*/ 60 w 72"/>
                  <a:gd name="T23" fmla="*/ 12 h 72"/>
                  <a:gd name="T24" fmla="*/ 12 w 72"/>
                  <a:gd name="T25" fmla="*/ 12 h 72"/>
                  <a:gd name="T26" fmla="*/ 12 w 7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2" y="70"/>
                      <a:pt x="70" y="72"/>
                      <a:pt x="66" y="72"/>
                    </a:cubicBezTo>
                    <a:close/>
                    <a:moveTo>
                      <a:pt x="12" y="60"/>
                    </a:move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22" name="Freeform 124">
                <a:extLst>
                  <a:ext uri="{FF2B5EF4-FFF2-40B4-BE49-F238E27FC236}">
                    <a16:creationId xmlns:a16="http://schemas.microsoft.com/office/drawing/2014/main" id="{9112D219-2140-E67C-A4D5-6418FFE70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3" y="1880"/>
                <a:ext cx="106" cy="106"/>
              </a:xfrm>
              <a:custGeom>
                <a:avLst/>
                <a:gdLst>
                  <a:gd name="T0" fmla="*/ 66 w 72"/>
                  <a:gd name="T1" fmla="*/ 72 h 72"/>
                  <a:gd name="T2" fmla="*/ 6 w 72"/>
                  <a:gd name="T3" fmla="*/ 72 h 72"/>
                  <a:gd name="T4" fmla="*/ 0 w 72"/>
                  <a:gd name="T5" fmla="*/ 66 h 72"/>
                  <a:gd name="T6" fmla="*/ 0 w 72"/>
                  <a:gd name="T7" fmla="*/ 6 h 72"/>
                  <a:gd name="T8" fmla="*/ 6 w 72"/>
                  <a:gd name="T9" fmla="*/ 0 h 72"/>
                  <a:gd name="T10" fmla="*/ 66 w 72"/>
                  <a:gd name="T11" fmla="*/ 0 h 72"/>
                  <a:gd name="T12" fmla="*/ 72 w 72"/>
                  <a:gd name="T13" fmla="*/ 6 h 72"/>
                  <a:gd name="T14" fmla="*/ 72 w 72"/>
                  <a:gd name="T15" fmla="*/ 66 h 72"/>
                  <a:gd name="T16" fmla="*/ 66 w 72"/>
                  <a:gd name="T17" fmla="*/ 72 h 72"/>
                  <a:gd name="T18" fmla="*/ 12 w 72"/>
                  <a:gd name="T19" fmla="*/ 60 h 72"/>
                  <a:gd name="T20" fmla="*/ 60 w 72"/>
                  <a:gd name="T21" fmla="*/ 60 h 72"/>
                  <a:gd name="T22" fmla="*/ 60 w 72"/>
                  <a:gd name="T23" fmla="*/ 12 h 72"/>
                  <a:gd name="T24" fmla="*/ 12 w 72"/>
                  <a:gd name="T25" fmla="*/ 12 h 72"/>
                  <a:gd name="T26" fmla="*/ 12 w 7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2" y="70"/>
                      <a:pt x="70" y="72"/>
                      <a:pt x="66" y="72"/>
                    </a:cubicBezTo>
                    <a:close/>
                    <a:moveTo>
                      <a:pt x="12" y="60"/>
                    </a:move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23" name="Freeform 125">
                <a:extLst>
                  <a:ext uri="{FF2B5EF4-FFF2-40B4-BE49-F238E27FC236}">
                    <a16:creationId xmlns:a16="http://schemas.microsoft.com/office/drawing/2014/main" id="{B1EDB555-B3F3-B2A1-CE30-5BCED8444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3" y="2022"/>
                <a:ext cx="106" cy="106"/>
              </a:xfrm>
              <a:custGeom>
                <a:avLst/>
                <a:gdLst>
                  <a:gd name="T0" fmla="*/ 66 w 72"/>
                  <a:gd name="T1" fmla="*/ 72 h 72"/>
                  <a:gd name="T2" fmla="*/ 6 w 72"/>
                  <a:gd name="T3" fmla="*/ 72 h 72"/>
                  <a:gd name="T4" fmla="*/ 0 w 72"/>
                  <a:gd name="T5" fmla="*/ 66 h 72"/>
                  <a:gd name="T6" fmla="*/ 0 w 72"/>
                  <a:gd name="T7" fmla="*/ 6 h 72"/>
                  <a:gd name="T8" fmla="*/ 6 w 72"/>
                  <a:gd name="T9" fmla="*/ 0 h 72"/>
                  <a:gd name="T10" fmla="*/ 66 w 72"/>
                  <a:gd name="T11" fmla="*/ 0 h 72"/>
                  <a:gd name="T12" fmla="*/ 72 w 72"/>
                  <a:gd name="T13" fmla="*/ 6 h 72"/>
                  <a:gd name="T14" fmla="*/ 72 w 72"/>
                  <a:gd name="T15" fmla="*/ 66 h 72"/>
                  <a:gd name="T16" fmla="*/ 66 w 72"/>
                  <a:gd name="T17" fmla="*/ 72 h 72"/>
                  <a:gd name="T18" fmla="*/ 12 w 72"/>
                  <a:gd name="T19" fmla="*/ 60 h 72"/>
                  <a:gd name="T20" fmla="*/ 60 w 72"/>
                  <a:gd name="T21" fmla="*/ 60 h 72"/>
                  <a:gd name="T22" fmla="*/ 60 w 72"/>
                  <a:gd name="T23" fmla="*/ 12 h 72"/>
                  <a:gd name="T24" fmla="*/ 12 w 72"/>
                  <a:gd name="T25" fmla="*/ 12 h 72"/>
                  <a:gd name="T26" fmla="*/ 12 w 72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72">
                    <a:moveTo>
                      <a:pt x="66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2" y="70"/>
                      <a:pt x="70" y="72"/>
                      <a:pt x="66" y="72"/>
                    </a:cubicBezTo>
                    <a:close/>
                    <a:moveTo>
                      <a:pt x="12" y="60"/>
                    </a:move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8B926-48E7-8257-E33D-41C0F428516D}"/>
              </a:ext>
            </a:extLst>
          </p:cNvPr>
          <p:cNvSpPr>
            <a:spLocks/>
          </p:cNvSpPr>
          <p:nvPr/>
        </p:nvSpPr>
        <p:spPr>
          <a:xfrm>
            <a:off x="4900325" y="3093183"/>
            <a:ext cx="2189392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>
                <a:solidFill>
                  <a:schemeClr val="tx1"/>
                </a:solidFill>
                <a:latin typeface="Graphik" panose="020B0503030202060203" pitchFamily="34" charset="0"/>
              </a:rPr>
              <a:t>5</a:t>
            </a: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 | Análise de Atratividade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Analise d</a:t>
            </a:r>
            <a:r>
              <a:rPr lang="pt-BR" sz="1050">
                <a:solidFill>
                  <a:schemeClr val="tx1"/>
                </a:solidFill>
                <a:latin typeface="Graphik" panose="020B0503030202060203" pitchFamily="34" charset="0"/>
              </a:rPr>
              <a:t>o grau de atratividade de cada possibilidade mapeada </a:t>
            </a:r>
            <a:br>
              <a:rPr lang="pt-BR" sz="1050">
                <a:solidFill>
                  <a:schemeClr val="tx1"/>
                </a:solidFill>
                <a:latin typeface="Graphik" panose="020B0503030202060203" pitchFamily="34" charset="0"/>
              </a:rPr>
            </a:br>
            <a:r>
              <a:rPr lang="pt-BR" sz="1050" i="1">
                <a:solidFill>
                  <a:schemeClr val="tx1"/>
                </a:solidFill>
              </a:rPr>
              <a:t>(ex. demanda, competitividade, TAM, SOM)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021A50-F621-A0FA-8CB2-63C9C6D118EE}"/>
              </a:ext>
            </a:extLst>
          </p:cNvPr>
          <p:cNvSpPr>
            <a:spLocks/>
          </p:cNvSpPr>
          <p:nvPr/>
        </p:nvSpPr>
        <p:spPr>
          <a:xfrm>
            <a:off x="5736842" y="2503157"/>
            <a:ext cx="516359" cy="513899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6EDF12-5AFC-352A-D8E0-CF6D26A25B0B}"/>
              </a:ext>
            </a:extLst>
          </p:cNvPr>
          <p:cNvSpPr>
            <a:spLocks/>
          </p:cNvSpPr>
          <p:nvPr/>
        </p:nvSpPr>
        <p:spPr>
          <a:xfrm>
            <a:off x="4900325" y="4817610"/>
            <a:ext cx="2189392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6 | Força Competitiva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Análise das capacidade necessárias para execução de cada possibilidade e grau de prontidão do Grupo (ex. ativos, plataformas, talentos)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07C2CB-4DEE-C69A-2DB9-97EE52B23CC0}"/>
              </a:ext>
            </a:extLst>
          </p:cNvPr>
          <p:cNvSpPr>
            <a:spLocks/>
          </p:cNvSpPr>
          <p:nvPr/>
        </p:nvSpPr>
        <p:spPr>
          <a:xfrm>
            <a:off x="5736842" y="4172298"/>
            <a:ext cx="516359" cy="513899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33352A3-45BB-5798-3BE8-02F545DFB5BA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3926284" y="2760107"/>
            <a:ext cx="1810558" cy="899738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AA131A9-D0C9-1779-DA90-E0B032D85E2C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926284" y="3659845"/>
            <a:ext cx="1810558" cy="76940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6477213-B840-3077-5D14-9186A9317BC7}"/>
              </a:ext>
            </a:extLst>
          </p:cNvPr>
          <p:cNvSpPr>
            <a:spLocks/>
          </p:cNvSpPr>
          <p:nvPr/>
        </p:nvSpPr>
        <p:spPr>
          <a:xfrm>
            <a:off x="7301163" y="4041207"/>
            <a:ext cx="2095159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>
                <a:solidFill>
                  <a:schemeClr val="tx1"/>
                </a:solidFill>
                <a:latin typeface="Graphik" panose="020B0503030202060203" pitchFamily="34" charset="0"/>
              </a:rPr>
              <a:t>7</a:t>
            </a: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 | Priorização e Ambição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Com base nas análises, priorizar e quantificar crescimento potencial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6648D2-0CC7-4D5F-7075-06F736E03EFF}"/>
              </a:ext>
            </a:extLst>
          </p:cNvPr>
          <p:cNvSpPr>
            <a:spLocks/>
          </p:cNvSpPr>
          <p:nvPr/>
        </p:nvSpPr>
        <p:spPr>
          <a:xfrm>
            <a:off x="9684014" y="3982761"/>
            <a:ext cx="2168836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>
                <a:solidFill>
                  <a:schemeClr val="tx1"/>
                </a:solidFill>
                <a:latin typeface="Graphik" panose="020B0503030202060203" pitchFamily="34" charset="0"/>
              </a:rPr>
              <a:t>9</a:t>
            </a: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 | Plano de Execução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Visão integrada do plano para adequação das capacidades e entrega da ambição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1AFAB9-B612-2E20-254B-10E112B6DA89}"/>
              </a:ext>
            </a:extLst>
          </p:cNvPr>
          <p:cNvSpPr>
            <a:spLocks/>
          </p:cNvSpPr>
          <p:nvPr/>
        </p:nvSpPr>
        <p:spPr>
          <a:xfrm>
            <a:off x="9684014" y="5425320"/>
            <a:ext cx="2168836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10 | Investimentos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Estimativa alto nível dos investimentos necessários para entrega do plano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EEFB95-5085-9210-43BD-D521D5E8F530}"/>
              </a:ext>
            </a:extLst>
          </p:cNvPr>
          <p:cNvSpPr>
            <a:spLocks/>
          </p:cNvSpPr>
          <p:nvPr/>
        </p:nvSpPr>
        <p:spPr>
          <a:xfrm>
            <a:off x="9684014" y="2511466"/>
            <a:ext cx="2168836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>
                <a:solidFill>
                  <a:schemeClr val="tx1"/>
                </a:solidFill>
                <a:latin typeface="Graphik" panose="020B0503030202060203" pitchFamily="34" charset="0"/>
              </a:rPr>
              <a:t>8</a:t>
            </a: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 | Go-</a:t>
            </a:r>
            <a:r>
              <a:rPr lang="pt-BR" sz="1200" b="1" noProof="0" err="1">
                <a:solidFill>
                  <a:schemeClr val="tx1"/>
                </a:solidFill>
                <a:latin typeface="Graphik" panose="020B0503030202060203" pitchFamily="34" charset="0"/>
              </a:rPr>
              <a:t>to</a:t>
            </a: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-Market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Definição das dimensões para estratégia de </a:t>
            </a:r>
            <a:r>
              <a:rPr lang="pt-BR" sz="1050">
                <a:solidFill>
                  <a:srgbClr val="000000"/>
                </a:solidFill>
                <a:latin typeface="Graphik"/>
              </a:rPr>
              <a:t>Go-</a:t>
            </a:r>
            <a:r>
              <a:rPr lang="pt-BR" sz="1050" err="1">
                <a:solidFill>
                  <a:srgbClr val="000000"/>
                </a:solidFill>
                <a:latin typeface="Graphik"/>
              </a:rPr>
              <a:t>to</a:t>
            </a:r>
            <a:r>
              <a:rPr lang="pt-BR" sz="1050">
                <a:solidFill>
                  <a:srgbClr val="000000"/>
                </a:solidFill>
                <a:latin typeface="Graphik"/>
              </a:rPr>
              <a:t>-Market </a:t>
            </a:r>
            <a:r>
              <a:rPr kumimoji="0" lang="pt-BR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(ex. atualização da proposta de valor, público-alvo, modelo de atuação)</a:t>
            </a:r>
            <a:endParaRPr lang="pt-BR" sz="1050" noProof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8FF982F-5BF9-9465-5190-7E015A6C1199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6253201" y="2760107"/>
            <a:ext cx="1817042" cy="899738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90C210D-175B-7691-92B0-24A58323D43D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6253201" y="3659845"/>
            <a:ext cx="1817042" cy="76940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B3A53D9-C945-05B8-BCB4-C586FB3C562D}"/>
              </a:ext>
            </a:extLst>
          </p:cNvPr>
          <p:cNvCxnSpPr>
            <a:cxnSpLocks/>
          </p:cNvCxnSpPr>
          <p:nvPr/>
        </p:nvCxnSpPr>
        <p:spPr>
          <a:xfrm flipV="1">
            <a:off x="8586602" y="2198878"/>
            <a:ext cx="1930853" cy="146096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B328EA3-4699-77A9-ED44-7C3A44701F52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8586602" y="3659845"/>
            <a:ext cx="1930853" cy="127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A9656C3-D0C1-8E35-C77E-178A3B58EF14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8586602" y="3659845"/>
            <a:ext cx="1930853" cy="146823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9" name="Group 71">
            <a:extLst>
              <a:ext uri="{FF2B5EF4-FFF2-40B4-BE49-F238E27FC236}">
                <a16:creationId xmlns:a16="http://schemas.microsoft.com/office/drawing/2014/main" id="{7A2FF1F7-C9AA-5F54-DEA7-8BFB73793F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12280" y="2586043"/>
            <a:ext cx="365575" cy="348126"/>
            <a:chOff x="6721" y="1874"/>
            <a:chExt cx="440" cy="419"/>
          </a:xfrm>
          <a:solidFill>
            <a:schemeClr val="bg1"/>
          </a:solidFill>
        </p:grpSpPr>
        <p:sp>
          <p:nvSpPr>
            <p:cNvPr id="40" name="Freeform 72">
              <a:extLst>
                <a:ext uri="{FF2B5EF4-FFF2-40B4-BE49-F238E27FC236}">
                  <a16:creationId xmlns:a16="http://schemas.microsoft.com/office/drawing/2014/main" id="{91A0B3E9-0AED-C235-F394-D703B96C7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1" name="Freeform 73">
              <a:extLst>
                <a:ext uri="{FF2B5EF4-FFF2-40B4-BE49-F238E27FC236}">
                  <a16:creationId xmlns:a16="http://schemas.microsoft.com/office/drawing/2014/main" id="{2AE09EB0-7776-70F5-84B7-3586AC84C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2" name="Freeform 74">
              <a:extLst>
                <a:ext uri="{FF2B5EF4-FFF2-40B4-BE49-F238E27FC236}">
                  <a16:creationId xmlns:a16="http://schemas.microsoft.com/office/drawing/2014/main" id="{EA665DEB-CBFC-AE2D-CD79-F3AF6D235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3" name="Freeform 75">
              <a:extLst>
                <a:ext uri="{FF2B5EF4-FFF2-40B4-BE49-F238E27FC236}">
                  <a16:creationId xmlns:a16="http://schemas.microsoft.com/office/drawing/2014/main" id="{10025932-2146-ADED-9273-E69CF1332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4" name="Freeform 76">
              <a:extLst>
                <a:ext uri="{FF2B5EF4-FFF2-40B4-BE49-F238E27FC236}">
                  <a16:creationId xmlns:a16="http://schemas.microsoft.com/office/drawing/2014/main" id="{EC418406-1585-A3E1-338B-527B809A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B2632546-1A63-6929-343E-AF42A0DF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6" name="Freeform 78">
              <a:extLst>
                <a:ext uri="{FF2B5EF4-FFF2-40B4-BE49-F238E27FC236}">
                  <a16:creationId xmlns:a16="http://schemas.microsoft.com/office/drawing/2014/main" id="{B33CA84B-B011-6182-EA5F-F1B0F321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47" name="Freeform 79">
              <a:extLst>
                <a:ext uri="{FF2B5EF4-FFF2-40B4-BE49-F238E27FC236}">
                  <a16:creationId xmlns:a16="http://schemas.microsoft.com/office/drawing/2014/main" id="{9C0B3215-60C5-0947-218E-126AC542B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grpSp>
        <p:nvGrpSpPr>
          <p:cNvPr id="48" name="Group 79">
            <a:extLst>
              <a:ext uri="{FF2B5EF4-FFF2-40B4-BE49-F238E27FC236}">
                <a16:creationId xmlns:a16="http://schemas.microsoft.com/office/drawing/2014/main" id="{7C4CA75B-0F35-BC5A-8D2D-7FBAD4DC17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41607" y="4234857"/>
            <a:ext cx="306828" cy="388780"/>
            <a:chOff x="4727" y="1905"/>
            <a:chExt cx="307" cy="389"/>
          </a:xfrm>
          <a:solidFill>
            <a:schemeClr val="bg1"/>
          </a:solidFill>
        </p:grpSpPr>
        <p:sp>
          <p:nvSpPr>
            <p:cNvPr id="49" name="Freeform 80">
              <a:extLst>
                <a:ext uri="{FF2B5EF4-FFF2-40B4-BE49-F238E27FC236}">
                  <a16:creationId xmlns:a16="http://schemas.microsoft.com/office/drawing/2014/main" id="{19E96875-5309-6E49-BB4B-BF1B18F0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1905"/>
              <a:ext cx="307" cy="389"/>
            </a:xfrm>
            <a:custGeom>
              <a:avLst/>
              <a:gdLst>
                <a:gd name="T0" fmla="*/ 149 w 200"/>
                <a:gd name="T1" fmla="*/ 86 h 260"/>
                <a:gd name="T2" fmla="*/ 130 w 200"/>
                <a:gd name="T3" fmla="*/ 63 h 260"/>
                <a:gd name="T4" fmla="*/ 143 w 200"/>
                <a:gd name="T5" fmla="*/ 41 h 260"/>
                <a:gd name="T6" fmla="*/ 155 w 200"/>
                <a:gd name="T7" fmla="*/ 20 h 260"/>
                <a:gd name="T8" fmla="*/ 122 w 200"/>
                <a:gd name="T9" fmla="*/ 1 h 260"/>
                <a:gd name="T10" fmla="*/ 117 w 200"/>
                <a:gd name="T11" fmla="*/ 3 h 260"/>
                <a:gd name="T12" fmla="*/ 113 w 200"/>
                <a:gd name="T13" fmla="*/ 6 h 260"/>
                <a:gd name="T14" fmla="*/ 104 w 200"/>
                <a:gd name="T15" fmla="*/ 2 h 260"/>
                <a:gd name="T16" fmla="*/ 96 w 200"/>
                <a:gd name="T17" fmla="*/ 2 h 260"/>
                <a:gd name="T18" fmla="*/ 87 w 200"/>
                <a:gd name="T19" fmla="*/ 6 h 260"/>
                <a:gd name="T20" fmla="*/ 83 w 200"/>
                <a:gd name="T21" fmla="*/ 3 h 260"/>
                <a:gd name="T22" fmla="*/ 77 w 200"/>
                <a:gd name="T23" fmla="*/ 1 h 260"/>
                <a:gd name="T24" fmla="*/ 45 w 200"/>
                <a:gd name="T25" fmla="*/ 20 h 260"/>
                <a:gd name="T26" fmla="*/ 56 w 200"/>
                <a:gd name="T27" fmla="*/ 41 h 260"/>
                <a:gd name="T28" fmla="*/ 69 w 200"/>
                <a:gd name="T29" fmla="*/ 63 h 260"/>
                <a:gd name="T30" fmla="*/ 51 w 200"/>
                <a:gd name="T31" fmla="*/ 86 h 260"/>
                <a:gd name="T32" fmla="*/ 0 w 200"/>
                <a:gd name="T33" fmla="*/ 178 h 260"/>
                <a:gd name="T34" fmla="*/ 100 w 200"/>
                <a:gd name="T35" fmla="*/ 260 h 260"/>
                <a:gd name="T36" fmla="*/ 200 w 200"/>
                <a:gd name="T37" fmla="*/ 178 h 260"/>
                <a:gd name="T38" fmla="*/ 149 w 200"/>
                <a:gd name="T39" fmla="*/ 86 h 260"/>
                <a:gd name="T40" fmla="*/ 65 w 200"/>
                <a:gd name="T41" fmla="*/ 33 h 260"/>
                <a:gd name="T42" fmla="*/ 56 w 200"/>
                <a:gd name="T43" fmla="*/ 20 h 260"/>
                <a:gd name="T44" fmla="*/ 76 w 200"/>
                <a:gd name="T45" fmla="*/ 13 h 260"/>
                <a:gd name="T46" fmla="*/ 86 w 200"/>
                <a:gd name="T47" fmla="*/ 18 h 260"/>
                <a:gd name="T48" fmla="*/ 100 w 200"/>
                <a:gd name="T49" fmla="*/ 14 h 260"/>
                <a:gd name="T50" fmla="*/ 114 w 200"/>
                <a:gd name="T51" fmla="*/ 18 h 260"/>
                <a:gd name="T52" fmla="*/ 124 w 200"/>
                <a:gd name="T53" fmla="*/ 13 h 260"/>
                <a:gd name="T54" fmla="*/ 143 w 200"/>
                <a:gd name="T55" fmla="*/ 20 h 260"/>
                <a:gd name="T56" fmla="*/ 134 w 200"/>
                <a:gd name="T57" fmla="*/ 33 h 260"/>
                <a:gd name="T58" fmla="*/ 119 w 200"/>
                <a:gd name="T59" fmla="*/ 57 h 260"/>
                <a:gd name="T60" fmla="*/ 80 w 200"/>
                <a:gd name="T61" fmla="*/ 57 h 260"/>
                <a:gd name="T62" fmla="*/ 65 w 200"/>
                <a:gd name="T63" fmla="*/ 33 h 260"/>
                <a:gd name="T64" fmla="*/ 100 w 200"/>
                <a:gd name="T65" fmla="*/ 248 h 260"/>
                <a:gd name="T66" fmla="*/ 11 w 200"/>
                <a:gd name="T67" fmla="*/ 178 h 260"/>
                <a:gd name="T68" fmla="*/ 59 w 200"/>
                <a:gd name="T69" fmla="*/ 94 h 260"/>
                <a:gd name="T70" fmla="*/ 80 w 200"/>
                <a:gd name="T71" fmla="*/ 69 h 260"/>
                <a:gd name="T72" fmla="*/ 120 w 200"/>
                <a:gd name="T73" fmla="*/ 69 h 260"/>
                <a:gd name="T74" fmla="*/ 140 w 200"/>
                <a:gd name="T75" fmla="*/ 94 h 260"/>
                <a:gd name="T76" fmla="*/ 188 w 200"/>
                <a:gd name="T77" fmla="*/ 178 h 260"/>
                <a:gd name="T78" fmla="*/ 100 w 200"/>
                <a:gd name="T79" fmla="*/ 24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0" h="260">
                  <a:moveTo>
                    <a:pt x="149" y="86"/>
                  </a:moveTo>
                  <a:cubicBezTo>
                    <a:pt x="141" y="77"/>
                    <a:pt x="130" y="66"/>
                    <a:pt x="130" y="63"/>
                  </a:cubicBezTo>
                  <a:cubicBezTo>
                    <a:pt x="130" y="56"/>
                    <a:pt x="137" y="48"/>
                    <a:pt x="143" y="41"/>
                  </a:cubicBezTo>
                  <a:cubicBezTo>
                    <a:pt x="150" y="33"/>
                    <a:pt x="155" y="27"/>
                    <a:pt x="155" y="20"/>
                  </a:cubicBezTo>
                  <a:cubicBezTo>
                    <a:pt x="155" y="5"/>
                    <a:pt x="130" y="2"/>
                    <a:pt x="122" y="1"/>
                  </a:cubicBezTo>
                  <a:cubicBezTo>
                    <a:pt x="120" y="1"/>
                    <a:pt x="118" y="1"/>
                    <a:pt x="117" y="3"/>
                  </a:cubicBezTo>
                  <a:cubicBezTo>
                    <a:pt x="115" y="5"/>
                    <a:pt x="114" y="6"/>
                    <a:pt x="113" y="6"/>
                  </a:cubicBezTo>
                  <a:cubicBezTo>
                    <a:pt x="109" y="6"/>
                    <a:pt x="105" y="3"/>
                    <a:pt x="104" y="2"/>
                  </a:cubicBezTo>
                  <a:cubicBezTo>
                    <a:pt x="102" y="0"/>
                    <a:pt x="98" y="0"/>
                    <a:pt x="96" y="2"/>
                  </a:cubicBezTo>
                  <a:cubicBezTo>
                    <a:pt x="95" y="3"/>
                    <a:pt x="91" y="6"/>
                    <a:pt x="87" y="6"/>
                  </a:cubicBezTo>
                  <a:cubicBezTo>
                    <a:pt x="86" y="6"/>
                    <a:pt x="85" y="5"/>
                    <a:pt x="83" y="3"/>
                  </a:cubicBezTo>
                  <a:cubicBezTo>
                    <a:pt x="81" y="1"/>
                    <a:pt x="79" y="1"/>
                    <a:pt x="77" y="1"/>
                  </a:cubicBezTo>
                  <a:cubicBezTo>
                    <a:pt x="70" y="2"/>
                    <a:pt x="45" y="5"/>
                    <a:pt x="45" y="20"/>
                  </a:cubicBezTo>
                  <a:cubicBezTo>
                    <a:pt x="45" y="27"/>
                    <a:pt x="50" y="33"/>
                    <a:pt x="56" y="41"/>
                  </a:cubicBezTo>
                  <a:cubicBezTo>
                    <a:pt x="62" y="48"/>
                    <a:pt x="69" y="56"/>
                    <a:pt x="69" y="63"/>
                  </a:cubicBezTo>
                  <a:cubicBezTo>
                    <a:pt x="69" y="66"/>
                    <a:pt x="59" y="77"/>
                    <a:pt x="51" y="86"/>
                  </a:cubicBezTo>
                  <a:cubicBezTo>
                    <a:pt x="29" y="109"/>
                    <a:pt x="0" y="140"/>
                    <a:pt x="0" y="178"/>
                  </a:cubicBezTo>
                  <a:cubicBezTo>
                    <a:pt x="0" y="237"/>
                    <a:pt x="8" y="260"/>
                    <a:pt x="100" y="260"/>
                  </a:cubicBezTo>
                  <a:cubicBezTo>
                    <a:pt x="191" y="260"/>
                    <a:pt x="200" y="237"/>
                    <a:pt x="200" y="178"/>
                  </a:cubicBezTo>
                  <a:cubicBezTo>
                    <a:pt x="200" y="140"/>
                    <a:pt x="170" y="109"/>
                    <a:pt x="149" y="86"/>
                  </a:cubicBezTo>
                  <a:close/>
                  <a:moveTo>
                    <a:pt x="65" y="33"/>
                  </a:moveTo>
                  <a:cubicBezTo>
                    <a:pt x="62" y="29"/>
                    <a:pt x="56" y="23"/>
                    <a:pt x="56" y="20"/>
                  </a:cubicBezTo>
                  <a:cubicBezTo>
                    <a:pt x="56" y="18"/>
                    <a:pt x="65" y="14"/>
                    <a:pt x="76" y="13"/>
                  </a:cubicBezTo>
                  <a:cubicBezTo>
                    <a:pt x="79" y="16"/>
                    <a:pt x="83" y="17"/>
                    <a:pt x="86" y="18"/>
                  </a:cubicBezTo>
                  <a:cubicBezTo>
                    <a:pt x="92" y="18"/>
                    <a:pt x="97" y="16"/>
                    <a:pt x="100" y="14"/>
                  </a:cubicBezTo>
                  <a:cubicBezTo>
                    <a:pt x="103" y="16"/>
                    <a:pt x="108" y="18"/>
                    <a:pt x="114" y="18"/>
                  </a:cubicBezTo>
                  <a:cubicBezTo>
                    <a:pt x="116" y="17"/>
                    <a:pt x="120" y="16"/>
                    <a:pt x="124" y="13"/>
                  </a:cubicBezTo>
                  <a:cubicBezTo>
                    <a:pt x="135" y="14"/>
                    <a:pt x="143" y="18"/>
                    <a:pt x="143" y="20"/>
                  </a:cubicBezTo>
                  <a:cubicBezTo>
                    <a:pt x="143" y="23"/>
                    <a:pt x="138" y="29"/>
                    <a:pt x="134" y="33"/>
                  </a:cubicBezTo>
                  <a:cubicBezTo>
                    <a:pt x="128" y="40"/>
                    <a:pt x="122" y="48"/>
                    <a:pt x="119" y="57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78" y="48"/>
                    <a:pt x="71" y="40"/>
                    <a:pt x="65" y="33"/>
                  </a:cubicBezTo>
                  <a:close/>
                  <a:moveTo>
                    <a:pt x="100" y="248"/>
                  </a:moveTo>
                  <a:cubicBezTo>
                    <a:pt x="11" y="248"/>
                    <a:pt x="11" y="228"/>
                    <a:pt x="11" y="178"/>
                  </a:cubicBezTo>
                  <a:cubicBezTo>
                    <a:pt x="11" y="145"/>
                    <a:pt x="39" y="115"/>
                    <a:pt x="59" y="94"/>
                  </a:cubicBezTo>
                  <a:cubicBezTo>
                    <a:pt x="69" y="83"/>
                    <a:pt x="77" y="75"/>
                    <a:pt x="80" y="69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3" y="75"/>
                    <a:pt x="130" y="83"/>
                    <a:pt x="140" y="94"/>
                  </a:cubicBezTo>
                  <a:cubicBezTo>
                    <a:pt x="161" y="115"/>
                    <a:pt x="188" y="145"/>
                    <a:pt x="188" y="178"/>
                  </a:cubicBezTo>
                  <a:cubicBezTo>
                    <a:pt x="188" y="228"/>
                    <a:pt x="188" y="248"/>
                    <a:pt x="100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  <p:sp>
          <p:nvSpPr>
            <p:cNvPr id="50" name="Freeform 81">
              <a:extLst>
                <a:ext uri="{FF2B5EF4-FFF2-40B4-BE49-F238E27FC236}">
                  <a16:creationId xmlns:a16="http://schemas.microsoft.com/office/drawing/2014/main" id="{710DBDDA-C4B5-5ACE-B99E-C8B5C21B9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073"/>
              <a:ext cx="73" cy="161"/>
            </a:xfrm>
            <a:custGeom>
              <a:avLst/>
              <a:gdLst>
                <a:gd name="T0" fmla="*/ 24 w 48"/>
                <a:gd name="T1" fmla="*/ 24 h 108"/>
                <a:gd name="T2" fmla="*/ 24 w 48"/>
                <a:gd name="T3" fmla="*/ 24 h 108"/>
                <a:gd name="T4" fmla="*/ 24 w 48"/>
                <a:gd name="T5" fmla="*/ 24 h 108"/>
                <a:gd name="T6" fmla="*/ 36 w 48"/>
                <a:gd name="T7" fmla="*/ 36 h 108"/>
                <a:gd name="T8" fmla="*/ 42 w 48"/>
                <a:gd name="T9" fmla="*/ 42 h 108"/>
                <a:gd name="T10" fmla="*/ 48 w 48"/>
                <a:gd name="T11" fmla="*/ 36 h 108"/>
                <a:gd name="T12" fmla="*/ 30 w 48"/>
                <a:gd name="T13" fmla="*/ 13 h 108"/>
                <a:gd name="T14" fmla="*/ 30 w 48"/>
                <a:gd name="T15" fmla="*/ 6 h 108"/>
                <a:gd name="T16" fmla="*/ 24 w 48"/>
                <a:gd name="T17" fmla="*/ 0 h 108"/>
                <a:gd name="T18" fmla="*/ 18 w 48"/>
                <a:gd name="T19" fmla="*/ 6 h 108"/>
                <a:gd name="T20" fmla="*/ 18 w 48"/>
                <a:gd name="T21" fmla="*/ 13 h 108"/>
                <a:gd name="T22" fmla="*/ 0 w 48"/>
                <a:gd name="T23" fmla="*/ 36 h 108"/>
                <a:gd name="T24" fmla="*/ 24 w 48"/>
                <a:gd name="T25" fmla="*/ 60 h 108"/>
                <a:gd name="T26" fmla="*/ 36 w 48"/>
                <a:gd name="T27" fmla="*/ 72 h 108"/>
                <a:gd name="T28" fmla="*/ 24 w 48"/>
                <a:gd name="T29" fmla="*/ 84 h 108"/>
                <a:gd name="T30" fmla="*/ 12 w 48"/>
                <a:gd name="T31" fmla="*/ 72 h 108"/>
                <a:gd name="T32" fmla="*/ 6 w 48"/>
                <a:gd name="T33" fmla="*/ 66 h 108"/>
                <a:gd name="T34" fmla="*/ 0 w 48"/>
                <a:gd name="T35" fmla="*/ 72 h 108"/>
                <a:gd name="T36" fmla="*/ 0 w 48"/>
                <a:gd name="T37" fmla="*/ 72 h 108"/>
                <a:gd name="T38" fmla="*/ 18 w 48"/>
                <a:gd name="T39" fmla="*/ 95 h 108"/>
                <a:gd name="T40" fmla="*/ 18 w 48"/>
                <a:gd name="T41" fmla="*/ 102 h 108"/>
                <a:gd name="T42" fmla="*/ 24 w 48"/>
                <a:gd name="T43" fmla="*/ 108 h 108"/>
                <a:gd name="T44" fmla="*/ 30 w 48"/>
                <a:gd name="T45" fmla="*/ 102 h 108"/>
                <a:gd name="T46" fmla="*/ 30 w 48"/>
                <a:gd name="T47" fmla="*/ 95 h 108"/>
                <a:gd name="T48" fmla="*/ 48 w 48"/>
                <a:gd name="T49" fmla="*/ 72 h 108"/>
                <a:gd name="T50" fmla="*/ 24 w 48"/>
                <a:gd name="T51" fmla="*/ 48 h 108"/>
                <a:gd name="T52" fmla="*/ 12 w 48"/>
                <a:gd name="T53" fmla="*/ 36 h 108"/>
                <a:gd name="T54" fmla="*/ 24 w 48"/>
                <a:gd name="T55" fmla="*/ 2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8" h="108">
                  <a:moveTo>
                    <a:pt x="24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30" y="24"/>
                    <a:pt x="36" y="29"/>
                    <a:pt x="36" y="36"/>
                  </a:cubicBezTo>
                  <a:cubicBezTo>
                    <a:pt x="36" y="39"/>
                    <a:pt x="38" y="42"/>
                    <a:pt x="42" y="42"/>
                  </a:cubicBezTo>
                  <a:cubicBezTo>
                    <a:pt x="45" y="42"/>
                    <a:pt x="48" y="39"/>
                    <a:pt x="48" y="36"/>
                  </a:cubicBezTo>
                  <a:cubicBezTo>
                    <a:pt x="48" y="25"/>
                    <a:pt x="40" y="15"/>
                    <a:pt x="30" y="13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2"/>
                    <a:pt x="27" y="0"/>
                    <a:pt x="24" y="0"/>
                  </a:cubicBezTo>
                  <a:cubicBezTo>
                    <a:pt x="21" y="0"/>
                    <a:pt x="18" y="2"/>
                    <a:pt x="18" y="6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8" y="15"/>
                    <a:pt x="0" y="25"/>
                    <a:pt x="0" y="36"/>
                  </a:cubicBezTo>
                  <a:cubicBezTo>
                    <a:pt x="0" y="49"/>
                    <a:pt x="11" y="60"/>
                    <a:pt x="24" y="60"/>
                  </a:cubicBezTo>
                  <a:cubicBezTo>
                    <a:pt x="30" y="60"/>
                    <a:pt x="36" y="65"/>
                    <a:pt x="36" y="72"/>
                  </a:cubicBezTo>
                  <a:cubicBezTo>
                    <a:pt x="36" y="78"/>
                    <a:pt x="30" y="84"/>
                    <a:pt x="24" y="84"/>
                  </a:cubicBezTo>
                  <a:cubicBezTo>
                    <a:pt x="17" y="84"/>
                    <a:pt x="12" y="78"/>
                    <a:pt x="12" y="72"/>
                  </a:cubicBezTo>
                  <a:cubicBezTo>
                    <a:pt x="12" y="68"/>
                    <a:pt x="9" y="66"/>
                    <a:pt x="6" y="66"/>
                  </a:cubicBezTo>
                  <a:cubicBezTo>
                    <a:pt x="3" y="66"/>
                    <a:pt x="0" y="68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3"/>
                    <a:pt x="8" y="92"/>
                    <a:pt x="18" y="95"/>
                  </a:cubicBezTo>
                  <a:cubicBezTo>
                    <a:pt x="18" y="102"/>
                    <a:pt x="18" y="102"/>
                    <a:pt x="18" y="102"/>
                  </a:cubicBezTo>
                  <a:cubicBezTo>
                    <a:pt x="18" y="105"/>
                    <a:pt x="21" y="108"/>
                    <a:pt x="24" y="108"/>
                  </a:cubicBezTo>
                  <a:cubicBezTo>
                    <a:pt x="27" y="108"/>
                    <a:pt x="30" y="105"/>
                    <a:pt x="30" y="102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40" y="92"/>
                    <a:pt x="48" y="83"/>
                    <a:pt x="48" y="72"/>
                  </a:cubicBezTo>
                  <a:cubicBezTo>
                    <a:pt x="48" y="58"/>
                    <a:pt x="37" y="48"/>
                    <a:pt x="24" y="48"/>
                  </a:cubicBezTo>
                  <a:cubicBezTo>
                    <a:pt x="17" y="48"/>
                    <a:pt x="12" y="42"/>
                    <a:pt x="12" y="36"/>
                  </a:cubicBezTo>
                  <a:cubicBezTo>
                    <a:pt x="12" y="29"/>
                    <a:pt x="17" y="24"/>
                    <a:pt x="2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844302A-0BCF-BA0A-5D7B-6D1D5C4155FD}"/>
              </a:ext>
            </a:extLst>
          </p:cNvPr>
          <p:cNvGrpSpPr/>
          <p:nvPr/>
        </p:nvGrpSpPr>
        <p:grpSpPr>
          <a:xfrm>
            <a:off x="8070243" y="3402895"/>
            <a:ext cx="516359" cy="513899"/>
            <a:chOff x="8070243" y="3370394"/>
            <a:chExt cx="516359" cy="513899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82E5C-B199-7871-159C-C858842D2C2C}"/>
                </a:ext>
              </a:extLst>
            </p:cNvPr>
            <p:cNvSpPr>
              <a:spLocks/>
            </p:cNvSpPr>
            <p:nvPr/>
          </p:nvSpPr>
          <p:spPr>
            <a:xfrm>
              <a:off x="8070243" y="3370394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grpSp>
          <p:nvGrpSpPr>
            <p:cNvPr id="53" name="Group 73">
              <a:extLst>
                <a:ext uri="{FF2B5EF4-FFF2-40B4-BE49-F238E27FC236}">
                  <a16:creationId xmlns:a16="http://schemas.microsoft.com/office/drawing/2014/main" id="{DE87DA9D-4802-94A2-335F-AC27B7ED72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165452" y="3472484"/>
              <a:ext cx="325940" cy="309719"/>
              <a:chOff x="5681" y="1905"/>
              <a:chExt cx="422" cy="401"/>
            </a:xfrm>
            <a:solidFill>
              <a:schemeClr val="bg1"/>
            </a:solidFill>
          </p:grpSpPr>
          <p:sp>
            <p:nvSpPr>
              <p:cNvPr id="54" name="Freeform 74">
                <a:extLst>
                  <a:ext uri="{FF2B5EF4-FFF2-40B4-BE49-F238E27FC236}">
                    <a16:creationId xmlns:a16="http://schemas.microsoft.com/office/drawing/2014/main" id="{118DF1B7-1B15-B3BF-F84B-114AAE102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" y="1955"/>
                <a:ext cx="162" cy="145"/>
              </a:xfrm>
              <a:custGeom>
                <a:avLst/>
                <a:gdLst>
                  <a:gd name="T0" fmla="*/ 49 w 106"/>
                  <a:gd name="T1" fmla="*/ 96 h 97"/>
                  <a:gd name="T2" fmla="*/ 53 w 106"/>
                  <a:gd name="T3" fmla="*/ 97 h 97"/>
                  <a:gd name="T4" fmla="*/ 57 w 106"/>
                  <a:gd name="T5" fmla="*/ 96 h 97"/>
                  <a:gd name="T6" fmla="*/ 106 w 106"/>
                  <a:gd name="T7" fmla="*/ 33 h 97"/>
                  <a:gd name="T8" fmla="*/ 80 w 106"/>
                  <a:gd name="T9" fmla="*/ 1 h 97"/>
                  <a:gd name="T10" fmla="*/ 53 w 106"/>
                  <a:gd name="T11" fmla="*/ 14 h 97"/>
                  <a:gd name="T12" fmla="*/ 26 w 106"/>
                  <a:gd name="T13" fmla="*/ 1 h 97"/>
                  <a:gd name="T14" fmla="*/ 0 w 106"/>
                  <a:gd name="T15" fmla="*/ 33 h 97"/>
                  <a:gd name="T16" fmla="*/ 49 w 106"/>
                  <a:gd name="T17" fmla="*/ 96 h 97"/>
                  <a:gd name="T18" fmla="*/ 28 w 106"/>
                  <a:gd name="T19" fmla="*/ 13 h 97"/>
                  <a:gd name="T20" fmla="*/ 29 w 106"/>
                  <a:gd name="T21" fmla="*/ 13 h 97"/>
                  <a:gd name="T22" fmla="*/ 47 w 106"/>
                  <a:gd name="T23" fmla="*/ 31 h 97"/>
                  <a:gd name="T24" fmla="*/ 59 w 106"/>
                  <a:gd name="T25" fmla="*/ 31 h 97"/>
                  <a:gd name="T26" fmla="*/ 78 w 106"/>
                  <a:gd name="T27" fmla="*/ 13 h 97"/>
                  <a:gd name="T28" fmla="*/ 94 w 106"/>
                  <a:gd name="T29" fmla="*/ 33 h 97"/>
                  <a:gd name="T30" fmla="*/ 53 w 106"/>
                  <a:gd name="T31" fmla="*/ 84 h 97"/>
                  <a:gd name="T32" fmla="*/ 12 w 106"/>
                  <a:gd name="T33" fmla="*/ 33 h 97"/>
                  <a:gd name="T34" fmla="*/ 28 w 106"/>
                  <a:gd name="T35" fmla="*/ 1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6" h="97">
                    <a:moveTo>
                      <a:pt x="49" y="96"/>
                    </a:moveTo>
                    <a:cubicBezTo>
                      <a:pt x="51" y="97"/>
                      <a:pt x="52" y="97"/>
                      <a:pt x="53" y="97"/>
                    </a:cubicBezTo>
                    <a:cubicBezTo>
                      <a:pt x="54" y="97"/>
                      <a:pt x="55" y="97"/>
                      <a:pt x="57" y="96"/>
                    </a:cubicBezTo>
                    <a:cubicBezTo>
                      <a:pt x="62" y="92"/>
                      <a:pt x="106" y="60"/>
                      <a:pt x="106" y="33"/>
                    </a:cubicBezTo>
                    <a:cubicBezTo>
                      <a:pt x="106" y="14"/>
                      <a:pt x="93" y="3"/>
                      <a:pt x="80" y="1"/>
                    </a:cubicBezTo>
                    <a:cubicBezTo>
                      <a:pt x="71" y="0"/>
                      <a:pt x="60" y="3"/>
                      <a:pt x="53" y="14"/>
                    </a:cubicBezTo>
                    <a:cubicBezTo>
                      <a:pt x="46" y="3"/>
                      <a:pt x="35" y="0"/>
                      <a:pt x="26" y="1"/>
                    </a:cubicBezTo>
                    <a:cubicBezTo>
                      <a:pt x="13" y="3"/>
                      <a:pt x="0" y="14"/>
                      <a:pt x="0" y="33"/>
                    </a:cubicBezTo>
                    <a:cubicBezTo>
                      <a:pt x="0" y="60"/>
                      <a:pt x="44" y="92"/>
                      <a:pt x="49" y="96"/>
                    </a:cubicBezTo>
                    <a:close/>
                    <a:moveTo>
                      <a:pt x="28" y="13"/>
                    </a:moveTo>
                    <a:cubicBezTo>
                      <a:pt x="28" y="13"/>
                      <a:pt x="29" y="13"/>
                      <a:pt x="29" y="13"/>
                    </a:cubicBezTo>
                    <a:cubicBezTo>
                      <a:pt x="36" y="13"/>
                      <a:pt x="44" y="18"/>
                      <a:pt x="47" y="31"/>
                    </a:cubicBezTo>
                    <a:cubicBezTo>
                      <a:pt x="48" y="36"/>
                      <a:pt x="58" y="36"/>
                      <a:pt x="59" y="31"/>
                    </a:cubicBezTo>
                    <a:cubicBezTo>
                      <a:pt x="62" y="17"/>
                      <a:pt x="71" y="12"/>
                      <a:pt x="78" y="13"/>
                    </a:cubicBezTo>
                    <a:cubicBezTo>
                      <a:pt x="86" y="14"/>
                      <a:pt x="94" y="21"/>
                      <a:pt x="94" y="33"/>
                    </a:cubicBezTo>
                    <a:cubicBezTo>
                      <a:pt x="94" y="49"/>
                      <a:pt x="67" y="73"/>
                      <a:pt x="53" y="84"/>
                    </a:cubicBezTo>
                    <a:cubicBezTo>
                      <a:pt x="39" y="73"/>
                      <a:pt x="12" y="49"/>
                      <a:pt x="12" y="33"/>
                    </a:cubicBezTo>
                    <a:cubicBezTo>
                      <a:pt x="12" y="21"/>
                      <a:pt x="20" y="14"/>
                      <a:pt x="2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55" name="Freeform 75">
                <a:extLst>
                  <a:ext uri="{FF2B5EF4-FFF2-40B4-BE49-F238E27FC236}">
                    <a16:creationId xmlns:a16="http://schemas.microsoft.com/office/drawing/2014/main" id="{54D8543F-2CCB-B4CA-2C76-64F539CEA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1" y="1905"/>
                <a:ext cx="410" cy="401"/>
              </a:xfrm>
              <a:custGeom>
                <a:avLst/>
                <a:gdLst>
                  <a:gd name="T0" fmla="*/ 262 w 268"/>
                  <a:gd name="T1" fmla="*/ 257 h 268"/>
                  <a:gd name="T2" fmla="*/ 262 w 268"/>
                  <a:gd name="T3" fmla="*/ 257 h 268"/>
                  <a:gd name="T4" fmla="*/ 11 w 268"/>
                  <a:gd name="T5" fmla="*/ 257 h 268"/>
                  <a:gd name="T6" fmla="*/ 11 w 268"/>
                  <a:gd name="T7" fmla="*/ 6 h 268"/>
                  <a:gd name="T8" fmla="*/ 6 w 268"/>
                  <a:gd name="T9" fmla="*/ 0 h 268"/>
                  <a:gd name="T10" fmla="*/ 0 w 268"/>
                  <a:gd name="T11" fmla="*/ 6 h 268"/>
                  <a:gd name="T12" fmla="*/ 0 w 268"/>
                  <a:gd name="T13" fmla="*/ 263 h 268"/>
                  <a:gd name="T14" fmla="*/ 2 w 268"/>
                  <a:gd name="T15" fmla="*/ 267 h 268"/>
                  <a:gd name="T16" fmla="*/ 6 w 268"/>
                  <a:gd name="T17" fmla="*/ 268 h 268"/>
                  <a:gd name="T18" fmla="*/ 262 w 268"/>
                  <a:gd name="T19" fmla="*/ 268 h 268"/>
                  <a:gd name="T20" fmla="*/ 268 w 268"/>
                  <a:gd name="T21" fmla="*/ 263 h 268"/>
                  <a:gd name="T22" fmla="*/ 262 w 268"/>
                  <a:gd name="T23" fmla="*/ 257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8" h="268">
                    <a:moveTo>
                      <a:pt x="262" y="257"/>
                    </a:moveTo>
                    <a:cubicBezTo>
                      <a:pt x="262" y="257"/>
                      <a:pt x="262" y="257"/>
                      <a:pt x="262" y="257"/>
                    </a:cubicBezTo>
                    <a:cubicBezTo>
                      <a:pt x="11" y="257"/>
                      <a:pt x="11" y="257"/>
                      <a:pt x="11" y="257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3"/>
                      <a:pt x="9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4"/>
                      <a:pt x="1" y="266"/>
                      <a:pt x="2" y="267"/>
                    </a:cubicBezTo>
                    <a:cubicBezTo>
                      <a:pt x="3" y="268"/>
                      <a:pt x="4" y="268"/>
                      <a:pt x="6" y="268"/>
                    </a:cubicBezTo>
                    <a:cubicBezTo>
                      <a:pt x="262" y="268"/>
                      <a:pt x="262" y="268"/>
                      <a:pt x="262" y="268"/>
                    </a:cubicBezTo>
                    <a:cubicBezTo>
                      <a:pt x="265" y="268"/>
                      <a:pt x="268" y="266"/>
                      <a:pt x="268" y="263"/>
                    </a:cubicBezTo>
                    <a:cubicBezTo>
                      <a:pt x="268" y="260"/>
                      <a:pt x="265" y="257"/>
                      <a:pt x="262" y="2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56" name="Freeform 76">
                <a:extLst>
                  <a:ext uri="{FF2B5EF4-FFF2-40B4-BE49-F238E27FC236}">
                    <a16:creationId xmlns:a16="http://schemas.microsoft.com/office/drawing/2014/main" id="{141C1B93-A69C-8592-BBA3-878524C75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2" y="2010"/>
                <a:ext cx="272" cy="218"/>
              </a:xfrm>
              <a:custGeom>
                <a:avLst/>
                <a:gdLst>
                  <a:gd name="T0" fmla="*/ 33 w 178"/>
                  <a:gd name="T1" fmla="*/ 146 h 146"/>
                  <a:gd name="T2" fmla="*/ 66 w 178"/>
                  <a:gd name="T3" fmla="*/ 113 h 146"/>
                  <a:gd name="T4" fmla="*/ 49 w 178"/>
                  <a:gd name="T5" fmla="*/ 84 h 146"/>
                  <a:gd name="T6" fmla="*/ 61 w 178"/>
                  <a:gd name="T7" fmla="*/ 63 h 146"/>
                  <a:gd name="T8" fmla="*/ 74 w 178"/>
                  <a:gd name="T9" fmla="*/ 66 h 146"/>
                  <a:gd name="T10" fmla="*/ 97 w 178"/>
                  <a:gd name="T11" fmla="*/ 57 h 146"/>
                  <a:gd name="T12" fmla="*/ 118 w 178"/>
                  <a:gd name="T13" fmla="*/ 71 h 146"/>
                  <a:gd name="T14" fmla="*/ 110 w 178"/>
                  <a:gd name="T15" fmla="*/ 92 h 146"/>
                  <a:gd name="T16" fmla="*/ 143 w 178"/>
                  <a:gd name="T17" fmla="*/ 125 h 146"/>
                  <a:gd name="T18" fmla="*/ 176 w 178"/>
                  <a:gd name="T19" fmla="*/ 92 h 146"/>
                  <a:gd name="T20" fmla="*/ 166 w 178"/>
                  <a:gd name="T21" fmla="*/ 68 h 146"/>
                  <a:gd name="T22" fmla="*/ 178 w 178"/>
                  <a:gd name="T23" fmla="*/ 47 h 146"/>
                  <a:gd name="T24" fmla="*/ 169 w 178"/>
                  <a:gd name="T25" fmla="*/ 40 h 146"/>
                  <a:gd name="T26" fmla="*/ 157 w 178"/>
                  <a:gd name="T27" fmla="*/ 62 h 146"/>
                  <a:gd name="T28" fmla="*/ 143 w 178"/>
                  <a:gd name="T29" fmla="*/ 59 h 146"/>
                  <a:gd name="T30" fmla="*/ 125 w 178"/>
                  <a:gd name="T31" fmla="*/ 65 h 146"/>
                  <a:gd name="T32" fmla="*/ 126 w 178"/>
                  <a:gd name="T33" fmla="*/ 63 h 146"/>
                  <a:gd name="T34" fmla="*/ 103 w 178"/>
                  <a:gd name="T35" fmla="*/ 47 h 146"/>
                  <a:gd name="T36" fmla="*/ 107 w 178"/>
                  <a:gd name="T37" fmla="*/ 33 h 146"/>
                  <a:gd name="T38" fmla="*/ 74 w 178"/>
                  <a:gd name="T39" fmla="*/ 0 h 146"/>
                  <a:gd name="T40" fmla="*/ 41 w 178"/>
                  <a:gd name="T41" fmla="*/ 33 h 146"/>
                  <a:gd name="T42" fmla="*/ 51 w 178"/>
                  <a:gd name="T43" fmla="*/ 57 h 146"/>
                  <a:gd name="T44" fmla="*/ 38 w 178"/>
                  <a:gd name="T45" fmla="*/ 80 h 146"/>
                  <a:gd name="T46" fmla="*/ 33 w 178"/>
                  <a:gd name="T47" fmla="*/ 80 h 146"/>
                  <a:gd name="T48" fmla="*/ 0 w 178"/>
                  <a:gd name="T49" fmla="*/ 113 h 146"/>
                  <a:gd name="T50" fmla="*/ 33 w 178"/>
                  <a:gd name="T51" fmla="*/ 146 h 146"/>
                  <a:gd name="T52" fmla="*/ 143 w 178"/>
                  <a:gd name="T53" fmla="*/ 70 h 146"/>
                  <a:gd name="T54" fmla="*/ 165 w 178"/>
                  <a:gd name="T55" fmla="*/ 92 h 146"/>
                  <a:gd name="T56" fmla="*/ 143 w 178"/>
                  <a:gd name="T57" fmla="*/ 114 h 146"/>
                  <a:gd name="T58" fmla="*/ 122 w 178"/>
                  <a:gd name="T59" fmla="*/ 92 h 146"/>
                  <a:gd name="T60" fmla="*/ 143 w 178"/>
                  <a:gd name="T61" fmla="*/ 70 h 146"/>
                  <a:gd name="T62" fmla="*/ 74 w 178"/>
                  <a:gd name="T63" fmla="*/ 11 h 146"/>
                  <a:gd name="T64" fmla="*/ 96 w 178"/>
                  <a:gd name="T65" fmla="*/ 33 h 146"/>
                  <a:gd name="T66" fmla="*/ 74 w 178"/>
                  <a:gd name="T67" fmla="*/ 55 h 146"/>
                  <a:gd name="T68" fmla="*/ 52 w 178"/>
                  <a:gd name="T69" fmla="*/ 33 h 146"/>
                  <a:gd name="T70" fmla="*/ 74 w 178"/>
                  <a:gd name="T71" fmla="*/ 11 h 146"/>
                  <a:gd name="T72" fmla="*/ 33 w 178"/>
                  <a:gd name="T73" fmla="*/ 91 h 146"/>
                  <a:gd name="T74" fmla="*/ 55 w 178"/>
                  <a:gd name="T75" fmla="*/ 113 h 146"/>
                  <a:gd name="T76" fmla="*/ 33 w 178"/>
                  <a:gd name="T77" fmla="*/ 135 h 146"/>
                  <a:gd name="T78" fmla="*/ 12 w 178"/>
                  <a:gd name="T79" fmla="*/ 113 h 146"/>
                  <a:gd name="T80" fmla="*/ 33 w 178"/>
                  <a:gd name="T81" fmla="*/ 91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8" h="146">
                    <a:moveTo>
                      <a:pt x="33" y="146"/>
                    </a:moveTo>
                    <a:cubicBezTo>
                      <a:pt x="52" y="146"/>
                      <a:pt x="66" y="131"/>
                      <a:pt x="66" y="113"/>
                    </a:cubicBezTo>
                    <a:cubicBezTo>
                      <a:pt x="66" y="101"/>
                      <a:pt x="59" y="90"/>
                      <a:pt x="49" y="84"/>
                    </a:cubicBezTo>
                    <a:cubicBezTo>
                      <a:pt x="61" y="63"/>
                      <a:pt x="61" y="63"/>
                      <a:pt x="61" y="63"/>
                    </a:cubicBezTo>
                    <a:cubicBezTo>
                      <a:pt x="65" y="65"/>
                      <a:pt x="69" y="66"/>
                      <a:pt x="74" y="66"/>
                    </a:cubicBezTo>
                    <a:cubicBezTo>
                      <a:pt x="83" y="66"/>
                      <a:pt x="91" y="62"/>
                      <a:pt x="97" y="57"/>
                    </a:cubicBezTo>
                    <a:cubicBezTo>
                      <a:pt x="118" y="71"/>
                      <a:pt x="118" y="71"/>
                      <a:pt x="118" y="71"/>
                    </a:cubicBezTo>
                    <a:cubicBezTo>
                      <a:pt x="113" y="77"/>
                      <a:pt x="110" y="84"/>
                      <a:pt x="110" y="92"/>
                    </a:cubicBezTo>
                    <a:cubicBezTo>
                      <a:pt x="110" y="110"/>
                      <a:pt x="125" y="125"/>
                      <a:pt x="143" y="125"/>
                    </a:cubicBezTo>
                    <a:cubicBezTo>
                      <a:pt x="161" y="125"/>
                      <a:pt x="176" y="110"/>
                      <a:pt x="176" y="92"/>
                    </a:cubicBezTo>
                    <a:cubicBezTo>
                      <a:pt x="176" y="83"/>
                      <a:pt x="172" y="74"/>
                      <a:pt x="166" y="68"/>
                    </a:cubicBezTo>
                    <a:cubicBezTo>
                      <a:pt x="178" y="47"/>
                      <a:pt x="178" y="47"/>
                      <a:pt x="178" y="47"/>
                    </a:cubicBezTo>
                    <a:cubicBezTo>
                      <a:pt x="169" y="40"/>
                      <a:pt x="169" y="40"/>
                      <a:pt x="169" y="40"/>
                    </a:cubicBezTo>
                    <a:cubicBezTo>
                      <a:pt x="157" y="62"/>
                      <a:pt x="157" y="62"/>
                      <a:pt x="157" y="62"/>
                    </a:cubicBezTo>
                    <a:cubicBezTo>
                      <a:pt x="153" y="60"/>
                      <a:pt x="148" y="59"/>
                      <a:pt x="143" y="59"/>
                    </a:cubicBezTo>
                    <a:cubicBezTo>
                      <a:pt x="136" y="59"/>
                      <a:pt x="130" y="61"/>
                      <a:pt x="125" y="65"/>
                    </a:cubicBezTo>
                    <a:cubicBezTo>
                      <a:pt x="126" y="63"/>
                      <a:pt x="126" y="63"/>
                      <a:pt x="126" y="63"/>
                    </a:cubicBezTo>
                    <a:cubicBezTo>
                      <a:pt x="103" y="47"/>
                      <a:pt x="103" y="47"/>
                      <a:pt x="103" y="47"/>
                    </a:cubicBezTo>
                    <a:cubicBezTo>
                      <a:pt x="106" y="43"/>
                      <a:pt x="107" y="38"/>
                      <a:pt x="107" y="33"/>
                    </a:cubicBezTo>
                    <a:cubicBezTo>
                      <a:pt x="107" y="15"/>
                      <a:pt x="92" y="0"/>
                      <a:pt x="74" y="0"/>
                    </a:cubicBezTo>
                    <a:cubicBezTo>
                      <a:pt x="56" y="0"/>
                      <a:pt x="41" y="15"/>
                      <a:pt x="41" y="33"/>
                    </a:cubicBezTo>
                    <a:cubicBezTo>
                      <a:pt x="41" y="42"/>
                      <a:pt x="45" y="51"/>
                      <a:pt x="51" y="57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5" y="80"/>
                      <a:pt x="33" y="80"/>
                    </a:cubicBezTo>
                    <a:cubicBezTo>
                      <a:pt x="15" y="80"/>
                      <a:pt x="0" y="95"/>
                      <a:pt x="0" y="113"/>
                    </a:cubicBezTo>
                    <a:cubicBezTo>
                      <a:pt x="0" y="131"/>
                      <a:pt x="15" y="146"/>
                      <a:pt x="33" y="146"/>
                    </a:cubicBezTo>
                    <a:close/>
                    <a:moveTo>
                      <a:pt x="143" y="70"/>
                    </a:moveTo>
                    <a:cubicBezTo>
                      <a:pt x="155" y="70"/>
                      <a:pt x="165" y="80"/>
                      <a:pt x="165" y="92"/>
                    </a:cubicBezTo>
                    <a:cubicBezTo>
                      <a:pt x="165" y="104"/>
                      <a:pt x="155" y="114"/>
                      <a:pt x="143" y="114"/>
                    </a:cubicBezTo>
                    <a:cubicBezTo>
                      <a:pt x="131" y="114"/>
                      <a:pt x="122" y="104"/>
                      <a:pt x="122" y="92"/>
                    </a:cubicBezTo>
                    <a:cubicBezTo>
                      <a:pt x="122" y="80"/>
                      <a:pt x="131" y="70"/>
                      <a:pt x="143" y="70"/>
                    </a:cubicBezTo>
                    <a:close/>
                    <a:moveTo>
                      <a:pt x="74" y="11"/>
                    </a:moveTo>
                    <a:cubicBezTo>
                      <a:pt x="86" y="11"/>
                      <a:pt x="96" y="21"/>
                      <a:pt x="96" y="33"/>
                    </a:cubicBezTo>
                    <a:cubicBezTo>
                      <a:pt x="96" y="45"/>
                      <a:pt x="86" y="55"/>
                      <a:pt x="74" y="55"/>
                    </a:cubicBezTo>
                    <a:cubicBezTo>
                      <a:pt x="62" y="55"/>
                      <a:pt x="52" y="45"/>
                      <a:pt x="52" y="33"/>
                    </a:cubicBezTo>
                    <a:cubicBezTo>
                      <a:pt x="52" y="21"/>
                      <a:pt x="62" y="11"/>
                      <a:pt x="74" y="11"/>
                    </a:cubicBezTo>
                    <a:close/>
                    <a:moveTo>
                      <a:pt x="33" y="91"/>
                    </a:moveTo>
                    <a:cubicBezTo>
                      <a:pt x="45" y="91"/>
                      <a:pt x="55" y="101"/>
                      <a:pt x="55" y="113"/>
                    </a:cubicBezTo>
                    <a:cubicBezTo>
                      <a:pt x="55" y="125"/>
                      <a:pt x="45" y="135"/>
                      <a:pt x="33" y="135"/>
                    </a:cubicBezTo>
                    <a:cubicBezTo>
                      <a:pt x="21" y="135"/>
                      <a:pt x="12" y="125"/>
                      <a:pt x="12" y="113"/>
                    </a:cubicBezTo>
                    <a:cubicBezTo>
                      <a:pt x="12" y="101"/>
                      <a:pt x="21" y="91"/>
                      <a:pt x="33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BACEDED-74BF-9D70-D685-FBC4A68E02AA}"/>
              </a:ext>
            </a:extLst>
          </p:cNvPr>
          <p:cNvGrpSpPr/>
          <p:nvPr/>
        </p:nvGrpSpPr>
        <p:grpSpPr>
          <a:xfrm>
            <a:off x="10517455" y="1921440"/>
            <a:ext cx="516359" cy="513899"/>
            <a:chOff x="10517455" y="1921440"/>
            <a:chExt cx="516359" cy="513899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9BF6659-6C74-F4AD-DD30-D460C7175DAF}"/>
                </a:ext>
              </a:extLst>
            </p:cNvPr>
            <p:cNvSpPr>
              <a:spLocks/>
            </p:cNvSpPr>
            <p:nvPr/>
          </p:nvSpPr>
          <p:spPr>
            <a:xfrm>
              <a:off x="10517455" y="1921440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grpSp>
          <p:nvGrpSpPr>
            <p:cNvPr id="59" name="Group 159">
              <a:extLst>
                <a:ext uri="{FF2B5EF4-FFF2-40B4-BE49-F238E27FC236}">
                  <a16:creationId xmlns:a16="http://schemas.microsoft.com/office/drawing/2014/main" id="{900F0ACD-E50D-A74B-BD3F-08FF9478C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631329" y="2036277"/>
              <a:ext cx="288604" cy="288617"/>
              <a:chOff x="1372" y="2999"/>
              <a:chExt cx="426" cy="426"/>
            </a:xfrm>
            <a:solidFill>
              <a:schemeClr val="bg1"/>
            </a:solidFill>
          </p:grpSpPr>
          <p:sp>
            <p:nvSpPr>
              <p:cNvPr id="60" name="Freeform 160">
                <a:extLst>
                  <a:ext uri="{FF2B5EF4-FFF2-40B4-BE49-F238E27FC236}">
                    <a16:creationId xmlns:a16="http://schemas.microsoft.com/office/drawing/2014/main" id="{4F28817A-76FA-8C25-2A03-ECAE39DEF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9" y="3176"/>
                <a:ext cx="196" cy="18"/>
              </a:xfrm>
              <a:custGeom>
                <a:avLst/>
                <a:gdLst>
                  <a:gd name="T0" fmla="*/ 126 w 132"/>
                  <a:gd name="T1" fmla="*/ 12 h 12"/>
                  <a:gd name="T2" fmla="*/ 6 w 132"/>
                  <a:gd name="T3" fmla="*/ 12 h 12"/>
                  <a:gd name="T4" fmla="*/ 0 w 132"/>
                  <a:gd name="T5" fmla="*/ 6 h 12"/>
                  <a:gd name="T6" fmla="*/ 6 w 132"/>
                  <a:gd name="T7" fmla="*/ 0 h 12"/>
                  <a:gd name="T8" fmla="*/ 126 w 132"/>
                  <a:gd name="T9" fmla="*/ 0 h 12"/>
                  <a:gd name="T10" fmla="*/ 132 w 132"/>
                  <a:gd name="T11" fmla="*/ 6 h 12"/>
                  <a:gd name="T12" fmla="*/ 126 w 13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2">
                    <a:moveTo>
                      <a:pt x="12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2" y="3"/>
                      <a:pt x="132" y="6"/>
                    </a:cubicBezTo>
                    <a:cubicBezTo>
                      <a:pt x="132" y="10"/>
                      <a:pt x="130" y="12"/>
                      <a:pt x="12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61" name="Freeform 161">
                <a:extLst>
                  <a:ext uri="{FF2B5EF4-FFF2-40B4-BE49-F238E27FC236}">
                    <a16:creationId xmlns:a16="http://schemas.microsoft.com/office/drawing/2014/main" id="{CE2E6965-5265-0E56-C5A2-0F55CB62F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3248"/>
                <a:ext cx="196" cy="17"/>
              </a:xfrm>
              <a:custGeom>
                <a:avLst/>
                <a:gdLst>
                  <a:gd name="T0" fmla="*/ 126 w 132"/>
                  <a:gd name="T1" fmla="*/ 12 h 12"/>
                  <a:gd name="T2" fmla="*/ 6 w 132"/>
                  <a:gd name="T3" fmla="*/ 12 h 12"/>
                  <a:gd name="T4" fmla="*/ 0 w 132"/>
                  <a:gd name="T5" fmla="*/ 6 h 12"/>
                  <a:gd name="T6" fmla="*/ 6 w 132"/>
                  <a:gd name="T7" fmla="*/ 0 h 12"/>
                  <a:gd name="T8" fmla="*/ 126 w 132"/>
                  <a:gd name="T9" fmla="*/ 0 h 12"/>
                  <a:gd name="T10" fmla="*/ 132 w 132"/>
                  <a:gd name="T11" fmla="*/ 6 h 12"/>
                  <a:gd name="T12" fmla="*/ 126 w 13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12">
                    <a:moveTo>
                      <a:pt x="12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2" y="3"/>
                      <a:pt x="132" y="6"/>
                    </a:cubicBezTo>
                    <a:cubicBezTo>
                      <a:pt x="132" y="10"/>
                      <a:pt x="130" y="12"/>
                      <a:pt x="12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62" name="Freeform 162">
                <a:extLst>
                  <a:ext uri="{FF2B5EF4-FFF2-40B4-BE49-F238E27FC236}">
                    <a16:creationId xmlns:a16="http://schemas.microsoft.com/office/drawing/2014/main" id="{F64BB2FD-78D1-9E6F-2E3A-AA0746159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3123"/>
                <a:ext cx="72" cy="125"/>
              </a:xfrm>
              <a:custGeom>
                <a:avLst/>
                <a:gdLst>
                  <a:gd name="T0" fmla="*/ 6 w 49"/>
                  <a:gd name="T1" fmla="*/ 84 h 84"/>
                  <a:gd name="T2" fmla="*/ 2 w 49"/>
                  <a:gd name="T3" fmla="*/ 82 h 84"/>
                  <a:gd name="T4" fmla="*/ 2 w 49"/>
                  <a:gd name="T5" fmla="*/ 74 h 84"/>
                  <a:gd name="T6" fmla="*/ 34 w 49"/>
                  <a:gd name="T7" fmla="*/ 42 h 84"/>
                  <a:gd name="T8" fmla="*/ 2 w 49"/>
                  <a:gd name="T9" fmla="*/ 10 h 84"/>
                  <a:gd name="T10" fmla="*/ 2 w 49"/>
                  <a:gd name="T11" fmla="*/ 2 h 84"/>
                  <a:gd name="T12" fmla="*/ 10 w 49"/>
                  <a:gd name="T13" fmla="*/ 2 h 84"/>
                  <a:gd name="T14" fmla="*/ 46 w 49"/>
                  <a:gd name="T15" fmla="*/ 38 h 84"/>
                  <a:gd name="T16" fmla="*/ 46 w 49"/>
                  <a:gd name="T17" fmla="*/ 46 h 84"/>
                  <a:gd name="T18" fmla="*/ 10 w 49"/>
                  <a:gd name="T19" fmla="*/ 82 h 84"/>
                  <a:gd name="T20" fmla="*/ 6 w 49"/>
                  <a:gd name="T21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" h="84">
                    <a:moveTo>
                      <a:pt x="6" y="84"/>
                    </a:moveTo>
                    <a:cubicBezTo>
                      <a:pt x="5" y="84"/>
                      <a:pt x="3" y="84"/>
                      <a:pt x="2" y="82"/>
                    </a:cubicBezTo>
                    <a:cubicBezTo>
                      <a:pt x="0" y="80"/>
                      <a:pt x="0" y="76"/>
                      <a:pt x="2" y="74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0" y="8"/>
                      <a:pt x="0" y="4"/>
                      <a:pt x="2" y="2"/>
                    </a:cubicBezTo>
                    <a:cubicBezTo>
                      <a:pt x="4" y="0"/>
                      <a:pt x="8" y="0"/>
                      <a:pt x="10" y="2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9" y="40"/>
                      <a:pt x="49" y="44"/>
                      <a:pt x="46" y="46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9" y="84"/>
                      <a:pt x="8" y="84"/>
                      <a:pt x="6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63" name="Freeform 163">
                <a:extLst>
                  <a:ext uri="{FF2B5EF4-FFF2-40B4-BE49-F238E27FC236}">
                    <a16:creationId xmlns:a16="http://schemas.microsoft.com/office/drawing/2014/main" id="{B787D96D-3AA0-B195-4EE7-092EB8378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3194"/>
                <a:ext cx="73" cy="125"/>
              </a:xfrm>
              <a:custGeom>
                <a:avLst/>
                <a:gdLst>
                  <a:gd name="T0" fmla="*/ 42 w 49"/>
                  <a:gd name="T1" fmla="*/ 84 h 84"/>
                  <a:gd name="T2" fmla="*/ 38 w 49"/>
                  <a:gd name="T3" fmla="*/ 82 h 84"/>
                  <a:gd name="T4" fmla="*/ 2 w 49"/>
                  <a:gd name="T5" fmla="*/ 46 h 84"/>
                  <a:gd name="T6" fmla="*/ 2 w 49"/>
                  <a:gd name="T7" fmla="*/ 38 h 84"/>
                  <a:gd name="T8" fmla="*/ 38 w 49"/>
                  <a:gd name="T9" fmla="*/ 2 h 84"/>
                  <a:gd name="T10" fmla="*/ 46 w 49"/>
                  <a:gd name="T11" fmla="*/ 2 h 84"/>
                  <a:gd name="T12" fmla="*/ 46 w 49"/>
                  <a:gd name="T13" fmla="*/ 10 h 84"/>
                  <a:gd name="T14" fmla="*/ 15 w 49"/>
                  <a:gd name="T15" fmla="*/ 42 h 84"/>
                  <a:gd name="T16" fmla="*/ 46 w 49"/>
                  <a:gd name="T17" fmla="*/ 74 h 84"/>
                  <a:gd name="T18" fmla="*/ 46 w 49"/>
                  <a:gd name="T19" fmla="*/ 82 h 84"/>
                  <a:gd name="T20" fmla="*/ 42 w 49"/>
                  <a:gd name="T21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" h="84">
                    <a:moveTo>
                      <a:pt x="42" y="84"/>
                    </a:moveTo>
                    <a:cubicBezTo>
                      <a:pt x="41" y="84"/>
                      <a:pt x="39" y="84"/>
                      <a:pt x="38" y="82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4"/>
                      <a:pt x="0" y="40"/>
                      <a:pt x="2" y="38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40" y="0"/>
                      <a:pt x="44" y="0"/>
                      <a:pt x="46" y="2"/>
                    </a:cubicBezTo>
                    <a:cubicBezTo>
                      <a:pt x="49" y="4"/>
                      <a:pt x="49" y="8"/>
                      <a:pt x="46" y="10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46" y="74"/>
                      <a:pt x="46" y="74"/>
                      <a:pt x="46" y="74"/>
                    </a:cubicBezTo>
                    <a:cubicBezTo>
                      <a:pt x="49" y="76"/>
                      <a:pt x="49" y="80"/>
                      <a:pt x="46" y="82"/>
                    </a:cubicBezTo>
                    <a:cubicBezTo>
                      <a:pt x="45" y="84"/>
                      <a:pt x="44" y="84"/>
                      <a:pt x="42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64" name="Freeform 164">
                <a:extLst>
                  <a:ext uri="{FF2B5EF4-FFF2-40B4-BE49-F238E27FC236}">
                    <a16:creationId xmlns:a16="http://schemas.microsoft.com/office/drawing/2014/main" id="{B3FD685D-C3AA-E73A-65BE-48E2DEF53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2999"/>
                <a:ext cx="426" cy="426"/>
              </a:xfrm>
              <a:custGeom>
                <a:avLst/>
                <a:gdLst>
                  <a:gd name="T0" fmla="*/ 282 w 288"/>
                  <a:gd name="T1" fmla="*/ 288 h 288"/>
                  <a:gd name="T2" fmla="*/ 6 w 288"/>
                  <a:gd name="T3" fmla="*/ 288 h 288"/>
                  <a:gd name="T4" fmla="*/ 0 w 288"/>
                  <a:gd name="T5" fmla="*/ 282 h 288"/>
                  <a:gd name="T6" fmla="*/ 0 w 288"/>
                  <a:gd name="T7" fmla="*/ 6 h 288"/>
                  <a:gd name="T8" fmla="*/ 6 w 288"/>
                  <a:gd name="T9" fmla="*/ 0 h 288"/>
                  <a:gd name="T10" fmla="*/ 282 w 288"/>
                  <a:gd name="T11" fmla="*/ 0 h 288"/>
                  <a:gd name="T12" fmla="*/ 288 w 288"/>
                  <a:gd name="T13" fmla="*/ 6 h 288"/>
                  <a:gd name="T14" fmla="*/ 288 w 288"/>
                  <a:gd name="T15" fmla="*/ 282 h 288"/>
                  <a:gd name="T16" fmla="*/ 282 w 288"/>
                  <a:gd name="T17" fmla="*/ 288 h 288"/>
                  <a:gd name="T18" fmla="*/ 12 w 288"/>
                  <a:gd name="T19" fmla="*/ 276 h 288"/>
                  <a:gd name="T20" fmla="*/ 276 w 288"/>
                  <a:gd name="T21" fmla="*/ 276 h 288"/>
                  <a:gd name="T22" fmla="*/ 276 w 288"/>
                  <a:gd name="T23" fmla="*/ 12 h 288"/>
                  <a:gd name="T24" fmla="*/ 12 w 288"/>
                  <a:gd name="T25" fmla="*/ 12 h 288"/>
                  <a:gd name="T26" fmla="*/ 12 w 288"/>
                  <a:gd name="T27" fmla="*/ 276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" h="288">
                    <a:moveTo>
                      <a:pt x="282" y="288"/>
                    </a:moveTo>
                    <a:cubicBezTo>
                      <a:pt x="6" y="288"/>
                      <a:pt x="6" y="288"/>
                      <a:pt x="6" y="288"/>
                    </a:cubicBezTo>
                    <a:cubicBezTo>
                      <a:pt x="3" y="288"/>
                      <a:pt x="0" y="286"/>
                      <a:pt x="0" y="28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3"/>
                      <a:pt x="288" y="6"/>
                    </a:cubicBezTo>
                    <a:cubicBezTo>
                      <a:pt x="288" y="282"/>
                      <a:pt x="288" y="282"/>
                      <a:pt x="288" y="282"/>
                    </a:cubicBezTo>
                    <a:cubicBezTo>
                      <a:pt x="288" y="286"/>
                      <a:pt x="286" y="288"/>
                      <a:pt x="282" y="288"/>
                    </a:cubicBezTo>
                    <a:close/>
                    <a:moveTo>
                      <a:pt x="12" y="276"/>
                    </a:moveTo>
                    <a:cubicBezTo>
                      <a:pt x="276" y="276"/>
                      <a:pt x="276" y="276"/>
                      <a:pt x="276" y="276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E9E4EBB-A627-5945-7754-71ACB6A77D94}"/>
              </a:ext>
            </a:extLst>
          </p:cNvPr>
          <p:cNvGrpSpPr/>
          <p:nvPr/>
        </p:nvGrpSpPr>
        <p:grpSpPr>
          <a:xfrm>
            <a:off x="10517455" y="3402895"/>
            <a:ext cx="516359" cy="513899"/>
            <a:chOff x="10517455" y="3402895"/>
            <a:chExt cx="516359" cy="51389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893FCA6-7529-A199-6B78-1C6613ABF121}"/>
                </a:ext>
              </a:extLst>
            </p:cNvPr>
            <p:cNvSpPr>
              <a:spLocks/>
            </p:cNvSpPr>
            <p:nvPr/>
          </p:nvSpPr>
          <p:spPr>
            <a:xfrm>
              <a:off x="10517455" y="3402895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grpSp>
          <p:nvGrpSpPr>
            <p:cNvPr id="67" name="Group 76">
              <a:extLst>
                <a:ext uri="{FF2B5EF4-FFF2-40B4-BE49-F238E27FC236}">
                  <a16:creationId xmlns:a16="http://schemas.microsoft.com/office/drawing/2014/main" id="{002CA25F-E50E-6F14-7742-979009C563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603104" y="3499593"/>
              <a:ext cx="345061" cy="302130"/>
              <a:chOff x="6539" y="464"/>
              <a:chExt cx="426" cy="373"/>
            </a:xfrm>
            <a:solidFill>
              <a:schemeClr val="bg1"/>
            </a:solidFill>
          </p:grpSpPr>
          <p:sp>
            <p:nvSpPr>
              <p:cNvPr id="68" name="Freeform 77">
                <a:extLst>
                  <a:ext uri="{FF2B5EF4-FFF2-40B4-BE49-F238E27FC236}">
                    <a16:creationId xmlns:a16="http://schemas.microsoft.com/office/drawing/2014/main" id="{29D0F774-9476-A0E2-F1D6-CDC47D834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9" y="464"/>
                <a:ext cx="426" cy="373"/>
              </a:xfrm>
              <a:custGeom>
                <a:avLst/>
                <a:gdLst>
                  <a:gd name="T0" fmla="*/ 210 w 288"/>
                  <a:gd name="T1" fmla="*/ 252 h 252"/>
                  <a:gd name="T2" fmla="*/ 209 w 288"/>
                  <a:gd name="T3" fmla="*/ 252 h 252"/>
                  <a:gd name="T4" fmla="*/ 144 w 288"/>
                  <a:gd name="T5" fmla="*/ 234 h 252"/>
                  <a:gd name="T6" fmla="*/ 80 w 288"/>
                  <a:gd name="T7" fmla="*/ 252 h 252"/>
                  <a:gd name="T8" fmla="*/ 77 w 288"/>
                  <a:gd name="T9" fmla="*/ 252 h 252"/>
                  <a:gd name="T10" fmla="*/ 5 w 288"/>
                  <a:gd name="T11" fmla="*/ 234 h 252"/>
                  <a:gd name="T12" fmla="*/ 0 w 288"/>
                  <a:gd name="T13" fmla="*/ 228 h 252"/>
                  <a:gd name="T14" fmla="*/ 12 w 288"/>
                  <a:gd name="T15" fmla="*/ 6 h 252"/>
                  <a:gd name="T16" fmla="*/ 15 w 288"/>
                  <a:gd name="T17" fmla="*/ 1 h 252"/>
                  <a:gd name="T18" fmla="*/ 20 w 288"/>
                  <a:gd name="T19" fmla="*/ 0 h 252"/>
                  <a:gd name="T20" fmla="*/ 84 w 288"/>
                  <a:gd name="T21" fmla="*/ 18 h 252"/>
                  <a:gd name="T22" fmla="*/ 143 w 288"/>
                  <a:gd name="T23" fmla="*/ 0 h 252"/>
                  <a:gd name="T24" fmla="*/ 146 w 288"/>
                  <a:gd name="T25" fmla="*/ 0 h 252"/>
                  <a:gd name="T26" fmla="*/ 204 w 288"/>
                  <a:gd name="T27" fmla="*/ 18 h 252"/>
                  <a:gd name="T28" fmla="*/ 269 w 288"/>
                  <a:gd name="T29" fmla="*/ 0 h 252"/>
                  <a:gd name="T30" fmla="*/ 274 w 288"/>
                  <a:gd name="T31" fmla="*/ 1 h 252"/>
                  <a:gd name="T32" fmla="*/ 276 w 288"/>
                  <a:gd name="T33" fmla="*/ 6 h 252"/>
                  <a:gd name="T34" fmla="*/ 288 w 288"/>
                  <a:gd name="T35" fmla="*/ 228 h 252"/>
                  <a:gd name="T36" fmla="*/ 284 w 288"/>
                  <a:gd name="T37" fmla="*/ 234 h 252"/>
                  <a:gd name="T38" fmla="*/ 212 w 288"/>
                  <a:gd name="T39" fmla="*/ 252 h 252"/>
                  <a:gd name="T40" fmla="*/ 210 w 288"/>
                  <a:gd name="T41" fmla="*/ 252 h 252"/>
                  <a:gd name="T42" fmla="*/ 144 w 288"/>
                  <a:gd name="T43" fmla="*/ 222 h 252"/>
                  <a:gd name="T44" fmla="*/ 146 w 288"/>
                  <a:gd name="T45" fmla="*/ 222 h 252"/>
                  <a:gd name="T46" fmla="*/ 210 w 288"/>
                  <a:gd name="T47" fmla="*/ 240 h 252"/>
                  <a:gd name="T48" fmla="*/ 276 w 288"/>
                  <a:gd name="T49" fmla="*/ 223 h 252"/>
                  <a:gd name="T50" fmla="*/ 265 w 288"/>
                  <a:gd name="T51" fmla="*/ 14 h 252"/>
                  <a:gd name="T52" fmla="*/ 206 w 288"/>
                  <a:gd name="T53" fmla="*/ 30 h 252"/>
                  <a:gd name="T54" fmla="*/ 203 w 288"/>
                  <a:gd name="T55" fmla="*/ 30 h 252"/>
                  <a:gd name="T56" fmla="*/ 144 w 288"/>
                  <a:gd name="T57" fmla="*/ 12 h 252"/>
                  <a:gd name="T58" fmla="*/ 86 w 288"/>
                  <a:gd name="T59" fmla="*/ 30 h 252"/>
                  <a:gd name="T60" fmla="*/ 83 w 288"/>
                  <a:gd name="T61" fmla="*/ 30 h 252"/>
                  <a:gd name="T62" fmla="*/ 24 w 288"/>
                  <a:gd name="T63" fmla="*/ 14 h 252"/>
                  <a:gd name="T64" fmla="*/ 12 w 288"/>
                  <a:gd name="T65" fmla="*/ 223 h 252"/>
                  <a:gd name="T66" fmla="*/ 78 w 288"/>
                  <a:gd name="T67" fmla="*/ 240 h 252"/>
                  <a:gd name="T68" fmla="*/ 143 w 288"/>
                  <a:gd name="T69" fmla="*/ 222 h 252"/>
                  <a:gd name="T70" fmla="*/ 144 w 288"/>
                  <a:gd name="T71" fmla="*/ 22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88" h="252">
                    <a:moveTo>
                      <a:pt x="210" y="252"/>
                    </a:moveTo>
                    <a:cubicBezTo>
                      <a:pt x="210" y="252"/>
                      <a:pt x="209" y="252"/>
                      <a:pt x="209" y="252"/>
                    </a:cubicBezTo>
                    <a:cubicBezTo>
                      <a:pt x="144" y="234"/>
                      <a:pt x="144" y="234"/>
                      <a:pt x="144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79" y="252"/>
                      <a:pt x="78" y="252"/>
                      <a:pt x="77" y="252"/>
                    </a:cubicBezTo>
                    <a:cubicBezTo>
                      <a:pt x="5" y="234"/>
                      <a:pt x="5" y="234"/>
                      <a:pt x="5" y="234"/>
                    </a:cubicBezTo>
                    <a:cubicBezTo>
                      <a:pt x="2" y="233"/>
                      <a:pt x="0" y="231"/>
                      <a:pt x="0" y="228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4"/>
                      <a:pt x="13" y="2"/>
                      <a:pt x="15" y="1"/>
                    </a:cubicBezTo>
                    <a:cubicBezTo>
                      <a:pt x="16" y="0"/>
                      <a:pt x="18" y="0"/>
                      <a:pt x="20" y="0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44" y="0"/>
                      <a:pt x="145" y="0"/>
                      <a:pt x="146" y="0"/>
                    </a:cubicBezTo>
                    <a:cubicBezTo>
                      <a:pt x="204" y="18"/>
                      <a:pt x="204" y="18"/>
                      <a:pt x="204" y="18"/>
                    </a:cubicBezTo>
                    <a:cubicBezTo>
                      <a:pt x="269" y="0"/>
                      <a:pt x="269" y="0"/>
                      <a:pt x="269" y="0"/>
                    </a:cubicBezTo>
                    <a:cubicBezTo>
                      <a:pt x="270" y="0"/>
                      <a:pt x="272" y="0"/>
                      <a:pt x="274" y="1"/>
                    </a:cubicBezTo>
                    <a:cubicBezTo>
                      <a:pt x="275" y="2"/>
                      <a:pt x="276" y="4"/>
                      <a:pt x="276" y="6"/>
                    </a:cubicBezTo>
                    <a:cubicBezTo>
                      <a:pt x="288" y="228"/>
                      <a:pt x="288" y="228"/>
                      <a:pt x="288" y="228"/>
                    </a:cubicBezTo>
                    <a:cubicBezTo>
                      <a:pt x="288" y="231"/>
                      <a:pt x="286" y="233"/>
                      <a:pt x="284" y="234"/>
                    </a:cubicBezTo>
                    <a:cubicBezTo>
                      <a:pt x="212" y="252"/>
                      <a:pt x="212" y="252"/>
                      <a:pt x="212" y="252"/>
                    </a:cubicBezTo>
                    <a:cubicBezTo>
                      <a:pt x="211" y="252"/>
                      <a:pt x="211" y="252"/>
                      <a:pt x="210" y="252"/>
                    </a:cubicBezTo>
                    <a:close/>
                    <a:moveTo>
                      <a:pt x="144" y="222"/>
                    </a:moveTo>
                    <a:cubicBezTo>
                      <a:pt x="145" y="222"/>
                      <a:pt x="145" y="222"/>
                      <a:pt x="146" y="222"/>
                    </a:cubicBezTo>
                    <a:cubicBezTo>
                      <a:pt x="210" y="240"/>
                      <a:pt x="210" y="240"/>
                      <a:pt x="210" y="240"/>
                    </a:cubicBezTo>
                    <a:cubicBezTo>
                      <a:pt x="276" y="223"/>
                      <a:pt x="276" y="223"/>
                      <a:pt x="276" y="223"/>
                    </a:cubicBezTo>
                    <a:cubicBezTo>
                      <a:pt x="265" y="14"/>
                      <a:pt x="265" y="14"/>
                      <a:pt x="265" y="14"/>
                    </a:cubicBezTo>
                    <a:cubicBezTo>
                      <a:pt x="206" y="30"/>
                      <a:pt x="206" y="30"/>
                      <a:pt x="206" y="30"/>
                    </a:cubicBezTo>
                    <a:cubicBezTo>
                      <a:pt x="205" y="30"/>
                      <a:pt x="204" y="30"/>
                      <a:pt x="203" y="30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85" y="30"/>
                      <a:pt x="84" y="30"/>
                      <a:pt x="83" y="30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12" y="223"/>
                      <a:pt x="12" y="223"/>
                      <a:pt x="12" y="223"/>
                    </a:cubicBezTo>
                    <a:cubicBezTo>
                      <a:pt x="78" y="240"/>
                      <a:pt x="78" y="240"/>
                      <a:pt x="78" y="240"/>
                    </a:cubicBezTo>
                    <a:cubicBezTo>
                      <a:pt x="143" y="222"/>
                      <a:pt x="143" y="222"/>
                      <a:pt x="143" y="222"/>
                    </a:cubicBezTo>
                    <a:cubicBezTo>
                      <a:pt x="143" y="222"/>
                      <a:pt x="144" y="222"/>
                      <a:pt x="144" y="2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69" name="Freeform 78">
                <a:extLst>
                  <a:ext uri="{FF2B5EF4-FFF2-40B4-BE49-F238E27FC236}">
                    <a16:creationId xmlns:a16="http://schemas.microsoft.com/office/drawing/2014/main" id="{5A0DAE72-6D76-DC73-91D5-D4B9F21C5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2" y="55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0" name="Freeform 79">
                <a:extLst>
                  <a:ext uri="{FF2B5EF4-FFF2-40B4-BE49-F238E27FC236}">
                    <a16:creationId xmlns:a16="http://schemas.microsoft.com/office/drawing/2014/main" id="{52990751-9209-E5A7-B2A5-96D1F1CEA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2" y="55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1" name="Freeform 80">
                <a:extLst>
                  <a:ext uri="{FF2B5EF4-FFF2-40B4-BE49-F238E27FC236}">
                    <a16:creationId xmlns:a16="http://schemas.microsoft.com/office/drawing/2014/main" id="{88ADDDD6-00E1-441E-C843-74F519E96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0" y="702"/>
                <a:ext cx="28" cy="28"/>
              </a:xfrm>
              <a:custGeom>
                <a:avLst/>
                <a:gdLst>
                  <a:gd name="T0" fmla="*/ 6 w 19"/>
                  <a:gd name="T1" fmla="*/ 19 h 19"/>
                  <a:gd name="T2" fmla="*/ 2 w 19"/>
                  <a:gd name="T3" fmla="*/ 17 h 19"/>
                  <a:gd name="T4" fmla="*/ 2 w 19"/>
                  <a:gd name="T5" fmla="*/ 9 h 19"/>
                  <a:gd name="T6" fmla="*/ 8 w 19"/>
                  <a:gd name="T7" fmla="*/ 3 h 19"/>
                  <a:gd name="T8" fmla="*/ 16 w 19"/>
                  <a:gd name="T9" fmla="*/ 3 h 19"/>
                  <a:gd name="T10" fmla="*/ 16 w 19"/>
                  <a:gd name="T11" fmla="*/ 11 h 19"/>
                  <a:gd name="T12" fmla="*/ 10 w 19"/>
                  <a:gd name="T13" fmla="*/ 17 h 19"/>
                  <a:gd name="T14" fmla="*/ 6 w 19"/>
                  <a:gd name="T1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9">
                    <a:moveTo>
                      <a:pt x="6" y="19"/>
                    </a:moveTo>
                    <a:cubicBezTo>
                      <a:pt x="5" y="19"/>
                      <a:pt x="3" y="18"/>
                      <a:pt x="2" y="17"/>
                    </a:cubicBezTo>
                    <a:cubicBezTo>
                      <a:pt x="0" y="15"/>
                      <a:pt x="0" y="11"/>
                      <a:pt x="2" y="9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0" y="0"/>
                      <a:pt x="14" y="0"/>
                      <a:pt x="16" y="3"/>
                    </a:cubicBezTo>
                    <a:cubicBezTo>
                      <a:pt x="19" y="5"/>
                      <a:pt x="19" y="9"/>
                      <a:pt x="16" y="11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8" y="19"/>
                      <a:pt x="6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2" name="Freeform 81">
                <a:extLst>
                  <a:ext uri="{FF2B5EF4-FFF2-40B4-BE49-F238E27FC236}">
                    <a16:creationId xmlns:a16="http://schemas.microsoft.com/office/drawing/2014/main" id="{6F94E7AB-F399-AA04-D136-6D0E5747F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3" y="649"/>
                <a:ext cx="28" cy="28"/>
              </a:xfrm>
              <a:custGeom>
                <a:avLst/>
                <a:gdLst>
                  <a:gd name="T0" fmla="*/ 6 w 19"/>
                  <a:gd name="T1" fmla="*/ 19 h 19"/>
                  <a:gd name="T2" fmla="*/ 2 w 19"/>
                  <a:gd name="T3" fmla="*/ 17 h 19"/>
                  <a:gd name="T4" fmla="*/ 2 w 19"/>
                  <a:gd name="T5" fmla="*/ 9 h 19"/>
                  <a:gd name="T6" fmla="*/ 8 w 19"/>
                  <a:gd name="T7" fmla="*/ 3 h 19"/>
                  <a:gd name="T8" fmla="*/ 16 w 19"/>
                  <a:gd name="T9" fmla="*/ 3 h 19"/>
                  <a:gd name="T10" fmla="*/ 16 w 19"/>
                  <a:gd name="T11" fmla="*/ 11 h 19"/>
                  <a:gd name="T12" fmla="*/ 10 w 19"/>
                  <a:gd name="T13" fmla="*/ 17 h 19"/>
                  <a:gd name="T14" fmla="*/ 6 w 19"/>
                  <a:gd name="T1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9">
                    <a:moveTo>
                      <a:pt x="6" y="19"/>
                    </a:moveTo>
                    <a:cubicBezTo>
                      <a:pt x="5" y="19"/>
                      <a:pt x="3" y="18"/>
                      <a:pt x="2" y="17"/>
                    </a:cubicBezTo>
                    <a:cubicBezTo>
                      <a:pt x="0" y="15"/>
                      <a:pt x="0" y="11"/>
                      <a:pt x="2" y="9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0" y="0"/>
                      <a:pt x="14" y="0"/>
                      <a:pt x="16" y="3"/>
                    </a:cubicBezTo>
                    <a:cubicBezTo>
                      <a:pt x="19" y="5"/>
                      <a:pt x="19" y="9"/>
                      <a:pt x="16" y="11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8" y="19"/>
                      <a:pt x="6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3" name="Freeform 82">
                <a:extLst>
                  <a:ext uri="{FF2B5EF4-FFF2-40B4-BE49-F238E27FC236}">
                    <a16:creationId xmlns:a16="http://schemas.microsoft.com/office/drawing/2014/main" id="{6749F75D-4FE4-8FCD-EEA0-6351D1BDD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9" y="615"/>
                <a:ext cx="17" cy="35"/>
              </a:xfrm>
              <a:custGeom>
                <a:avLst/>
                <a:gdLst>
                  <a:gd name="T0" fmla="*/ 6 w 12"/>
                  <a:gd name="T1" fmla="*/ 24 h 24"/>
                  <a:gd name="T2" fmla="*/ 0 w 12"/>
                  <a:gd name="T3" fmla="*/ 18 h 24"/>
                  <a:gd name="T4" fmla="*/ 0 w 12"/>
                  <a:gd name="T5" fmla="*/ 6 h 24"/>
                  <a:gd name="T6" fmla="*/ 6 w 12"/>
                  <a:gd name="T7" fmla="*/ 0 h 24"/>
                  <a:gd name="T8" fmla="*/ 12 w 12"/>
                  <a:gd name="T9" fmla="*/ 6 h 24"/>
                  <a:gd name="T10" fmla="*/ 12 w 12"/>
                  <a:gd name="T11" fmla="*/ 18 h 24"/>
                  <a:gd name="T12" fmla="*/ 6 w 12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6" y="24"/>
                    </a:moveTo>
                    <a:cubicBezTo>
                      <a:pt x="3" y="24"/>
                      <a:pt x="0" y="21"/>
                      <a:pt x="0" y="1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21"/>
                      <a:pt x="10" y="24"/>
                      <a:pt x="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4" name="Freeform 83">
                <a:extLst>
                  <a:ext uri="{FF2B5EF4-FFF2-40B4-BE49-F238E27FC236}">
                    <a16:creationId xmlns:a16="http://schemas.microsoft.com/office/drawing/2014/main" id="{0449787F-BC6A-6738-0B17-B3B4AEF1B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9" y="658"/>
                <a:ext cx="28" cy="28"/>
              </a:xfrm>
              <a:custGeom>
                <a:avLst/>
                <a:gdLst>
                  <a:gd name="T0" fmla="*/ 12 w 19"/>
                  <a:gd name="T1" fmla="*/ 19 h 19"/>
                  <a:gd name="T2" fmla="*/ 8 w 19"/>
                  <a:gd name="T3" fmla="*/ 17 h 19"/>
                  <a:gd name="T4" fmla="*/ 2 w 19"/>
                  <a:gd name="T5" fmla="*/ 11 h 19"/>
                  <a:gd name="T6" fmla="*/ 2 w 19"/>
                  <a:gd name="T7" fmla="*/ 3 h 19"/>
                  <a:gd name="T8" fmla="*/ 10 w 19"/>
                  <a:gd name="T9" fmla="*/ 3 h 19"/>
                  <a:gd name="T10" fmla="*/ 16 w 19"/>
                  <a:gd name="T11" fmla="*/ 9 h 19"/>
                  <a:gd name="T12" fmla="*/ 16 w 19"/>
                  <a:gd name="T13" fmla="*/ 17 h 19"/>
                  <a:gd name="T14" fmla="*/ 12 w 19"/>
                  <a:gd name="T1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9">
                    <a:moveTo>
                      <a:pt x="12" y="19"/>
                    </a:moveTo>
                    <a:cubicBezTo>
                      <a:pt x="11" y="19"/>
                      <a:pt x="9" y="18"/>
                      <a:pt x="8" y="17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9" y="11"/>
                      <a:pt x="19" y="15"/>
                      <a:pt x="16" y="17"/>
                    </a:cubicBezTo>
                    <a:cubicBezTo>
                      <a:pt x="15" y="18"/>
                      <a:pt x="14" y="19"/>
                      <a:pt x="1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5" name="Freeform 84">
                <a:extLst>
                  <a:ext uri="{FF2B5EF4-FFF2-40B4-BE49-F238E27FC236}">
                    <a16:creationId xmlns:a16="http://schemas.microsoft.com/office/drawing/2014/main" id="{F7F6BD7E-73CC-5B5F-CA10-90AC4BB12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5" y="624"/>
                <a:ext cx="36" cy="18"/>
              </a:xfrm>
              <a:custGeom>
                <a:avLst/>
                <a:gdLst>
                  <a:gd name="T0" fmla="*/ 18 w 24"/>
                  <a:gd name="T1" fmla="*/ 12 h 12"/>
                  <a:gd name="T2" fmla="*/ 6 w 24"/>
                  <a:gd name="T3" fmla="*/ 12 h 12"/>
                  <a:gd name="T4" fmla="*/ 0 w 24"/>
                  <a:gd name="T5" fmla="*/ 6 h 12"/>
                  <a:gd name="T6" fmla="*/ 6 w 24"/>
                  <a:gd name="T7" fmla="*/ 0 h 12"/>
                  <a:gd name="T8" fmla="*/ 18 w 24"/>
                  <a:gd name="T9" fmla="*/ 0 h 12"/>
                  <a:gd name="T10" fmla="*/ 24 w 24"/>
                  <a:gd name="T11" fmla="*/ 6 h 12"/>
                  <a:gd name="T12" fmla="*/ 18 w 24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18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0"/>
                      <a:pt x="24" y="3"/>
                      <a:pt x="24" y="6"/>
                    </a:cubicBezTo>
                    <a:cubicBezTo>
                      <a:pt x="24" y="9"/>
                      <a:pt x="22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76" name="Freeform 85">
                <a:extLst>
                  <a:ext uri="{FF2B5EF4-FFF2-40B4-BE49-F238E27FC236}">
                    <a16:creationId xmlns:a16="http://schemas.microsoft.com/office/drawing/2014/main" id="{E54DF14B-BB1A-C112-21B2-60B089FEC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1" y="676"/>
                <a:ext cx="28" cy="28"/>
              </a:xfrm>
              <a:custGeom>
                <a:avLst/>
                <a:gdLst>
                  <a:gd name="T0" fmla="*/ 6 w 19"/>
                  <a:gd name="T1" fmla="*/ 19 h 19"/>
                  <a:gd name="T2" fmla="*/ 2 w 19"/>
                  <a:gd name="T3" fmla="*/ 17 h 19"/>
                  <a:gd name="T4" fmla="*/ 2 w 19"/>
                  <a:gd name="T5" fmla="*/ 9 h 19"/>
                  <a:gd name="T6" fmla="*/ 8 w 19"/>
                  <a:gd name="T7" fmla="*/ 3 h 19"/>
                  <a:gd name="T8" fmla="*/ 16 w 19"/>
                  <a:gd name="T9" fmla="*/ 3 h 19"/>
                  <a:gd name="T10" fmla="*/ 16 w 19"/>
                  <a:gd name="T11" fmla="*/ 11 h 19"/>
                  <a:gd name="T12" fmla="*/ 10 w 19"/>
                  <a:gd name="T13" fmla="*/ 17 h 19"/>
                  <a:gd name="T14" fmla="*/ 6 w 19"/>
                  <a:gd name="T1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9">
                    <a:moveTo>
                      <a:pt x="6" y="19"/>
                    </a:moveTo>
                    <a:cubicBezTo>
                      <a:pt x="5" y="19"/>
                      <a:pt x="3" y="18"/>
                      <a:pt x="2" y="17"/>
                    </a:cubicBezTo>
                    <a:cubicBezTo>
                      <a:pt x="0" y="15"/>
                      <a:pt x="0" y="11"/>
                      <a:pt x="2" y="9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0" y="0"/>
                      <a:pt x="14" y="0"/>
                      <a:pt x="16" y="3"/>
                    </a:cubicBezTo>
                    <a:cubicBezTo>
                      <a:pt x="19" y="5"/>
                      <a:pt x="19" y="9"/>
                      <a:pt x="16" y="11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9" y="18"/>
                      <a:pt x="8" y="19"/>
                      <a:pt x="6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F555B8-E1E5-B0E3-9C4C-93987E0C36FB}"/>
              </a:ext>
            </a:extLst>
          </p:cNvPr>
          <p:cNvGrpSpPr/>
          <p:nvPr/>
        </p:nvGrpSpPr>
        <p:grpSpPr>
          <a:xfrm>
            <a:off x="10517455" y="4871127"/>
            <a:ext cx="516359" cy="513899"/>
            <a:chOff x="10517455" y="4810428"/>
            <a:chExt cx="516359" cy="513899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AC336F5-F4C2-6324-CD6D-19BA95BD54FE}"/>
                </a:ext>
              </a:extLst>
            </p:cNvPr>
            <p:cNvSpPr>
              <a:spLocks/>
            </p:cNvSpPr>
            <p:nvPr/>
          </p:nvSpPr>
          <p:spPr>
            <a:xfrm>
              <a:off x="10517455" y="4810428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grpSp>
          <p:nvGrpSpPr>
            <p:cNvPr id="79" name="Group 109">
              <a:extLst>
                <a:ext uri="{FF2B5EF4-FFF2-40B4-BE49-F238E27FC236}">
                  <a16:creationId xmlns:a16="http://schemas.microsoft.com/office/drawing/2014/main" id="{7B8A172C-D977-5F5F-08E7-5074F81557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626944" y="4925965"/>
              <a:ext cx="297380" cy="282823"/>
              <a:chOff x="3623" y="1881"/>
              <a:chExt cx="429" cy="408"/>
            </a:xfrm>
            <a:solidFill>
              <a:schemeClr val="bg1"/>
            </a:solidFill>
          </p:grpSpPr>
          <p:sp>
            <p:nvSpPr>
              <p:cNvPr id="80" name="Freeform 110">
                <a:extLst>
                  <a:ext uri="{FF2B5EF4-FFF2-40B4-BE49-F238E27FC236}">
                    <a16:creationId xmlns:a16="http://schemas.microsoft.com/office/drawing/2014/main" id="{4FF194E8-D095-8252-C82E-09E015BC7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1881"/>
                <a:ext cx="427" cy="408"/>
              </a:xfrm>
              <a:custGeom>
                <a:avLst/>
                <a:gdLst>
                  <a:gd name="T0" fmla="*/ 282 w 288"/>
                  <a:gd name="T1" fmla="*/ 282 h 282"/>
                  <a:gd name="T2" fmla="*/ 6 w 288"/>
                  <a:gd name="T3" fmla="*/ 282 h 282"/>
                  <a:gd name="T4" fmla="*/ 0 w 288"/>
                  <a:gd name="T5" fmla="*/ 276 h 282"/>
                  <a:gd name="T6" fmla="*/ 0 w 288"/>
                  <a:gd name="T7" fmla="*/ 137 h 282"/>
                  <a:gd name="T8" fmla="*/ 0 w 288"/>
                  <a:gd name="T9" fmla="*/ 137 h 282"/>
                  <a:gd name="T10" fmla="*/ 0 w 288"/>
                  <a:gd name="T11" fmla="*/ 6 h 282"/>
                  <a:gd name="T12" fmla="*/ 6 w 288"/>
                  <a:gd name="T13" fmla="*/ 0 h 282"/>
                  <a:gd name="T14" fmla="*/ 12 w 288"/>
                  <a:gd name="T15" fmla="*/ 6 h 282"/>
                  <a:gd name="T16" fmla="*/ 12 w 288"/>
                  <a:gd name="T17" fmla="*/ 127 h 282"/>
                  <a:gd name="T18" fmla="*/ 112 w 288"/>
                  <a:gd name="T19" fmla="*/ 74 h 282"/>
                  <a:gd name="T20" fmla="*/ 116 w 288"/>
                  <a:gd name="T21" fmla="*/ 73 h 282"/>
                  <a:gd name="T22" fmla="*/ 203 w 288"/>
                  <a:gd name="T23" fmla="*/ 101 h 282"/>
                  <a:gd name="T24" fmla="*/ 278 w 288"/>
                  <a:gd name="T25" fmla="*/ 16 h 282"/>
                  <a:gd name="T26" fmla="*/ 285 w 288"/>
                  <a:gd name="T27" fmla="*/ 14 h 282"/>
                  <a:gd name="T28" fmla="*/ 288 w 288"/>
                  <a:gd name="T29" fmla="*/ 20 h 282"/>
                  <a:gd name="T30" fmla="*/ 288 w 288"/>
                  <a:gd name="T31" fmla="*/ 276 h 282"/>
                  <a:gd name="T32" fmla="*/ 282 w 288"/>
                  <a:gd name="T33" fmla="*/ 282 h 282"/>
                  <a:gd name="T34" fmla="*/ 12 w 288"/>
                  <a:gd name="T35" fmla="*/ 270 h 282"/>
                  <a:gd name="T36" fmla="*/ 276 w 288"/>
                  <a:gd name="T37" fmla="*/ 270 h 282"/>
                  <a:gd name="T38" fmla="*/ 276 w 288"/>
                  <a:gd name="T39" fmla="*/ 36 h 282"/>
                  <a:gd name="T40" fmla="*/ 210 w 288"/>
                  <a:gd name="T41" fmla="*/ 112 h 282"/>
                  <a:gd name="T42" fmla="*/ 203 w 288"/>
                  <a:gd name="T43" fmla="*/ 114 h 282"/>
                  <a:gd name="T44" fmla="*/ 115 w 288"/>
                  <a:gd name="T45" fmla="*/ 86 h 282"/>
                  <a:gd name="T46" fmla="*/ 12 w 288"/>
                  <a:gd name="T47" fmla="*/ 141 h 282"/>
                  <a:gd name="T48" fmla="*/ 12 w 288"/>
                  <a:gd name="T49" fmla="*/ 27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8" h="282">
                    <a:moveTo>
                      <a:pt x="282" y="282"/>
                    </a:moveTo>
                    <a:cubicBezTo>
                      <a:pt x="6" y="282"/>
                      <a:pt x="6" y="282"/>
                      <a:pt x="6" y="282"/>
                    </a:cubicBezTo>
                    <a:cubicBezTo>
                      <a:pt x="3" y="282"/>
                      <a:pt x="0" y="279"/>
                      <a:pt x="0" y="276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27"/>
                      <a:pt x="12" y="127"/>
                      <a:pt x="12" y="127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3" y="73"/>
                      <a:pt x="115" y="73"/>
                      <a:pt x="116" y="73"/>
                    </a:cubicBezTo>
                    <a:cubicBezTo>
                      <a:pt x="203" y="101"/>
                      <a:pt x="203" y="101"/>
                      <a:pt x="203" y="101"/>
                    </a:cubicBezTo>
                    <a:cubicBezTo>
                      <a:pt x="278" y="16"/>
                      <a:pt x="278" y="16"/>
                      <a:pt x="278" y="16"/>
                    </a:cubicBezTo>
                    <a:cubicBezTo>
                      <a:pt x="280" y="14"/>
                      <a:pt x="282" y="13"/>
                      <a:pt x="285" y="14"/>
                    </a:cubicBezTo>
                    <a:cubicBezTo>
                      <a:pt x="287" y="15"/>
                      <a:pt x="288" y="17"/>
                      <a:pt x="288" y="20"/>
                    </a:cubicBezTo>
                    <a:cubicBezTo>
                      <a:pt x="288" y="276"/>
                      <a:pt x="288" y="276"/>
                      <a:pt x="288" y="276"/>
                    </a:cubicBezTo>
                    <a:cubicBezTo>
                      <a:pt x="288" y="279"/>
                      <a:pt x="286" y="282"/>
                      <a:pt x="282" y="282"/>
                    </a:cubicBezTo>
                    <a:close/>
                    <a:moveTo>
                      <a:pt x="12" y="270"/>
                    </a:moveTo>
                    <a:cubicBezTo>
                      <a:pt x="276" y="270"/>
                      <a:pt x="276" y="270"/>
                      <a:pt x="276" y="270"/>
                    </a:cubicBezTo>
                    <a:cubicBezTo>
                      <a:pt x="276" y="36"/>
                      <a:pt x="276" y="36"/>
                      <a:pt x="276" y="36"/>
                    </a:cubicBezTo>
                    <a:cubicBezTo>
                      <a:pt x="210" y="112"/>
                      <a:pt x="210" y="112"/>
                      <a:pt x="210" y="112"/>
                    </a:cubicBezTo>
                    <a:cubicBezTo>
                      <a:pt x="208" y="114"/>
                      <a:pt x="206" y="115"/>
                      <a:pt x="203" y="114"/>
                    </a:cubicBezTo>
                    <a:cubicBezTo>
                      <a:pt x="115" y="86"/>
                      <a:pt x="115" y="86"/>
                      <a:pt x="115" y="86"/>
                    </a:cubicBezTo>
                    <a:cubicBezTo>
                      <a:pt x="12" y="141"/>
                      <a:pt x="12" y="141"/>
                      <a:pt x="12" y="141"/>
                    </a:cubicBezTo>
                    <a:lnTo>
                      <a:pt x="12" y="2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81" name="Freeform 111">
                <a:extLst>
                  <a:ext uri="{FF2B5EF4-FFF2-40B4-BE49-F238E27FC236}">
                    <a16:creationId xmlns:a16="http://schemas.microsoft.com/office/drawing/2014/main" id="{36A7FC83-D810-98CF-FC3F-8179AAD08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2036"/>
                <a:ext cx="429" cy="158"/>
              </a:xfrm>
              <a:custGeom>
                <a:avLst/>
                <a:gdLst>
                  <a:gd name="T0" fmla="*/ 6 w 289"/>
                  <a:gd name="T1" fmla="*/ 109 h 109"/>
                  <a:gd name="T2" fmla="*/ 1 w 289"/>
                  <a:gd name="T3" fmla="*/ 106 h 109"/>
                  <a:gd name="T4" fmla="*/ 4 w 289"/>
                  <a:gd name="T5" fmla="*/ 98 h 109"/>
                  <a:gd name="T6" fmla="*/ 101 w 289"/>
                  <a:gd name="T7" fmla="*/ 43 h 109"/>
                  <a:gd name="T8" fmla="*/ 104 w 289"/>
                  <a:gd name="T9" fmla="*/ 43 h 109"/>
                  <a:gd name="T10" fmla="*/ 181 w 289"/>
                  <a:gd name="T11" fmla="*/ 43 h 109"/>
                  <a:gd name="T12" fmla="*/ 280 w 289"/>
                  <a:gd name="T13" fmla="*/ 1 h 109"/>
                  <a:gd name="T14" fmla="*/ 288 w 289"/>
                  <a:gd name="T15" fmla="*/ 4 h 109"/>
                  <a:gd name="T16" fmla="*/ 285 w 289"/>
                  <a:gd name="T17" fmla="*/ 12 h 109"/>
                  <a:gd name="T18" fmla="*/ 184 w 289"/>
                  <a:gd name="T19" fmla="*/ 54 h 109"/>
                  <a:gd name="T20" fmla="*/ 182 w 289"/>
                  <a:gd name="T21" fmla="*/ 55 h 109"/>
                  <a:gd name="T22" fmla="*/ 105 w 289"/>
                  <a:gd name="T23" fmla="*/ 55 h 109"/>
                  <a:gd name="T24" fmla="*/ 9 w 289"/>
                  <a:gd name="T25" fmla="*/ 108 h 109"/>
                  <a:gd name="T26" fmla="*/ 6 w 289"/>
                  <a:gd name="T27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9" h="109">
                    <a:moveTo>
                      <a:pt x="6" y="109"/>
                    </a:moveTo>
                    <a:cubicBezTo>
                      <a:pt x="4" y="109"/>
                      <a:pt x="2" y="108"/>
                      <a:pt x="1" y="106"/>
                    </a:cubicBezTo>
                    <a:cubicBezTo>
                      <a:pt x="0" y="103"/>
                      <a:pt x="1" y="100"/>
                      <a:pt x="4" y="98"/>
                    </a:cubicBezTo>
                    <a:cubicBezTo>
                      <a:pt x="101" y="43"/>
                      <a:pt x="101" y="43"/>
                      <a:pt x="101" y="43"/>
                    </a:cubicBezTo>
                    <a:cubicBezTo>
                      <a:pt x="102" y="43"/>
                      <a:pt x="103" y="43"/>
                      <a:pt x="104" y="43"/>
                    </a:cubicBezTo>
                    <a:cubicBezTo>
                      <a:pt x="181" y="43"/>
                      <a:pt x="181" y="43"/>
                      <a:pt x="181" y="43"/>
                    </a:cubicBezTo>
                    <a:cubicBezTo>
                      <a:pt x="280" y="1"/>
                      <a:pt x="280" y="1"/>
                      <a:pt x="280" y="1"/>
                    </a:cubicBezTo>
                    <a:cubicBezTo>
                      <a:pt x="283" y="0"/>
                      <a:pt x="287" y="1"/>
                      <a:pt x="288" y="4"/>
                    </a:cubicBezTo>
                    <a:cubicBezTo>
                      <a:pt x="289" y="7"/>
                      <a:pt x="288" y="11"/>
                      <a:pt x="285" y="12"/>
                    </a:cubicBezTo>
                    <a:cubicBezTo>
                      <a:pt x="184" y="54"/>
                      <a:pt x="184" y="54"/>
                      <a:pt x="184" y="54"/>
                    </a:cubicBezTo>
                    <a:cubicBezTo>
                      <a:pt x="184" y="54"/>
                      <a:pt x="183" y="55"/>
                      <a:pt x="182" y="55"/>
                    </a:cubicBezTo>
                    <a:cubicBezTo>
                      <a:pt x="105" y="55"/>
                      <a:pt x="105" y="55"/>
                      <a:pt x="105" y="55"/>
                    </a:cubicBezTo>
                    <a:cubicBezTo>
                      <a:pt x="9" y="108"/>
                      <a:pt x="9" y="108"/>
                      <a:pt x="9" y="108"/>
                    </a:cubicBezTo>
                    <a:cubicBezTo>
                      <a:pt x="8" y="109"/>
                      <a:pt x="7" y="109"/>
                      <a:pt x="6" y="1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sp>
            <p:nvSpPr>
              <p:cNvPr id="82" name="Freeform 112">
                <a:extLst>
                  <a:ext uri="{FF2B5EF4-FFF2-40B4-BE49-F238E27FC236}">
                    <a16:creationId xmlns:a16="http://schemas.microsoft.com/office/drawing/2014/main" id="{94C15869-D557-C928-6F7F-6FC8CC321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2140"/>
                <a:ext cx="429" cy="140"/>
              </a:xfrm>
              <a:custGeom>
                <a:avLst/>
                <a:gdLst>
                  <a:gd name="T0" fmla="*/ 6 w 289"/>
                  <a:gd name="T1" fmla="*/ 97 h 97"/>
                  <a:gd name="T2" fmla="*/ 1 w 289"/>
                  <a:gd name="T3" fmla="*/ 94 h 97"/>
                  <a:gd name="T4" fmla="*/ 3 w 289"/>
                  <a:gd name="T5" fmla="*/ 86 h 97"/>
                  <a:gd name="T6" fmla="*/ 100 w 289"/>
                  <a:gd name="T7" fmla="*/ 19 h 97"/>
                  <a:gd name="T8" fmla="*/ 104 w 289"/>
                  <a:gd name="T9" fmla="*/ 18 h 97"/>
                  <a:gd name="T10" fmla="*/ 182 w 289"/>
                  <a:gd name="T11" fmla="*/ 23 h 97"/>
                  <a:gd name="T12" fmla="*/ 281 w 289"/>
                  <a:gd name="T13" fmla="*/ 1 h 97"/>
                  <a:gd name="T14" fmla="*/ 288 w 289"/>
                  <a:gd name="T15" fmla="*/ 5 h 97"/>
                  <a:gd name="T16" fmla="*/ 284 w 289"/>
                  <a:gd name="T17" fmla="*/ 12 h 97"/>
                  <a:gd name="T18" fmla="*/ 183 w 289"/>
                  <a:gd name="T19" fmla="*/ 35 h 97"/>
                  <a:gd name="T20" fmla="*/ 182 w 289"/>
                  <a:gd name="T21" fmla="*/ 35 h 97"/>
                  <a:gd name="T22" fmla="*/ 105 w 289"/>
                  <a:gd name="T23" fmla="*/ 30 h 97"/>
                  <a:gd name="T24" fmla="*/ 10 w 289"/>
                  <a:gd name="T25" fmla="*/ 96 h 97"/>
                  <a:gd name="T26" fmla="*/ 6 w 289"/>
                  <a:gd name="T27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9" h="97">
                    <a:moveTo>
                      <a:pt x="6" y="97"/>
                    </a:moveTo>
                    <a:cubicBezTo>
                      <a:pt x="5" y="97"/>
                      <a:pt x="3" y="96"/>
                      <a:pt x="1" y="94"/>
                    </a:cubicBezTo>
                    <a:cubicBezTo>
                      <a:pt x="0" y="92"/>
                      <a:pt x="0" y="88"/>
                      <a:pt x="3" y="86"/>
                    </a:cubicBezTo>
                    <a:cubicBezTo>
                      <a:pt x="100" y="19"/>
                      <a:pt x="100" y="19"/>
                      <a:pt x="100" y="19"/>
                    </a:cubicBezTo>
                    <a:cubicBezTo>
                      <a:pt x="101" y="19"/>
                      <a:pt x="103" y="18"/>
                      <a:pt x="104" y="18"/>
                    </a:cubicBezTo>
                    <a:cubicBezTo>
                      <a:pt x="182" y="23"/>
                      <a:pt x="182" y="23"/>
                      <a:pt x="182" y="23"/>
                    </a:cubicBezTo>
                    <a:cubicBezTo>
                      <a:pt x="281" y="1"/>
                      <a:pt x="281" y="1"/>
                      <a:pt x="281" y="1"/>
                    </a:cubicBezTo>
                    <a:cubicBezTo>
                      <a:pt x="284" y="0"/>
                      <a:pt x="288" y="2"/>
                      <a:pt x="288" y="5"/>
                    </a:cubicBezTo>
                    <a:cubicBezTo>
                      <a:pt x="289" y="9"/>
                      <a:pt x="287" y="12"/>
                      <a:pt x="284" y="12"/>
                    </a:cubicBezTo>
                    <a:cubicBezTo>
                      <a:pt x="183" y="35"/>
                      <a:pt x="183" y="35"/>
                      <a:pt x="183" y="35"/>
                    </a:cubicBezTo>
                    <a:cubicBezTo>
                      <a:pt x="183" y="35"/>
                      <a:pt x="182" y="35"/>
                      <a:pt x="182" y="35"/>
                    </a:cubicBezTo>
                    <a:cubicBezTo>
                      <a:pt x="105" y="30"/>
                      <a:pt x="105" y="30"/>
                      <a:pt x="105" y="30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9" y="97"/>
                      <a:pt x="8" y="97"/>
                      <a:pt x="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</p:grp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518ABF22-6A9F-1B73-A9E8-1028BAC565F1}"/>
              </a:ext>
            </a:extLst>
          </p:cNvPr>
          <p:cNvSpPr>
            <a:spLocks/>
          </p:cNvSpPr>
          <p:nvPr/>
        </p:nvSpPr>
        <p:spPr>
          <a:xfrm>
            <a:off x="368330" y="5425320"/>
            <a:ext cx="2096241" cy="71010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pt-BR" sz="1200" b="1" noProof="0">
                <a:solidFill>
                  <a:schemeClr val="tx1"/>
                </a:solidFill>
                <a:latin typeface="Graphik" panose="020B0503030202060203" pitchFamily="34" charset="0"/>
              </a:rPr>
              <a:t>3 | Tendências e Inovação</a:t>
            </a: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Mapeamento das tendências </a:t>
            </a:r>
            <a:r>
              <a:rPr lang="pt-BR" sz="1050">
                <a:solidFill>
                  <a:schemeClr val="tx1"/>
                </a:solidFill>
                <a:latin typeface="Graphik" panose="020B0503030202060203" pitchFamily="34" charset="0"/>
              </a:rPr>
              <a:t>(e potenciais impactos) </a:t>
            </a:r>
            <a:r>
              <a:rPr lang="pt-BR" sz="1050" noProof="0">
                <a:solidFill>
                  <a:schemeClr val="tx1"/>
                </a:solidFill>
                <a:latin typeface="Graphik" panose="020B0503030202060203" pitchFamily="34" charset="0"/>
              </a:rPr>
              <a:t>no ramo de seguros / intermediação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01C7065-7721-EBBF-D280-94E162A3DA9D}"/>
              </a:ext>
            </a:extLst>
          </p:cNvPr>
          <p:cNvGrpSpPr/>
          <p:nvPr/>
        </p:nvGrpSpPr>
        <p:grpSpPr>
          <a:xfrm>
            <a:off x="1126113" y="4871127"/>
            <a:ext cx="516359" cy="513899"/>
            <a:chOff x="1126113" y="4871127"/>
            <a:chExt cx="516359" cy="513899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7CDDE1C-FB99-80E2-C548-8C6F59502EB3}"/>
                </a:ext>
              </a:extLst>
            </p:cNvPr>
            <p:cNvSpPr>
              <a:spLocks/>
            </p:cNvSpPr>
            <p:nvPr/>
          </p:nvSpPr>
          <p:spPr>
            <a:xfrm>
              <a:off x="1126113" y="4871127"/>
              <a:ext cx="516359" cy="513899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8308AA61-BE0F-8CB2-1FE3-ECCD8F7F9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92785" y="4941606"/>
              <a:ext cx="383016" cy="383016"/>
            </a:xfrm>
            <a:prstGeom prst="rect">
              <a:avLst/>
            </a:prstGeom>
          </p:spPr>
        </p:pic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18D829A3-596A-1B76-0647-F78805A51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4355" y="3439023"/>
            <a:ext cx="395640" cy="395640"/>
          </a:xfrm>
          <a:prstGeom prst="rect">
            <a:avLst/>
          </a:prstGeom>
        </p:spPr>
      </p:pic>
      <p:sp>
        <p:nvSpPr>
          <p:cNvPr id="88" name="Arrow: Pentagon 87">
            <a:extLst>
              <a:ext uri="{FF2B5EF4-FFF2-40B4-BE49-F238E27FC236}">
                <a16:creationId xmlns:a16="http://schemas.microsoft.com/office/drawing/2014/main" id="{3AFE24FF-5843-39D0-412C-BEE28F15A4B9}"/>
              </a:ext>
            </a:extLst>
          </p:cNvPr>
          <p:cNvSpPr>
            <a:spLocks/>
          </p:cNvSpPr>
          <p:nvPr/>
        </p:nvSpPr>
        <p:spPr>
          <a:xfrm>
            <a:off x="368330" y="1336648"/>
            <a:ext cx="3401124" cy="468000"/>
          </a:xfrm>
          <a:prstGeom prst="homePlate">
            <a:avLst>
              <a:gd name="adj" fmla="val 37603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>
              <a:spcBef>
                <a:spcPts val="300"/>
              </a:spcBef>
            </a:pPr>
            <a:r>
              <a:rPr lang="pt-BR" sz="1400" b="1">
                <a:solidFill>
                  <a:schemeClr val="bg1"/>
                </a:solidFill>
                <a:latin typeface="Graphik" panose="020B0503030202060203" pitchFamily="34" charset="0"/>
              </a:rPr>
              <a:t>I</a:t>
            </a: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. Contexto </a:t>
            </a:r>
            <a:r>
              <a:rPr lang="pt-BR" sz="1100" noProof="0">
                <a:solidFill>
                  <a:schemeClr val="bg1"/>
                </a:solidFill>
                <a:latin typeface="Graphik" panose="020B0503030202060203" pitchFamily="34" charset="0"/>
              </a:rPr>
              <a:t>(Interno e Externo) </a:t>
            </a:r>
            <a:br>
              <a:rPr lang="pt-BR" sz="1100" noProof="0">
                <a:solidFill>
                  <a:schemeClr val="bg1"/>
                </a:solidFill>
                <a:latin typeface="Graphik" panose="020B0503030202060203" pitchFamily="34" charset="0"/>
              </a:rPr>
            </a:b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e Possibilidades</a:t>
            </a:r>
            <a:endParaRPr lang="pt-BR" sz="1100" b="1" i="1" noProof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50C55EE4-25AB-6318-96DB-45098ACFE893}"/>
              </a:ext>
            </a:extLst>
          </p:cNvPr>
          <p:cNvSpPr>
            <a:spLocks/>
          </p:cNvSpPr>
          <p:nvPr/>
        </p:nvSpPr>
        <p:spPr>
          <a:xfrm>
            <a:off x="3651911" y="1336648"/>
            <a:ext cx="4896000" cy="468000"/>
          </a:xfrm>
          <a:prstGeom prst="chevron">
            <a:avLst>
              <a:gd name="adj" fmla="val 37603"/>
            </a:avLst>
          </a:pr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>
              <a:spcBef>
                <a:spcPts val="300"/>
              </a:spcBef>
            </a:pPr>
            <a:r>
              <a:rPr lang="pt-BR" sz="1400" b="1">
                <a:solidFill>
                  <a:schemeClr val="bg1"/>
                </a:solidFill>
                <a:latin typeface="Graphik" panose="020B0503030202060203" pitchFamily="34" charset="0"/>
              </a:rPr>
              <a:t>II.</a:t>
            </a: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 Formulação Estratégica </a:t>
            </a:r>
            <a:r>
              <a:rPr lang="pt-BR" sz="1400" noProof="0">
                <a:solidFill>
                  <a:schemeClr val="bg1"/>
                </a:solidFill>
                <a:latin typeface="Graphik" panose="020B0503030202060203" pitchFamily="34" charset="0"/>
              </a:rPr>
              <a:t>e </a:t>
            </a: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Priorização</a:t>
            </a:r>
            <a:endParaRPr lang="pt-BR" sz="1100" b="1" i="1" noProof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A5FCEB61-F065-C9CC-D91A-FE05B591691F}"/>
              </a:ext>
            </a:extLst>
          </p:cNvPr>
          <p:cNvSpPr>
            <a:spLocks/>
          </p:cNvSpPr>
          <p:nvPr/>
        </p:nvSpPr>
        <p:spPr>
          <a:xfrm>
            <a:off x="8455596" y="1336648"/>
            <a:ext cx="3401124" cy="468000"/>
          </a:xfrm>
          <a:prstGeom prst="chevron">
            <a:avLst>
              <a:gd name="adj" fmla="val 34061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>
              <a:spcBef>
                <a:spcPts val="300"/>
              </a:spcBef>
            </a:pPr>
            <a:r>
              <a:rPr lang="pt-BR" sz="1400" b="1">
                <a:solidFill>
                  <a:schemeClr val="bg1"/>
                </a:solidFill>
                <a:latin typeface="Graphik" panose="020B0503030202060203" pitchFamily="34" charset="0"/>
              </a:rPr>
              <a:t>III. </a:t>
            </a: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Go-</a:t>
            </a:r>
            <a:r>
              <a:rPr lang="pt-BR" sz="1400" b="1" noProof="0" err="1">
                <a:solidFill>
                  <a:schemeClr val="bg1"/>
                </a:solidFill>
                <a:latin typeface="Graphik" panose="020B0503030202060203" pitchFamily="34" charset="0"/>
              </a:rPr>
              <a:t>to</a:t>
            </a: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-Market</a:t>
            </a:r>
            <a:b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</a:br>
            <a:r>
              <a:rPr lang="pt-BR" sz="1400" b="1" noProof="0">
                <a:solidFill>
                  <a:schemeClr val="bg1"/>
                </a:solidFill>
                <a:latin typeface="Graphik" panose="020B0503030202060203" pitchFamily="34" charset="0"/>
              </a:rPr>
              <a:t>e Plano de Execução</a:t>
            </a:r>
            <a:endParaRPr lang="pt-BR" sz="1100" b="1" i="1" noProof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AC0D4511-6120-7918-87CE-65EFAD47E1C4}"/>
              </a:ext>
            </a:extLst>
          </p:cNvPr>
          <p:cNvSpPr>
            <a:spLocks/>
          </p:cNvSpPr>
          <p:nvPr/>
        </p:nvSpPr>
        <p:spPr>
          <a:xfrm>
            <a:off x="416267" y="6054068"/>
            <a:ext cx="144000" cy="108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noProof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F1D165C-E35A-7D6E-DDF7-6C41235ABB57}"/>
              </a:ext>
            </a:extLst>
          </p:cNvPr>
          <p:cNvSpPr>
            <a:spLocks/>
          </p:cNvSpPr>
          <p:nvPr/>
        </p:nvSpPr>
        <p:spPr bwMode="auto">
          <a:xfrm>
            <a:off x="416267" y="6194589"/>
            <a:ext cx="1307422" cy="18804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pt-BR" sz="1000" b="1" noProof="0" err="1">
                <a:latin typeface="Graphik" panose="020B0503030202060203" pitchFamily="34" charset="0"/>
              </a:rPr>
              <a:t>Kickoff</a:t>
            </a:r>
            <a:br>
              <a:rPr lang="pt-BR" sz="1000" b="1" noProof="0">
                <a:latin typeface="Graphik" panose="020B0503030202060203" pitchFamily="34" charset="0"/>
              </a:rPr>
            </a:br>
            <a:endParaRPr lang="pt-BR" sz="1000" noProof="0">
              <a:latin typeface="Graphik" panose="020B0503030202060203" pitchFamily="34" charset="0"/>
            </a:endParaRP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E900AD14-7F52-575A-977B-A16A426FE485}"/>
              </a:ext>
            </a:extLst>
          </p:cNvPr>
          <p:cNvSpPr>
            <a:spLocks/>
          </p:cNvSpPr>
          <p:nvPr/>
        </p:nvSpPr>
        <p:spPr>
          <a:xfrm>
            <a:off x="11476402" y="6054068"/>
            <a:ext cx="144000" cy="108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noProof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0A6351D-76A1-BC89-CA29-529F723D6D7C}"/>
              </a:ext>
            </a:extLst>
          </p:cNvPr>
          <p:cNvSpPr>
            <a:spLocks/>
          </p:cNvSpPr>
          <p:nvPr/>
        </p:nvSpPr>
        <p:spPr bwMode="auto">
          <a:xfrm>
            <a:off x="9744694" y="6195134"/>
            <a:ext cx="1895900" cy="2580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90000"/>
              </a:lnSpc>
            </a:pPr>
            <a:r>
              <a:rPr lang="pt-BR" sz="1000" b="1" noProof="0">
                <a:latin typeface="Graphik" panose="020B0503030202060203" pitchFamily="34" charset="0"/>
              </a:rPr>
              <a:t>Workshop 3</a:t>
            </a:r>
            <a:br>
              <a:rPr lang="pt-BR" sz="1000" b="1" noProof="0">
                <a:latin typeface="Graphik" panose="020B0503030202060203" pitchFamily="34" charset="0"/>
              </a:rPr>
            </a:br>
            <a:r>
              <a:rPr lang="pt-BR" sz="900" noProof="0">
                <a:latin typeface="Graphik" panose="020B0503030202060203" pitchFamily="34" charset="0"/>
              </a:rPr>
              <a:t>Go-to-Market &amp; Execução</a:t>
            </a:r>
          </a:p>
        </p:txBody>
      </p: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0BB83119-D773-55DF-CABC-2D1977463493}"/>
              </a:ext>
            </a:extLst>
          </p:cNvPr>
          <p:cNvSpPr>
            <a:spLocks/>
          </p:cNvSpPr>
          <p:nvPr/>
        </p:nvSpPr>
        <p:spPr>
          <a:xfrm>
            <a:off x="4387851" y="6054068"/>
            <a:ext cx="144000" cy="108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noProof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CB11F3E-0614-F10C-0D00-46FE5D83E174}"/>
              </a:ext>
            </a:extLst>
          </p:cNvPr>
          <p:cNvSpPr>
            <a:spLocks/>
          </p:cNvSpPr>
          <p:nvPr/>
        </p:nvSpPr>
        <p:spPr bwMode="auto">
          <a:xfrm>
            <a:off x="3572009" y="6194589"/>
            <a:ext cx="1740178" cy="2580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pt-BR" sz="1000" b="1" noProof="0">
                <a:latin typeface="Graphik" panose="020B0503030202060203" pitchFamily="34" charset="0"/>
              </a:rPr>
              <a:t>Workshop 1</a:t>
            </a:r>
            <a:br>
              <a:rPr lang="pt-BR" sz="1000" b="1" noProof="0">
                <a:latin typeface="Graphik" panose="020B0503030202060203" pitchFamily="34" charset="0"/>
              </a:rPr>
            </a:br>
            <a:r>
              <a:rPr lang="pt-BR" sz="900" noProof="0">
                <a:latin typeface="Graphik" panose="020B0503030202060203" pitchFamily="34" charset="0"/>
              </a:rPr>
              <a:t>Mercado e Possibilidades</a:t>
            </a:r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E0373D4D-7072-55EB-8B8E-F5C417E59035}"/>
              </a:ext>
            </a:extLst>
          </p:cNvPr>
          <p:cNvSpPr>
            <a:spLocks/>
          </p:cNvSpPr>
          <p:nvPr/>
        </p:nvSpPr>
        <p:spPr>
          <a:xfrm>
            <a:off x="9389347" y="6054068"/>
            <a:ext cx="144000" cy="108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noProof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9BCCAD2-CB56-5927-B9D9-DF8FAC45EBE6}"/>
              </a:ext>
            </a:extLst>
          </p:cNvPr>
          <p:cNvSpPr>
            <a:spLocks/>
          </p:cNvSpPr>
          <p:nvPr/>
        </p:nvSpPr>
        <p:spPr bwMode="auto">
          <a:xfrm>
            <a:off x="7603874" y="6195134"/>
            <a:ext cx="1967021" cy="2580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90000"/>
              </a:lnSpc>
            </a:pPr>
            <a:r>
              <a:rPr lang="pt-BR" sz="1000" b="1" noProof="0">
                <a:latin typeface="Graphik" panose="020B0503030202060203" pitchFamily="34" charset="0"/>
              </a:rPr>
              <a:t>Workshop 2: </a:t>
            </a:r>
            <a:br>
              <a:rPr lang="pt-BR" sz="1000" b="1" noProof="0">
                <a:latin typeface="Graphik" panose="020B0503030202060203" pitchFamily="34" charset="0"/>
              </a:rPr>
            </a:br>
            <a:r>
              <a:rPr lang="pt-BR" sz="1000" noProof="0">
                <a:latin typeface="Graphik" panose="020B0503030202060203" pitchFamily="34" charset="0"/>
              </a:rPr>
              <a:t>P</a:t>
            </a:r>
            <a:r>
              <a:rPr lang="pt-BR" sz="900" noProof="0">
                <a:latin typeface="Graphik" panose="020B0503030202060203" pitchFamily="34" charset="0"/>
              </a:rPr>
              <a:t>riorização e apostas estratégicas</a:t>
            </a:r>
          </a:p>
        </p:txBody>
      </p:sp>
    </p:spTree>
    <p:extLst>
      <p:ext uri="{BB962C8B-B14F-4D97-AF65-F5344CB8AC3E}">
        <p14:creationId xmlns:p14="http://schemas.microsoft.com/office/powerpoint/2010/main" val="115345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271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2025-11-17T12:41:25Z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