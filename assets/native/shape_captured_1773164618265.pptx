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sldIdLst>
    <p:sldId id="2147482658" r:id="rId5"/>
    <p:sldId id="2147482657" r:id="rId6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23C"/>
    <a:srgbClr val="FFFFFF"/>
    <a:srgbClr val="00EB81"/>
    <a:srgbClr val="E6DCFF"/>
    <a:srgbClr val="0041F0"/>
    <a:srgbClr val="DCAFFF"/>
    <a:srgbClr val="FF50A0"/>
    <a:srgbClr val="FF3246"/>
    <a:srgbClr val="00FFFF"/>
    <a:srgbClr val="D4D4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021F68-0494-496A-BD4B-43C0DD56B880}" v="32" dt="2025-10-31T21:53:34.360"/>
    <p1510:client id="{F8B6DB93-B16F-4284-82B1-E93DAFE73FFA}" v="1" dt="2025-10-31T23:27:17.724"/>
  </p1510:revLst>
</p1510:revInfo>
</file>

<file path=ppt/tableStyles.xml><?xml version="1.0" encoding="utf-8"?>
<a:tblStyleLst xmlns:a="http://schemas.openxmlformats.org/drawingml/2006/main" def="{A0BC3CC4-8867-4C89-9D3F-A6A6B9ED4035}">
  <a:tblStyle styleId="{A0BC3CC4-8867-4C89-9D3F-A6A6B9ED4035}" styleName="Acc_Table_1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rgbClr val="FFFFFF"/>
              </a:solidFill>
            </a:ln>
          </a:left>
          <a:right>
            <a:ln w="0" cmpd="sng">
              <a:solidFill>
                <a:srgbClr val="FFFFFF"/>
              </a:solidFill>
            </a:ln>
          </a:right>
          <a:top>
            <a:ln w="0" cmpd="sng">
              <a:solidFill>
                <a:srgbClr val="FFFFFF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6350" cmpd="sng">
              <a:solidFill>
                <a:srgbClr val="D9D9D9"/>
              </a:solidFill>
            </a:ln>
          </a:insideH>
          <a:insideV>
            <a:ln w="6350" cmpd="sng">
              <a:solidFill>
                <a:srgbClr val="D9D9D9"/>
              </a:solidFill>
            </a:ln>
          </a:insideV>
        </a:tcBdr>
        <a:fill>
          <a:noFill/>
        </a:fill>
      </a:tcStyle>
    </a:wholeTbl>
    <a:band1H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H>
    <a:band1V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/>
      </a:tcStyle>
    </a:lastRow>
    <a:firstRow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924" autoAdjust="0"/>
  </p:normalViewPr>
  <p:slideViewPr>
    <p:cSldViewPr snapToGrid="0" showGuides="1">
      <p:cViewPr varScale="1">
        <p:scale>
          <a:sx n="70" d="100"/>
          <a:sy n="70" d="100"/>
        </p:scale>
        <p:origin x="1157" y="2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141"/>
    </p:cViewPr>
  </p:sorterViewPr>
  <p:notesViewPr>
    <p:cSldViewPr snapToGrid="0">
      <p:cViewPr varScale="1">
        <p:scale>
          <a:sx n="81" d="100"/>
          <a:sy n="81" d="100"/>
        </p:scale>
        <p:origin x="3516" y="5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027613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1DE7078C-3525-4C9B-BF62-C9FD13B9A875}" type="datetimeFigureOut">
              <a:rPr lang="en-US" smtClean="0"/>
              <a:pPr/>
              <a:t>3/10/2026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0205" y="274505"/>
            <a:ext cx="4734172" cy="266297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0206" y="2999605"/>
            <a:ext cx="6751750" cy="586989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923817"/>
            <a:ext cx="6217919" cy="2123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99213" y="8917749"/>
            <a:ext cx="457200" cy="2184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436E8A87-18DA-4CCE-A8C2-BDBC489258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384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914400" rtl="0" eaLnBrk="1" latinLnBrk="0" hangingPunct="1">
      <a:buFont typeface="Graphik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30188" indent="-112713" algn="l">
      <a:buFont typeface="Graphik" panose="020B0604020202020204" pitchFamily="34" charset="0"/>
      <a:buChar char="•"/>
      <a:defRPr sz="1000">
        <a:latin typeface="+mn-lt"/>
      </a:defRPr>
    </a:lvl2pPr>
    <a:lvl3pPr marL="342900" indent="-112713" algn="l">
      <a:buFont typeface="Graphik" panose="020B0604020202020204" pitchFamily="34" charset="0"/>
      <a:buChar char="•"/>
      <a:defRPr sz="900">
        <a:latin typeface="+mn-lt"/>
      </a:defRPr>
    </a:lvl3pPr>
    <a:lvl4pPr marL="460375" indent="-112713" algn="l">
      <a:buFont typeface="Graphik" panose="020B0604020202020204" pitchFamily="34" charset="0"/>
      <a:buChar char="•"/>
      <a:defRPr sz="800">
        <a:latin typeface="+mn-lt"/>
      </a:defRPr>
    </a:lvl4pPr>
    <a:lvl5pPr marL="571500" indent="-112713" algn="l">
      <a:buFont typeface="Graphik" panose="020B0604020202020204" pitchFamily="34" charset="0"/>
      <a:buChar char="•"/>
      <a:defRPr sz="800">
        <a:latin typeface="+mn-lt"/>
      </a:defRPr>
    </a:lvl5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7FF053D-F28D-430E-0239-CE8ED656641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839719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7FF053D-F28D-430E-0239-CE8ED65664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8">
            <a:extLst>
              <a:ext uri="{FF2B5EF4-FFF2-40B4-BE49-F238E27FC236}">
                <a16:creationId xmlns:a16="http://schemas.microsoft.com/office/drawing/2014/main" id="{C06DB281-EA53-C29C-C70A-13D0082F3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CC1B7B8-2FCE-B823-1046-0985C007FC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0FA015-B515-8D42-24DE-DB142CE72A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2450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033133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9">
            <a:extLst>
              <a:ext uri="{FF2B5EF4-FFF2-40B4-BE49-F238E27FC236}">
                <a16:creationId xmlns:a16="http://schemas.microsoft.com/office/drawing/2014/main" id="{AFF1CEE3-E058-7E9F-C296-DD3BD5D2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791592"/>
            <a:ext cx="11430000" cy="564388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2FA907-42B9-6FA1-C4DF-A540BFE35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18C3AE-678A-48F5-EE59-84E1AE2DC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691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ng Headline-subtitle Inver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004200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308927"/>
            <a:ext cx="11430000" cy="324000"/>
          </a:xfr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endParaRPr lang="pt-BR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FF1CEE3-E058-7E9F-C296-DD3BD5D2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50247"/>
            <a:ext cx="11430000" cy="432000"/>
          </a:xfrm>
        </p:spPr>
        <p:txBody>
          <a:bodyPr vert="horz"/>
          <a:lstStyle/>
          <a:p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title</a:t>
            </a:r>
            <a:r>
              <a:rPr lang="pt-BR" dirty="0"/>
              <a:t> </a:t>
            </a:r>
            <a:r>
              <a:rPr lang="pt-BR" dirty="0" err="1"/>
              <a:t>style</a:t>
            </a:r>
            <a:endParaRPr lang="pt-BR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8F9C570-8ADD-BDD4-0CD9-C5A9C02D1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963760-62E3-11BA-AEE9-E17FF19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94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2576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147848"/>
            <a:ext cx="11430000" cy="564388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9FC1387-F76A-5CD9-1471-AB709200A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A9038AC-B619-5EB1-8D41-D4C38DBF5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4469A7-C007-9466-EA28-F04CC2C2F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825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D2B6B66-FB75-271B-FA63-2A6910A3EC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8762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2B6B66-FB75-271B-FA63-2A6910A3EC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3BC61A9-92B1-2D35-4680-3DE1FE9AB5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3B625-43D1-998E-66A4-B8CE5FAFEB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5426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0562F7A-A6F0-B219-8D11-D02DDCD582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E72C04-906B-899F-B819-2DD1EA4698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632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4499A4D-E1EC-608F-9006-A468770F686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555295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3" progId="TCLayout.ActiveDocument.1">
                  <p:embed/>
                </p:oleObj>
              </mc:Choice>
              <mc:Fallback>
                <p:oleObj name="think-cell Slide" r:id="rId9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499A4D-E1EC-608F-9006-A468770F68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Place headline here (32pt, min 28pt)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First level (copy 20pt)</a:t>
            </a:r>
          </a:p>
          <a:p>
            <a:pPr lvl="1"/>
            <a:r>
              <a:rPr lang="en-US" dirty="0"/>
              <a:t>Second level (bullet 20pt)</a:t>
            </a:r>
          </a:p>
          <a:p>
            <a:pPr lvl="2"/>
            <a:r>
              <a:rPr lang="en-US" dirty="0"/>
              <a:t>Third level (bullet 20pt)</a:t>
            </a:r>
          </a:p>
          <a:p>
            <a:pPr lvl="3"/>
            <a:r>
              <a:rPr lang="en-US" dirty="0"/>
              <a:t>Fourth level (bullet 18pt)</a:t>
            </a:r>
          </a:p>
          <a:p>
            <a:pPr lvl="4"/>
            <a:r>
              <a:rPr lang="en-US" dirty="0"/>
              <a:t>Fifth level (bullet 18pt)</a:t>
            </a:r>
          </a:p>
          <a:p>
            <a:pPr lvl="5"/>
            <a:r>
              <a:rPr lang="en-US" dirty="0"/>
              <a:t>Sixth level (copy 16pt)</a:t>
            </a:r>
          </a:p>
          <a:p>
            <a:pPr lvl="6"/>
            <a:r>
              <a:rPr lang="en-US" dirty="0"/>
              <a:t>Seventh level (small copy 12pt)</a:t>
            </a:r>
          </a:p>
          <a:p>
            <a:pPr lvl="7"/>
            <a:r>
              <a:rPr lang="en-US" dirty="0"/>
              <a:t>EIGHT LEVEL (DESCRIPTOR 10PT)</a:t>
            </a:r>
          </a:p>
          <a:p>
            <a:pPr lvl="8"/>
            <a:r>
              <a:rPr lang="en-US" dirty="0"/>
              <a:t>Ninth level (footer 8pt)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624E0B2-760E-457A-8367-213CE89D6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103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745" r:id="rId2"/>
    <p:sldLayoutId id="2147483747" r:id="rId3"/>
    <p:sldLayoutId id="2147483746" r:id="rId4"/>
    <p:sldLayoutId id="2147483741" r:id="rId5"/>
    <p:sldLayoutId id="2147483748" r:id="rId6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26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 userDrawn="1">
          <p15:clr>
            <a:srgbClr val="C35EA4"/>
          </p15:clr>
        </p15:guide>
        <p15:guide id="2" orient="horz" pos="3976" userDrawn="1">
          <p15:clr>
            <a:srgbClr val="C35EA4"/>
          </p15:clr>
        </p15:guide>
        <p15:guide id="3" pos="240" userDrawn="1">
          <p15:clr>
            <a:srgbClr val="C35EA4"/>
          </p15:clr>
        </p15:guide>
        <p15:guide id="4" pos="74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4936D2-8444-19D7-E638-07FD35BE16A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49608C-794C-04D8-33B7-AAF7FC2E3D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5B02E29-B85C-B143-F2A1-B8F20B097E3B}"/>
              </a:ext>
            </a:extLst>
          </p:cNvPr>
          <p:cNvGrpSpPr/>
          <p:nvPr/>
        </p:nvGrpSpPr>
        <p:grpSpPr>
          <a:xfrm>
            <a:off x="0" y="1515114"/>
            <a:ext cx="12192000" cy="4801189"/>
            <a:chOff x="0" y="1515114"/>
            <a:chExt cx="12192000" cy="4801189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3E71078-C2CD-37B2-F7ED-22A97702DB8A}"/>
                </a:ext>
              </a:extLst>
            </p:cNvPr>
            <p:cNvCxnSpPr>
              <a:stCxn id="26" idx="3"/>
              <a:endCxn id="19" idx="0"/>
            </p:cNvCxnSpPr>
            <p:nvPr/>
          </p:nvCxnSpPr>
          <p:spPr>
            <a:xfrm>
              <a:off x="3727905" y="3273078"/>
              <a:ext cx="2237129" cy="2525"/>
            </a:xfrm>
            <a:prstGeom prst="line">
              <a:avLst/>
            </a:prstGeom>
            <a:ln w="2857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4">
              <a:extLst>
                <a:ext uri="{FF2B5EF4-FFF2-40B4-BE49-F238E27FC236}">
                  <a16:creationId xmlns:a16="http://schemas.microsoft.com/office/drawing/2014/main" id="{21EF0FE0-63B5-7940-AFF2-25E83D2C1A40}"/>
                </a:ext>
              </a:extLst>
            </p:cNvPr>
            <p:cNvSpPr/>
            <p:nvPr/>
          </p:nvSpPr>
          <p:spPr>
            <a:xfrm>
              <a:off x="2435719" y="2705201"/>
              <a:ext cx="1800000" cy="1800000"/>
            </a:xfrm>
            <a:prstGeom prst="ellipse">
              <a:avLst/>
            </a:prstGeom>
            <a:noFill/>
            <a:ln w="152400">
              <a:solidFill>
                <a:schemeClr val="accent2">
                  <a:alpha val="79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351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B46FA527-6F0F-AF60-24EB-87E25100B8A1}"/>
                </a:ext>
              </a:extLst>
            </p:cNvPr>
            <p:cNvCxnSpPr>
              <a:cxnSpLocks/>
              <a:endCxn id="19" idx="0"/>
            </p:cNvCxnSpPr>
            <p:nvPr/>
          </p:nvCxnSpPr>
          <p:spPr>
            <a:xfrm flipH="1">
              <a:off x="5965034" y="2658500"/>
              <a:ext cx="1713960" cy="617103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8E2EEEB-D426-AA4E-D472-E8B1002E2156}"/>
                </a:ext>
              </a:extLst>
            </p:cNvPr>
            <p:cNvSpPr/>
            <p:nvPr/>
          </p:nvSpPr>
          <p:spPr>
            <a:xfrm>
              <a:off x="0" y="5420363"/>
              <a:ext cx="12192000" cy="8959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14A8C41-F4B1-FDD0-0EF6-5962740B6B71}"/>
                </a:ext>
              </a:extLst>
            </p:cNvPr>
            <p:cNvSpPr txBox="1"/>
            <p:nvPr/>
          </p:nvSpPr>
          <p:spPr>
            <a:xfrm>
              <a:off x="6742222" y="1772136"/>
              <a:ext cx="506877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 Medium" panose="020B0603030202060203" pitchFamily="34" charset="0"/>
                  <a:ea typeface="+mn-ea"/>
                  <a:cs typeface="+mn-cs"/>
                </a:rPr>
                <a:t>O mapa de capacidades descreve "o que a empresa faz", de forma agnóstica a estruturas organizacionais ou tecnologias específicas</a:t>
              </a:r>
            </a:p>
          </p:txBody>
        </p:sp>
        <p:sp>
          <p:nvSpPr>
            <p:cNvPr id="10" name="Oval 3">
              <a:extLst>
                <a:ext uri="{FF2B5EF4-FFF2-40B4-BE49-F238E27FC236}">
                  <a16:creationId xmlns:a16="http://schemas.microsoft.com/office/drawing/2014/main" id="{67414B96-22B4-DF46-BF78-C2E8966B7F70}"/>
                </a:ext>
              </a:extLst>
            </p:cNvPr>
            <p:cNvSpPr/>
            <p:nvPr/>
          </p:nvSpPr>
          <p:spPr>
            <a:xfrm>
              <a:off x="1370146" y="3728247"/>
              <a:ext cx="1416157" cy="1360897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 w="63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 Semibold"/>
                <a:ea typeface="+mn-ea"/>
                <a:cs typeface="+mn-cs"/>
              </a:endParaRPr>
            </a:p>
          </p:txBody>
        </p:sp>
        <p:sp>
          <p:nvSpPr>
            <p:cNvPr id="11" name="Oval 1">
              <a:extLst>
                <a:ext uri="{FF2B5EF4-FFF2-40B4-BE49-F238E27FC236}">
                  <a16:creationId xmlns:a16="http://schemas.microsoft.com/office/drawing/2014/main" id="{4589BEB9-A043-694B-5E66-3441BE002FF2}"/>
                </a:ext>
              </a:extLst>
            </p:cNvPr>
            <p:cNvSpPr/>
            <p:nvPr/>
          </p:nvSpPr>
          <p:spPr>
            <a:xfrm>
              <a:off x="2627641" y="1515114"/>
              <a:ext cx="1416157" cy="1360897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 w="63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 Semibold"/>
                <a:ea typeface="+mn-ea"/>
                <a:cs typeface="+mn-cs"/>
              </a:endParaRPr>
            </a:p>
          </p:txBody>
        </p:sp>
        <p:sp>
          <p:nvSpPr>
            <p:cNvPr id="12" name="Oval 2">
              <a:extLst>
                <a:ext uri="{FF2B5EF4-FFF2-40B4-BE49-F238E27FC236}">
                  <a16:creationId xmlns:a16="http://schemas.microsoft.com/office/drawing/2014/main" id="{DE0CC0D1-5D6A-E345-DDC3-49F802B89EE9}"/>
                </a:ext>
              </a:extLst>
            </p:cNvPr>
            <p:cNvSpPr/>
            <p:nvPr/>
          </p:nvSpPr>
          <p:spPr>
            <a:xfrm>
              <a:off x="3885136" y="3728247"/>
              <a:ext cx="1416157" cy="1360897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63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 Semibold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DE9924E-133B-B9A2-72F5-C60872266DE7}"/>
                </a:ext>
              </a:extLst>
            </p:cNvPr>
            <p:cNvSpPr txBox="1"/>
            <p:nvPr/>
          </p:nvSpPr>
          <p:spPr>
            <a:xfrm>
              <a:off x="2485303" y="3588135"/>
              <a:ext cx="1683597" cy="463845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 Semibold"/>
                  <a:ea typeface="+mn-ea"/>
                  <a:cs typeface="Arial" panose="020B0604020202020204" pitchFamily="34" charset="0"/>
                </a:rPr>
                <a:t>Mapa de Capacidades</a:t>
              </a:r>
            </a:p>
          </p:txBody>
        </p:sp>
        <p:pic>
          <p:nvPicPr>
            <p:cNvPr id="14" name="Graphic 13" descr="Group of people with solid fill">
              <a:extLst>
                <a:ext uri="{FF2B5EF4-FFF2-40B4-BE49-F238E27FC236}">
                  <a16:creationId xmlns:a16="http://schemas.microsoft.com/office/drawing/2014/main" id="{3DAB26D7-571E-FF17-08EE-CF90553B32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44029" y="3867520"/>
              <a:ext cx="468389" cy="468389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07DABD8-DD52-FD89-A280-52E4083072E3}"/>
                </a:ext>
              </a:extLst>
            </p:cNvPr>
            <p:cNvSpPr txBox="1"/>
            <p:nvPr/>
          </p:nvSpPr>
          <p:spPr>
            <a:xfrm>
              <a:off x="1487973" y="4435776"/>
              <a:ext cx="1180500" cy="463845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 Semibold"/>
                  <a:ea typeface="+mn-ea"/>
                  <a:cs typeface="Arial" panose="020B0604020202020204" pitchFamily="34" charset="0"/>
                </a:rPr>
                <a:t>Áreas / Pessoas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Arial" panose="020B0604020202020204" pitchFamily="34" charset="0"/>
                </a:rPr>
                <a:t>Habilidades conhecimento e cultura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1DE2921-4DEF-AF41-1AE2-B863D5B6FA1B}"/>
                </a:ext>
              </a:extLst>
            </p:cNvPr>
            <p:cNvSpPr txBox="1"/>
            <p:nvPr/>
          </p:nvSpPr>
          <p:spPr>
            <a:xfrm>
              <a:off x="130818" y="5622133"/>
              <a:ext cx="1683597" cy="463845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600" b="1" i="0" u="none" strike="noStrike" kern="1200" cap="none" spc="0" normalizeH="0" baseline="0" noProof="0">
                  <a:ln>
                    <a:noFill/>
                  </a:ln>
                  <a:solidFill>
                    <a:srgbClr val="A100FF"/>
                  </a:solidFill>
                  <a:effectLst/>
                  <a:uLnTx/>
                  <a:uFillTx/>
                  <a:latin typeface="Graphik Semibold"/>
                  <a:ea typeface="+mn-ea"/>
                  <a:cs typeface="Arial" panose="020B0604020202020204" pitchFamily="34" charset="0"/>
                </a:rPr>
                <a:t>Objetivos</a:t>
              </a:r>
            </a:p>
          </p:txBody>
        </p:sp>
        <p:pic>
          <p:nvPicPr>
            <p:cNvPr id="17" name="Graphic 16" descr="Cloud Computing outline">
              <a:extLst>
                <a:ext uri="{FF2B5EF4-FFF2-40B4-BE49-F238E27FC236}">
                  <a16:creationId xmlns:a16="http://schemas.microsoft.com/office/drawing/2014/main" id="{D178FB3F-EB2D-15EE-0C25-D695504057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331207" y="3831809"/>
              <a:ext cx="567771" cy="567771"/>
            </a:xfrm>
            <a:prstGeom prst="rect">
              <a:avLst/>
            </a:prstGeom>
          </p:spPr>
        </p:pic>
        <p:pic>
          <p:nvPicPr>
            <p:cNvPr id="18" name="Graphic 17" descr="Decision chart outline">
              <a:extLst>
                <a:ext uri="{FF2B5EF4-FFF2-40B4-BE49-F238E27FC236}">
                  <a16:creationId xmlns:a16="http://schemas.microsoft.com/office/drawing/2014/main" id="{FF765EF3-52F3-1632-05E8-8B683CE05F3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092484" y="1668849"/>
              <a:ext cx="469232" cy="469232"/>
            </a:xfrm>
            <a:prstGeom prst="rect">
              <a:avLst/>
            </a:prstGeom>
          </p:spPr>
        </p:pic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2FA20372-0EF1-AF8C-6A4A-87C898AD70E9}"/>
                </a:ext>
              </a:extLst>
            </p:cNvPr>
            <p:cNvSpPr/>
            <p:nvPr/>
          </p:nvSpPr>
          <p:spPr>
            <a:xfrm rot="16200000">
              <a:off x="4944440" y="3291361"/>
              <a:ext cx="2818378" cy="777190"/>
            </a:xfrm>
            <a:prstGeom prst="triangle">
              <a:avLst>
                <a:gd name="adj" fmla="val 64347"/>
              </a:avLst>
            </a:prstGeom>
            <a:gradFill>
              <a:gsLst>
                <a:gs pos="20000">
                  <a:schemeClr val="bg1">
                    <a:lumMod val="85000"/>
                  </a:schemeClr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0B5A812-7345-5D77-5B00-335858AB8F4C}"/>
                </a:ext>
              </a:extLst>
            </p:cNvPr>
            <p:cNvSpPr txBox="1"/>
            <p:nvPr/>
          </p:nvSpPr>
          <p:spPr>
            <a:xfrm>
              <a:off x="3996059" y="4435776"/>
              <a:ext cx="1180500" cy="463845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 Semibold"/>
                  <a:ea typeface="+mn-ea"/>
                  <a:cs typeface="Arial" panose="020B0604020202020204" pitchFamily="34" charset="0"/>
                </a:rPr>
                <a:t>Tecnologia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Arial" panose="020B0604020202020204" pitchFamily="34" charset="0"/>
                </a:rPr>
                <a:t>Ferramentas, sistemas e infraestrutura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908A74C-050E-23CC-C52F-0D59905B0A84}"/>
                </a:ext>
              </a:extLst>
            </p:cNvPr>
            <p:cNvSpPr txBox="1"/>
            <p:nvPr/>
          </p:nvSpPr>
          <p:spPr>
            <a:xfrm>
              <a:off x="2736850" y="2150555"/>
              <a:ext cx="1180500" cy="463845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 Semibold"/>
                  <a:ea typeface="+mn-ea"/>
                  <a:cs typeface="Arial" panose="020B0604020202020204" pitchFamily="34" charset="0"/>
                </a:rPr>
                <a:t>Processos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phik"/>
                  <a:ea typeface="+mn-ea"/>
                  <a:cs typeface="Arial" panose="020B0604020202020204" pitchFamily="34" charset="0"/>
                </a:rPr>
                <a:t>Fluxos, métodos e procedimentos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9DBD3B8-2206-B458-68A6-284A3B3EE38A}"/>
                </a:ext>
              </a:extLst>
            </p:cNvPr>
            <p:cNvSpPr/>
            <p:nvPr/>
          </p:nvSpPr>
          <p:spPr>
            <a:xfrm>
              <a:off x="2450433" y="5607844"/>
              <a:ext cx="2869406" cy="4924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0" u="none" strike="noStrike" kern="1200" cap="none" spc="0" normalizeH="0" baseline="0" noProof="0">
                  <a:ln>
                    <a:noFill/>
                  </a:ln>
                  <a:solidFill>
                    <a:srgbClr val="A100FF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Criar uma visão integrada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Alinha negócios, tecnologia e operações em linguagem comum para atingir objetivos estratégicos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E1A9AB3-85F4-E0BF-7C6C-D9350F74C8E6}"/>
                </a:ext>
              </a:extLst>
            </p:cNvPr>
            <p:cNvSpPr/>
            <p:nvPr/>
          </p:nvSpPr>
          <p:spPr>
            <a:xfrm>
              <a:off x="5695563" y="5607844"/>
              <a:ext cx="2869406" cy="4924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0" u="none" strike="noStrike" kern="1200" cap="none" spc="0" normalizeH="0" baseline="0" noProof="0">
                  <a:ln>
                    <a:noFill/>
                  </a:ln>
                  <a:solidFill>
                    <a:srgbClr val="A100FF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Avaliar maturidade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Entender quais capacidades já existem, quais precisam ser fortalecidas e quais devem ser criadas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66270A8-2975-0753-364D-A4AEC105D59A}"/>
                </a:ext>
              </a:extLst>
            </p:cNvPr>
            <p:cNvSpPr/>
            <p:nvPr/>
          </p:nvSpPr>
          <p:spPr>
            <a:xfrm>
              <a:off x="8940693" y="5607844"/>
              <a:ext cx="2869406" cy="4924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0" u="none" strike="noStrike" kern="1200" cap="none" spc="0" normalizeH="0" baseline="0" noProof="0">
                  <a:ln>
                    <a:noFill/>
                  </a:ln>
                  <a:solidFill>
                    <a:srgbClr val="A100FF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Priorizar investimentos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Direcionar alocação de recursos com base em impacto estratégico e grau de prontidão</a:t>
              </a:r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03B2924-14BF-5E6D-A201-2CB8A1F5259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742222" y="2270766"/>
              <a:ext cx="5085748" cy="2818378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E9217B04-7742-2DE8-9591-43031BF481A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943533" y="3055739"/>
              <a:ext cx="784372" cy="4346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46533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DAB4E39-E30E-FE93-5468-AC30FEF3C9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6D22CC-C406-A8CC-9585-FDF8E7824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5200" y="6488234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573F8-AB97-C846-60CB-202117F90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pt-BR" smtClean="0"/>
              <a:pPr/>
              <a:t>2</a:t>
            </a:fld>
            <a:endParaRPr lang="pt-BR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E802C8-6229-F9CD-D8EB-539C5F891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02760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ccenture Template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Graphik">
      <a:majorFont>
        <a:latin typeface="Graphik Semibold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IMP_Acc_PPT_Tmplt_Graphik_210225_Fixed_Accessible.potx" id="{80BF15C9-A5DA-472C-9F1E-82F4EBB43D59}" vid="{02DD174B-CE7A-418B-90DA-AC9D16AAE59C}"/>
    </a:ext>
  </a:extLst>
</a:theme>
</file>

<file path=ppt/theme/theme2.xml><?xml version="1.0" encoding="utf-8"?>
<a:theme xmlns:a="http://schemas.openxmlformats.org/drawingml/2006/main" name="Office Theme">
  <a:themeElements>
    <a:clrScheme name="Acc_Colors_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_Fonts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9EF807C2354943A31A31FB9E6B8A38" ma:contentTypeVersion="2" ma:contentTypeDescription="Create a new document." ma:contentTypeScope="" ma:versionID="f03a519f31e72ece704f842ab0e4ba72">
  <xsd:schema xmlns:xsd="http://www.w3.org/2001/XMLSchema" xmlns:xs="http://www.w3.org/2001/XMLSchema" xmlns:p="http://schemas.microsoft.com/office/2006/metadata/properties" xmlns:ns2="5d757215-fbc3-4533-822f-84ec73f97a40" targetNamespace="http://schemas.microsoft.com/office/2006/metadata/properties" ma:root="true" ma:fieldsID="1cb72d0557a9ded9ba0b46b2c3d18190" ns2:_="">
    <xsd:import namespace="5d757215-fbc3-4533-822f-84ec73f97a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757215-fbc3-4533-822f-84ec73f97a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9831B46-6CD1-40D2-9FB5-3E58559F90A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6BFFC05-B2F6-4CED-BE65-F75B1EB7AD7B}">
  <ds:schemaRefs>
    <ds:schemaRef ds:uri="http://purl.org/dc/dcmitype/"/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f09dec34-126f-4759-b06d-a920de720ce4"/>
    <ds:schemaRef ds:uri="http://schemas.openxmlformats.org/package/2006/metadata/core-properties"/>
    <ds:schemaRef ds:uri="http://schemas.microsoft.com/office/infopath/2007/PartnerControls"/>
    <ds:schemaRef ds:uri="17c09f85-56e7-4417-b5d2-7fa4154de313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FB95095-D3DE-4DE5-BB17-E1EF8BB262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757215-fbc3-4533-822f-84ec73f97a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Acc_PPT_Template_Graphik</Template>
  <TotalTime>68</TotalTime>
  <Words>113</Words>
  <Application>Microsoft Office PowerPoint</Application>
  <PresentationFormat>Widescreen</PresentationFormat>
  <Paragraphs>19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Calibri</vt:lpstr>
      <vt:lpstr>Graphik</vt:lpstr>
      <vt:lpstr>Graphik Medium</vt:lpstr>
      <vt:lpstr>Graphik Semibold</vt:lpstr>
      <vt:lpstr>Accenture Template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Accenture PowerPoint Template 16x9 Graphik</dc:subject>
  <dc:creator>Graciotti, Brenno</dc:creator>
  <cp:lastModifiedBy>Graciotti, Brenno</cp:lastModifiedBy>
  <cp:revision>5</cp:revision>
  <cp:lastPrinted>2020-11-17T04:05:48Z</cp:lastPrinted>
  <dcterms:created xsi:type="dcterms:W3CDTF">2023-07-17T21:32:38Z</dcterms:created>
  <dcterms:modified xsi:type="dcterms:W3CDTF">2026-03-10T17:43:44Z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0x010100339EF807C2354943A31A31FB9E6B8A38</vt:lpwstr>
  </property>
</Properties>
</file>