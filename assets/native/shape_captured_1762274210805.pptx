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67A0B6-7A22-18DD-02CC-84406D5303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240F97-A4C4-A7CA-ED49-D127422623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8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D4C153-B79A-4E99-CC8E-B2B19FE7AB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3522B1-1065-6B61-D705-67D1121B8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4545605-D665-AA13-FB3A-C141D3CD0182}"/>
              </a:ext>
            </a:extLst>
          </p:cNvPr>
          <p:cNvSpPr/>
          <p:nvPr/>
        </p:nvSpPr>
        <p:spPr>
          <a:xfrm>
            <a:off x="7725000" y="2031418"/>
            <a:ext cx="3096000" cy="1944000"/>
          </a:xfrm>
          <a:custGeom>
            <a:avLst/>
            <a:gdLst>
              <a:gd name="connsiteX0" fmla="*/ 0 w 3204000"/>
              <a:gd name="connsiteY0" fmla="*/ 0 h 1944000"/>
              <a:gd name="connsiteX1" fmla="*/ 3050618 w 3204000"/>
              <a:gd name="connsiteY1" fmla="*/ 0 h 1944000"/>
              <a:gd name="connsiteX2" fmla="*/ 3204000 w 3204000"/>
              <a:gd name="connsiteY2" fmla="*/ 1944000 h 1944000"/>
              <a:gd name="connsiteX3" fmla="*/ 153382 w 3204000"/>
              <a:gd name="connsiteY3" fmla="*/ 1944000 h 19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4000" h="1944000">
                <a:moveTo>
                  <a:pt x="0" y="0"/>
                </a:moveTo>
                <a:lnTo>
                  <a:pt x="3050618" y="0"/>
                </a:lnTo>
                <a:lnTo>
                  <a:pt x="3204000" y="1944000"/>
                </a:lnTo>
                <a:lnTo>
                  <a:pt x="153382" y="1944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72000" rIns="108000" bIns="36000" rtlCol="0" anchor="t">
            <a:noAutofit/>
          </a:bodyPr>
          <a:lstStyle/>
          <a:p>
            <a:pPr>
              <a:spcAft>
                <a:spcPts val="1200"/>
              </a:spcAft>
            </a:pPr>
            <a:r>
              <a:rPr lang="pt-BR" sz="1400" b="1" dirty="0">
                <a:solidFill>
                  <a:schemeClr val="accent1"/>
                </a:solidFill>
              </a:rPr>
              <a:t>3. Business Case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Construção do modelo de receita 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Projeção de volumes e margens potenciais 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Estimativa de custos (</a:t>
            </a:r>
            <a:r>
              <a:rPr lang="pt-BR" sz="1200" dirty="0" err="1">
                <a:solidFill>
                  <a:schemeClr val="tx1"/>
                </a:solidFill>
                <a:latin typeface="Graphik" panose="020B0503030202060203" pitchFamily="34" charset="0"/>
              </a:rPr>
              <a:t>CapEx</a:t>
            </a: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 e </a:t>
            </a:r>
            <a:r>
              <a:rPr lang="pt-BR" sz="1200" dirty="0" err="1">
                <a:solidFill>
                  <a:schemeClr val="tx1"/>
                </a:solidFill>
                <a:latin typeface="Graphik" panose="020B0503030202060203" pitchFamily="34" charset="0"/>
              </a:rPr>
              <a:t>OpEx</a:t>
            </a: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)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Analises de sensibilidade (cenários)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33D69F-4883-79EF-3898-1A74D14ECFF3}"/>
              </a:ext>
            </a:extLst>
          </p:cNvPr>
          <p:cNvCxnSpPr>
            <a:cxnSpLocks/>
          </p:cNvCxnSpPr>
          <p:nvPr/>
        </p:nvCxnSpPr>
        <p:spPr>
          <a:xfrm>
            <a:off x="466225" y="1798939"/>
            <a:ext cx="10161135" cy="0"/>
          </a:xfrm>
          <a:prstGeom prst="line">
            <a:avLst/>
          </a:prstGeom>
          <a:ln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899C3E8-4EEC-5A45-9431-91AE2C7B4C36}"/>
              </a:ext>
            </a:extLst>
          </p:cNvPr>
          <p:cNvSpPr txBox="1"/>
          <p:nvPr/>
        </p:nvSpPr>
        <p:spPr>
          <a:xfrm>
            <a:off x="4879875" y="1706607"/>
            <a:ext cx="1333834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pt-BR" sz="1200" i="1" dirty="0">
                <a:latin typeface="+mj-lt"/>
              </a:rPr>
              <a:t>4~5 semanas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1D7B861F-967C-5606-0086-D203BC8924C1}"/>
              </a:ext>
            </a:extLst>
          </p:cNvPr>
          <p:cNvSpPr/>
          <p:nvPr/>
        </p:nvSpPr>
        <p:spPr>
          <a:xfrm>
            <a:off x="4053000" y="2031418"/>
            <a:ext cx="3672000" cy="4140000"/>
          </a:xfrm>
          <a:prstGeom prst="chevron">
            <a:avLst>
              <a:gd name="adj" fmla="val 3942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>
              <a:spcAft>
                <a:spcPts val="1200"/>
              </a:spcAft>
            </a:pPr>
            <a:r>
              <a:rPr lang="pt-BR" sz="1400" b="1" dirty="0">
                <a:solidFill>
                  <a:schemeClr val="accent1"/>
                </a:solidFill>
              </a:rPr>
              <a:t>2. Desenho Operacional e Avaliação Tecnológica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Detalhamento do fluxo operacional </a:t>
            </a:r>
            <a:r>
              <a:rPr lang="pt-BR" sz="1200" dirty="0" err="1">
                <a:solidFill>
                  <a:schemeClr val="tx1"/>
                </a:solidFill>
                <a:latin typeface="Graphik" panose="020B0503030202060203" pitchFamily="34" charset="0"/>
              </a:rPr>
              <a:t>end-to-end</a:t>
            </a: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 da plataforma de duplicatas.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Identificação de pontos críticos e ganhos de eficiência no processo de originação, escrituração e financiamento.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Avaliação do estado atual da tecnologia (XP, Accenture, CERC) e das lacunas para sustentação do modelo.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Definição das principais integrações e requisitos técnicos para habilitar o ecossistema.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Estruturação preliminar de arquitetura e papéis dos parceiros na jornada operacional.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D05D2FA2-7B16-C433-FB3C-E9C5C9F136AE}"/>
              </a:ext>
            </a:extLst>
          </p:cNvPr>
          <p:cNvSpPr/>
          <p:nvPr/>
        </p:nvSpPr>
        <p:spPr>
          <a:xfrm>
            <a:off x="381000" y="2031417"/>
            <a:ext cx="3672000" cy="4140000"/>
          </a:xfrm>
          <a:prstGeom prst="homePlate">
            <a:avLst>
              <a:gd name="adj" fmla="val 3942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36000" rtlCol="0" anchor="t"/>
          <a:lstStyle/>
          <a:p>
            <a:pPr>
              <a:spcAft>
                <a:spcPts val="1200"/>
              </a:spcAft>
            </a:pPr>
            <a:r>
              <a:rPr lang="pt-BR" sz="1400" b="1" dirty="0">
                <a:solidFill>
                  <a:schemeClr val="accent1"/>
                </a:solidFill>
              </a:rPr>
              <a:t>1. Avaliação de Mercado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Estimativa do tamanho e potencial de mercado (TAM, SAM, SOM) para duplicatas escriturais.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Identificação de </a:t>
            </a:r>
            <a:r>
              <a:rPr lang="pt-BR" sz="1200" dirty="0" err="1">
                <a:solidFill>
                  <a:schemeClr val="tx1"/>
                </a:solidFill>
                <a:latin typeface="Graphik" panose="020B0503030202060203" pitchFamily="34" charset="0"/>
              </a:rPr>
              <a:t>white</a:t>
            </a: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 </a:t>
            </a:r>
            <a:r>
              <a:rPr lang="pt-BR" sz="1200" dirty="0" err="1">
                <a:solidFill>
                  <a:schemeClr val="tx1"/>
                </a:solidFill>
                <a:latin typeface="Graphik" panose="020B0503030202060203" pitchFamily="34" charset="0"/>
              </a:rPr>
              <a:t>spaces</a:t>
            </a: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 e oportunidades de diferenciação frente aos modelos atuais.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Avaliação da demanda e drivers de crescimento por segmento e perfil de empresa.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Mapeamento dos principais players, soluções e modelos de negócio no ecossistema.</a:t>
            </a:r>
          </a:p>
          <a:p>
            <a:pPr marL="171450" indent="-171450">
              <a:spcAft>
                <a:spcPts val="900"/>
              </a:spcAft>
              <a:buFont typeface="Graphik" panose="020B0503030202060203" pitchFamily="34" charset="0"/>
              <a:buChar char="−"/>
            </a:pPr>
            <a:r>
              <a:rPr lang="pt-BR" sz="1200" dirty="0">
                <a:solidFill>
                  <a:schemeClr val="tx1"/>
                </a:solidFill>
                <a:latin typeface="Graphik" panose="020B0503030202060203" pitchFamily="34" charset="0"/>
              </a:rPr>
              <a:t>Análise preliminar de atratividade e priorização das oportunidades mais relevantes para a XP.</a:t>
            </a:r>
            <a:endParaRPr lang="pt-BR" sz="1600" dirty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EFAAE7-EA0B-094E-0A52-0F5C8E837C3A}"/>
              </a:ext>
            </a:extLst>
          </p:cNvPr>
          <p:cNvSpPr/>
          <p:nvPr/>
        </p:nvSpPr>
        <p:spPr>
          <a:xfrm>
            <a:off x="7725000" y="4227418"/>
            <a:ext cx="3096000" cy="1944000"/>
          </a:xfrm>
          <a:custGeom>
            <a:avLst/>
            <a:gdLst>
              <a:gd name="connsiteX0" fmla="*/ 153382 w 3204000"/>
              <a:gd name="connsiteY0" fmla="*/ 0 h 1944000"/>
              <a:gd name="connsiteX1" fmla="*/ 3204000 w 3204000"/>
              <a:gd name="connsiteY1" fmla="*/ 0 h 1944000"/>
              <a:gd name="connsiteX2" fmla="*/ 3050618 w 3204000"/>
              <a:gd name="connsiteY2" fmla="*/ 1944000 h 1944000"/>
              <a:gd name="connsiteX3" fmla="*/ 0 w 3204000"/>
              <a:gd name="connsiteY3" fmla="*/ 1944000 h 19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4000" h="1944000">
                <a:moveTo>
                  <a:pt x="153382" y="0"/>
                </a:moveTo>
                <a:lnTo>
                  <a:pt x="3204000" y="0"/>
                </a:lnTo>
                <a:lnTo>
                  <a:pt x="3050618" y="1944000"/>
                </a:lnTo>
                <a:lnTo>
                  <a:pt x="0" y="1944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72000" rIns="108000" bIns="36000" rtlCol="0" anchor="t">
            <a:noAutofit/>
          </a:bodyPr>
          <a:lstStyle/>
          <a:p>
            <a:pPr>
              <a:spcAft>
                <a:spcPts val="1200"/>
              </a:spcAft>
            </a:pPr>
            <a:r>
              <a:rPr lang="pt-BR" sz="1400" b="1" dirty="0">
                <a:solidFill>
                  <a:schemeClr val="accent1"/>
                </a:solidFill>
              </a:rPr>
              <a:t>4. Plano de Execução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Graphik" panose="020B0503030202060203" pitchFamily="34" charset="0"/>
              <a:buChar char="−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Definir roadmap e iniciativas-chave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Graphik" panose="020B0503030202060203" pitchFamily="34" charset="0"/>
              <a:buChar char="−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Engajar parceiros e integrações críticas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Graphik" panose="020B0503030202060203" pitchFamily="34" charset="0"/>
              <a:buChar char="−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Estabelecer governança e marcos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 typeface="Graphik" panose="020B0503030202060203" pitchFamily="34" charset="0"/>
              <a:buChar char="−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Antecipar riscos e mitigações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3DA9260-3BE4-873A-0A41-B27504EECA39}"/>
              </a:ext>
            </a:extLst>
          </p:cNvPr>
          <p:cNvSpPr/>
          <p:nvPr/>
        </p:nvSpPr>
        <p:spPr>
          <a:xfrm>
            <a:off x="10821000" y="2031418"/>
            <a:ext cx="990000" cy="4140000"/>
          </a:xfrm>
          <a:prstGeom prst="chevron">
            <a:avLst>
              <a:gd name="adj" fmla="val 15638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08000" tIns="72000" rIns="108000" bIns="36000" rtlCol="0" anchor="ctr"/>
          <a:lstStyle/>
          <a:p>
            <a:pPr algn="ctr">
              <a:spcAft>
                <a:spcPts val="1200"/>
              </a:spcAft>
            </a:pPr>
            <a:r>
              <a:rPr lang="pt-BR" sz="1400" b="1" dirty="0">
                <a:solidFill>
                  <a:schemeClr val="bg2">
                    <a:lumMod val="25000"/>
                  </a:schemeClr>
                </a:solidFill>
                <a:latin typeface="Graphik" panose="020B0503030202060203" pitchFamily="34" charset="0"/>
              </a:rPr>
              <a:t>Execução e Escala</a:t>
            </a:r>
            <a:endParaRPr lang="pt-BR" sz="1200" dirty="0">
              <a:solidFill>
                <a:schemeClr val="bg2">
                  <a:lumMod val="25000"/>
                </a:schemeClr>
              </a:solidFill>
              <a:latin typeface="Graphik" panose="020B050303020206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995E61-715A-E6C7-01EA-9EC6E7893820}"/>
              </a:ext>
            </a:extLst>
          </p:cNvPr>
          <p:cNvCxnSpPr>
            <a:cxnSpLocks/>
          </p:cNvCxnSpPr>
          <p:nvPr/>
        </p:nvCxnSpPr>
        <p:spPr>
          <a:xfrm>
            <a:off x="10821000" y="1798939"/>
            <a:ext cx="936000" cy="0"/>
          </a:xfrm>
          <a:prstGeom prst="line">
            <a:avLst/>
          </a:prstGeom>
          <a:ln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7EEB6E-4193-7B6B-BAA1-EBB856E66441}"/>
              </a:ext>
            </a:extLst>
          </p:cNvPr>
          <p:cNvSpPr txBox="1"/>
          <p:nvPr/>
        </p:nvSpPr>
        <p:spPr>
          <a:xfrm>
            <a:off x="11055250" y="1706607"/>
            <a:ext cx="46750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pt-BR" sz="1200" i="1" dirty="0"/>
              <a:t>TBD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F3889C1-3645-65E7-FA3B-C83B707F31B6}"/>
              </a:ext>
            </a:extLst>
          </p:cNvPr>
          <p:cNvSpPr txBox="1">
            <a:spLocks/>
          </p:cNvSpPr>
          <p:nvPr/>
        </p:nvSpPr>
        <p:spPr>
          <a:xfrm>
            <a:off x="762001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228600">
              <a:spcAft>
                <a:spcPts val="1200"/>
              </a:spcAft>
              <a:defRPr/>
            </a:pPr>
            <a:r>
              <a:rPr lang="pt-BR" sz="900" dirty="0"/>
              <a:t>Fonte: Elaboração Accenture.</a:t>
            </a:r>
          </a:p>
        </p:txBody>
      </p:sp>
    </p:spTree>
    <p:extLst>
      <p:ext uri="{BB962C8B-B14F-4D97-AF65-F5344CB8AC3E}">
        <p14:creationId xmlns:p14="http://schemas.microsoft.com/office/powerpoint/2010/main" val="94303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238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2025-11-04T16:36:56Z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