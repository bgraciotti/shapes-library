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341E48-E3B1-0856-7AB0-834C2DEDA1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61C67F-2C03-ED5D-1BE5-225E575765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10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FF0DDF-432D-2525-2F3D-75AF1CA1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60741-AD47-9801-AE0B-D21F620EB6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65E3D0-1E60-F2D1-1763-860D89B6EDFD}"/>
              </a:ext>
            </a:extLst>
          </p:cNvPr>
          <p:cNvGrpSpPr/>
          <p:nvPr/>
        </p:nvGrpSpPr>
        <p:grpSpPr>
          <a:xfrm>
            <a:off x="381000" y="1313676"/>
            <a:ext cx="10108855" cy="5049238"/>
            <a:chOff x="381000" y="1313676"/>
            <a:chExt cx="10108855" cy="5049238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3994B9EE-23BC-0A18-8A80-CD82369C66E3}"/>
                </a:ext>
              </a:extLst>
            </p:cNvPr>
            <p:cNvSpPr/>
            <p:nvPr/>
          </p:nvSpPr>
          <p:spPr>
            <a:xfrm>
              <a:off x="381000" y="1313676"/>
              <a:ext cx="5400000" cy="432000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Calibri" pitchFamily="34" charset="-122"/>
                  <a:cs typeface="Calibri" pitchFamily="34" charset="-120"/>
                </a:rPr>
                <a:t>Common daily tasks of the average consultant…</a:t>
              </a:r>
              <a:endPara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687E4248-F057-04C5-2833-C043266FFC12}"/>
                </a:ext>
              </a:extLst>
            </p:cNvPr>
            <p:cNvSpPr/>
            <p:nvPr/>
          </p:nvSpPr>
          <p:spPr>
            <a:xfrm>
              <a:off x="381000" y="1806702"/>
              <a:ext cx="5400000" cy="46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54040180-A946-8A18-3A78-E682FC64A425}"/>
                </a:ext>
              </a:extLst>
            </p:cNvPr>
            <p:cNvSpPr/>
            <p:nvPr/>
          </p:nvSpPr>
          <p:spPr>
            <a:xfrm>
              <a:off x="515769" y="1806702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Submitting hours in </a:t>
              </a:r>
              <a:r>
                <a:rPr lang="en-US" sz="1100" b="1" dirty="0" err="1">
                  <a:ea typeface="Calibri" pitchFamily="34" charset="-122"/>
                  <a:cs typeface="Calibri" pitchFamily="34" charset="-120"/>
                </a:rPr>
                <a:t>myTE</a:t>
              </a:r>
              <a:endParaRPr lang="en-US" sz="1100" b="1" dirty="0">
                <a:ea typeface="Calibri" pitchFamily="34" charset="-122"/>
                <a:cs typeface="Calibri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Chrome → type URL → navigate to </a:t>
              </a:r>
              <a:r>
                <a:rPr lang="en-US" sz="1000" dirty="0" err="1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myTE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 → launch hours</a:t>
              </a:r>
            </a:p>
          </p:txBody>
        </p:sp>
        <p:sp>
          <p:nvSpPr>
            <p:cNvPr id="8" name="Shape 18">
              <a:extLst>
                <a:ext uri="{FF2B5EF4-FFF2-40B4-BE49-F238E27FC236}">
                  <a16:creationId xmlns:a16="http://schemas.microsoft.com/office/drawing/2014/main" id="{839D78F8-BF02-6EEF-8078-56AF4F29387C}"/>
                </a:ext>
              </a:extLst>
            </p:cNvPr>
            <p:cNvSpPr/>
            <p:nvPr/>
          </p:nvSpPr>
          <p:spPr>
            <a:xfrm>
              <a:off x="381000" y="2335728"/>
              <a:ext cx="5400000" cy="468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19">
              <a:extLst>
                <a:ext uri="{FF2B5EF4-FFF2-40B4-BE49-F238E27FC236}">
                  <a16:creationId xmlns:a16="http://schemas.microsoft.com/office/drawing/2014/main" id="{84781664-6FBE-2BD1-0AEF-C12008D1A1BF}"/>
                </a:ext>
              </a:extLst>
            </p:cNvPr>
            <p:cNvSpPr/>
            <p:nvPr/>
          </p:nvSpPr>
          <p:spPr>
            <a:xfrm>
              <a:off x="515769" y="2335728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Check </a:t>
              </a:r>
              <a:r>
                <a:rPr lang="en-US" sz="1100" b="1" dirty="0" err="1">
                  <a:ea typeface="Calibri" pitchFamily="34" charset="-122"/>
                  <a:cs typeface="Calibri" pitchFamily="34" charset="-120"/>
                </a:rPr>
                <a:t>timezone</a:t>
              </a: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 to schedule call with foreign SME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Chrome → Google "time in London" → give time → back to Outlook</a:t>
              </a:r>
            </a:p>
          </p:txBody>
        </p:sp>
        <p:sp>
          <p:nvSpPr>
            <p:cNvPr id="10" name="Shape 26">
              <a:extLst>
                <a:ext uri="{FF2B5EF4-FFF2-40B4-BE49-F238E27FC236}">
                  <a16:creationId xmlns:a16="http://schemas.microsoft.com/office/drawing/2014/main" id="{2F5836E1-162B-AA55-94D1-8CBCBDDDEC3C}"/>
                </a:ext>
              </a:extLst>
            </p:cNvPr>
            <p:cNvSpPr/>
            <p:nvPr/>
          </p:nvSpPr>
          <p:spPr>
            <a:xfrm>
              <a:off x="381000" y="2864754"/>
              <a:ext cx="5400000" cy="46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27">
              <a:extLst>
                <a:ext uri="{FF2B5EF4-FFF2-40B4-BE49-F238E27FC236}">
                  <a16:creationId xmlns:a16="http://schemas.microsoft.com/office/drawing/2014/main" id="{F716E291-4E8E-487B-C16D-DA4171D7CF2B}"/>
                </a:ext>
              </a:extLst>
            </p:cNvPr>
            <p:cNvSpPr/>
            <p:nvPr/>
          </p:nvSpPr>
          <p:spPr>
            <a:xfrm>
              <a:off x="515769" y="2864754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Convert USD → BRL to Financial Model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Chrome → Google "USD to BRL" → copy value → paste into Excel</a:t>
              </a:r>
            </a:p>
          </p:txBody>
        </p:sp>
        <p:sp>
          <p:nvSpPr>
            <p:cNvPr id="12" name="Shape 34">
              <a:extLst>
                <a:ext uri="{FF2B5EF4-FFF2-40B4-BE49-F238E27FC236}">
                  <a16:creationId xmlns:a16="http://schemas.microsoft.com/office/drawing/2014/main" id="{B99F1773-65CE-D2D9-0216-67561D261F0B}"/>
                </a:ext>
              </a:extLst>
            </p:cNvPr>
            <p:cNvSpPr/>
            <p:nvPr/>
          </p:nvSpPr>
          <p:spPr>
            <a:xfrm>
              <a:off x="381000" y="3393780"/>
              <a:ext cx="5400000" cy="468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35">
              <a:extLst>
                <a:ext uri="{FF2B5EF4-FFF2-40B4-BE49-F238E27FC236}">
                  <a16:creationId xmlns:a16="http://schemas.microsoft.com/office/drawing/2014/main" id="{68EDAC22-EDFC-CEC5-C2FB-AF035EFE1964}"/>
                </a:ext>
              </a:extLst>
            </p:cNvPr>
            <p:cNvSpPr/>
            <p:nvPr/>
          </p:nvSpPr>
          <p:spPr>
            <a:xfrm>
              <a:off x="515769" y="3393780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Ask ChatGPT/Claude something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Chrome → navigate to AI → wait for it to load → type prompt</a:t>
              </a:r>
            </a:p>
          </p:txBody>
        </p:sp>
        <p:sp>
          <p:nvSpPr>
            <p:cNvPr id="14" name="Shape 42">
              <a:extLst>
                <a:ext uri="{FF2B5EF4-FFF2-40B4-BE49-F238E27FC236}">
                  <a16:creationId xmlns:a16="http://schemas.microsoft.com/office/drawing/2014/main" id="{54844EB8-0F18-77AD-51B3-C8165BB7D71B}"/>
                </a:ext>
              </a:extLst>
            </p:cNvPr>
            <p:cNvSpPr/>
            <p:nvPr/>
          </p:nvSpPr>
          <p:spPr>
            <a:xfrm>
              <a:off x="381000" y="3922806"/>
              <a:ext cx="5400000" cy="46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43">
              <a:extLst>
                <a:ext uri="{FF2B5EF4-FFF2-40B4-BE49-F238E27FC236}">
                  <a16:creationId xmlns:a16="http://schemas.microsoft.com/office/drawing/2014/main" id="{60FCDCB6-0F81-3A2B-7650-C639D25D5F1F}"/>
                </a:ext>
              </a:extLst>
            </p:cNvPr>
            <p:cNvSpPr/>
            <p:nvPr/>
          </p:nvSpPr>
          <p:spPr>
            <a:xfrm>
              <a:off x="515769" y="3922806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Browse file on computer/network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Explorer → browse folders → try to remember the name → search</a:t>
              </a:r>
            </a:p>
          </p:txBody>
        </p:sp>
        <p:sp>
          <p:nvSpPr>
            <p:cNvPr id="16" name="Shape 58">
              <a:extLst>
                <a:ext uri="{FF2B5EF4-FFF2-40B4-BE49-F238E27FC236}">
                  <a16:creationId xmlns:a16="http://schemas.microsoft.com/office/drawing/2014/main" id="{0DFD7717-7A98-1EA3-EE57-AFC22EFC8EC0}"/>
                </a:ext>
              </a:extLst>
            </p:cNvPr>
            <p:cNvSpPr/>
            <p:nvPr/>
          </p:nvSpPr>
          <p:spPr>
            <a:xfrm>
              <a:off x="381000" y="4451832"/>
              <a:ext cx="5400000" cy="46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59">
              <a:extLst>
                <a:ext uri="{FF2B5EF4-FFF2-40B4-BE49-F238E27FC236}">
                  <a16:creationId xmlns:a16="http://schemas.microsoft.com/office/drawing/2014/main" id="{C4448E12-06DF-D927-28FF-D261324359B0}"/>
                </a:ext>
              </a:extLst>
            </p:cNvPr>
            <p:cNvSpPr/>
            <p:nvPr/>
          </p:nvSpPr>
          <p:spPr>
            <a:xfrm>
              <a:off x="515769" y="4451832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Search taxes for an old proposal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Opens proposal folders → tries to remember project → opens → searches for taxes</a:t>
              </a:r>
            </a:p>
          </p:txBody>
        </p:sp>
        <p:sp>
          <p:nvSpPr>
            <p:cNvPr id="18" name="Shape 66">
              <a:extLst>
                <a:ext uri="{FF2B5EF4-FFF2-40B4-BE49-F238E27FC236}">
                  <a16:creationId xmlns:a16="http://schemas.microsoft.com/office/drawing/2014/main" id="{990CD0F6-EFE0-1DDD-854B-3B5345C25F73}"/>
                </a:ext>
              </a:extLst>
            </p:cNvPr>
            <p:cNvSpPr/>
            <p:nvPr/>
          </p:nvSpPr>
          <p:spPr>
            <a:xfrm>
              <a:off x="381000" y="4980858"/>
              <a:ext cx="5400000" cy="468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7">
              <a:extLst>
                <a:ext uri="{FF2B5EF4-FFF2-40B4-BE49-F238E27FC236}">
                  <a16:creationId xmlns:a16="http://schemas.microsoft.com/office/drawing/2014/main" id="{BF4F4073-E1D7-76CC-984E-6CF9E02324BB}"/>
                </a:ext>
              </a:extLst>
            </p:cNvPr>
            <p:cNvSpPr/>
            <p:nvPr/>
          </p:nvSpPr>
          <p:spPr>
            <a:xfrm>
              <a:off x="515769" y="4980858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Find Approach Slide Reference for Proposal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folders → browse templates → open old decks → compare slides</a:t>
              </a:r>
            </a:p>
          </p:txBody>
        </p:sp>
        <p:sp>
          <p:nvSpPr>
            <p:cNvPr id="20" name="Shape 82">
              <a:extLst>
                <a:ext uri="{FF2B5EF4-FFF2-40B4-BE49-F238E27FC236}">
                  <a16:creationId xmlns:a16="http://schemas.microsoft.com/office/drawing/2014/main" id="{F9DAB35E-F5FA-8F06-0F01-438078FA2E6D}"/>
                </a:ext>
              </a:extLst>
            </p:cNvPr>
            <p:cNvSpPr/>
            <p:nvPr/>
          </p:nvSpPr>
          <p:spPr>
            <a:xfrm>
              <a:off x="381000" y="6038914"/>
              <a:ext cx="5400000" cy="324000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83">
              <a:extLst>
                <a:ext uri="{FF2B5EF4-FFF2-40B4-BE49-F238E27FC236}">
                  <a16:creationId xmlns:a16="http://schemas.microsoft.com/office/drawing/2014/main" id="{129D2138-8E77-AE62-7DBC-0761953A32F7}"/>
                </a:ext>
              </a:extLst>
            </p:cNvPr>
            <p:cNvSpPr/>
            <p:nvPr/>
          </p:nvSpPr>
          <p:spPr>
            <a:xfrm>
              <a:off x="515769" y="6038914"/>
              <a:ext cx="5040000" cy="3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Total </a:t>
              </a:r>
              <a:r>
                <a:rPr lang="en-US" sz="1000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(9 tasks × 1 cycle)</a:t>
              </a:r>
              <a:endParaRPr lang="en-US" sz="1100" dirty="0"/>
            </a:p>
          </p:txBody>
        </p:sp>
        <p:sp>
          <p:nvSpPr>
            <p:cNvPr id="22" name="Shape 74">
              <a:extLst>
                <a:ext uri="{FF2B5EF4-FFF2-40B4-BE49-F238E27FC236}">
                  <a16:creationId xmlns:a16="http://schemas.microsoft.com/office/drawing/2014/main" id="{B0158384-247D-6B5A-C8F5-D379A548BFD6}"/>
                </a:ext>
              </a:extLst>
            </p:cNvPr>
            <p:cNvSpPr/>
            <p:nvPr/>
          </p:nvSpPr>
          <p:spPr>
            <a:xfrm>
              <a:off x="381000" y="5509884"/>
              <a:ext cx="5400000" cy="46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75">
              <a:extLst>
                <a:ext uri="{FF2B5EF4-FFF2-40B4-BE49-F238E27FC236}">
                  <a16:creationId xmlns:a16="http://schemas.microsoft.com/office/drawing/2014/main" id="{3D54A00A-1257-6D3E-EEF8-5CA14FA4F4FC}"/>
                </a:ext>
              </a:extLst>
            </p:cNvPr>
            <p:cNvSpPr/>
            <p:nvPr/>
          </p:nvSpPr>
          <p:spPr>
            <a:xfrm>
              <a:off x="515769" y="5509884"/>
              <a:ext cx="5292000" cy="46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100" b="1" dirty="0">
                  <a:ea typeface="Calibri" pitchFamily="34" charset="-122"/>
                  <a:cs typeface="Calibri" pitchFamily="34" charset="-120"/>
                </a:rPr>
                <a:t>Find customer logos to put on the proposal
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Open Chrome → </a:t>
              </a:r>
              <a:r>
                <a:rPr lang="en-US" sz="1000" dirty="0" err="1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Googla</a:t>
              </a:r>
              <a:r>
                <a:rPr lang="en-US" sz="10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 "logo [client] PNG" → download → resize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69924A0-3BA4-38CF-A1FE-AACD4EED48E7}"/>
                </a:ext>
              </a:extLst>
            </p:cNvPr>
            <p:cNvGrpSpPr/>
            <p:nvPr/>
          </p:nvGrpSpPr>
          <p:grpSpPr>
            <a:xfrm>
              <a:off x="5867427" y="1313676"/>
              <a:ext cx="2268000" cy="5049238"/>
              <a:chOff x="5867427" y="1313676"/>
              <a:chExt cx="2268000" cy="5049238"/>
            </a:xfrm>
          </p:grpSpPr>
          <p:sp>
            <p:nvSpPr>
              <p:cNvPr id="46" name="Shape 4">
                <a:extLst>
                  <a:ext uri="{FF2B5EF4-FFF2-40B4-BE49-F238E27FC236}">
                    <a16:creationId xmlns:a16="http://schemas.microsoft.com/office/drawing/2014/main" id="{0FCC0C64-80C3-ECEF-1493-0B5680D06997}"/>
                  </a:ext>
                </a:extLst>
              </p:cNvPr>
              <p:cNvSpPr/>
              <p:nvPr/>
            </p:nvSpPr>
            <p:spPr>
              <a:xfrm>
                <a:off x="5867427" y="1313676"/>
                <a:ext cx="2268000" cy="432000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lIns="432000" rIns="4680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100" b="1" dirty="0">
                    <a:ea typeface="Calibri" pitchFamily="34" charset="-122"/>
                    <a:cs typeface="Calibri" pitchFamily="34" charset="-120"/>
                  </a:rPr>
                  <a:t>Time on a reasonably good </a:t>
                </a: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Calibri" pitchFamily="34" charset="-122"/>
                    <a:cs typeface="Calibri" pitchFamily="34" charset="-120"/>
                  </a:rPr>
                  <a:t>PC</a:t>
                </a:r>
                <a:endParaRPr kumimoji="0" lang="en-US" sz="11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pic>
            <p:nvPicPr>
              <p:cNvPr id="47" name="Graphic 46" descr="Stopwatch 75% with solid fill">
                <a:extLst>
                  <a:ext uri="{FF2B5EF4-FFF2-40B4-BE49-F238E27FC236}">
                    <a16:creationId xmlns:a16="http://schemas.microsoft.com/office/drawing/2014/main" id="{0B72DC56-353F-33B2-2B5E-B7BF6CA1C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867427" y="1357084"/>
                <a:ext cx="345184" cy="345184"/>
              </a:xfrm>
              <a:prstGeom prst="rect">
                <a:avLst/>
              </a:prstGeom>
            </p:spPr>
          </p:pic>
          <p:sp>
            <p:nvSpPr>
              <p:cNvPr id="48" name="Shape 12">
                <a:extLst>
                  <a:ext uri="{FF2B5EF4-FFF2-40B4-BE49-F238E27FC236}">
                    <a16:creationId xmlns:a16="http://schemas.microsoft.com/office/drawing/2014/main" id="{2AE98FDB-6B4C-50A8-3705-7711AE0AB4FE}"/>
                  </a:ext>
                </a:extLst>
              </p:cNvPr>
              <p:cNvSpPr/>
              <p:nvPr/>
            </p:nvSpPr>
            <p:spPr>
              <a:xfrm>
                <a:off x="5867427" y="1806702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9" name="Text 13">
                <a:extLst>
                  <a:ext uri="{FF2B5EF4-FFF2-40B4-BE49-F238E27FC236}">
                    <a16:creationId xmlns:a16="http://schemas.microsoft.com/office/drawing/2014/main" id="{E1F609F1-ABDE-AB7E-38B3-8B3526A5CB2A}"/>
                  </a:ext>
                </a:extLst>
              </p:cNvPr>
              <p:cNvSpPr/>
              <p:nvPr/>
            </p:nvSpPr>
            <p:spPr>
              <a:xfrm>
                <a:off x="5867427" y="1806702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~30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0" name="Shape 20">
                <a:extLst>
                  <a:ext uri="{FF2B5EF4-FFF2-40B4-BE49-F238E27FC236}">
                    <a16:creationId xmlns:a16="http://schemas.microsoft.com/office/drawing/2014/main" id="{F640B2C1-6A92-B3F2-7C9D-35B7D55487F4}"/>
                  </a:ext>
                </a:extLst>
              </p:cNvPr>
              <p:cNvSpPr/>
              <p:nvPr/>
            </p:nvSpPr>
            <p:spPr>
              <a:xfrm>
                <a:off x="5867427" y="2335728"/>
                <a:ext cx="2268000" cy="46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Text 21">
                <a:extLst>
                  <a:ext uri="{FF2B5EF4-FFF2-40B4-BE49-F238E27FC236}">
                    <a16:creationId xmlns:a16="http://schemas.microsoft.com/office/drawing/2014/main" id="{F9D94BFD-E8AB-492C-36E1-2C8E726CB4E7}"/>
                  </a:ext>
                </a:extLst>
              </p:cNvPr>
              <p:cNvSpPr/>
              <p:nvPr/>
            </p:nvSpPr>
            <p:spPr>
              <a:xfrm>
                <a:off x="5867427" y="2335728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~45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2" name="Shape 28">
                <a:extLst>
                  <a:ext uri="{FF2B5EF4-FFF2-40B4-BE49-F238E27FC236}">
                    <a16:creationId xmlns:a16="http://schemas.microsoft.com/office/drawing/2014/main" id="{368AE13D-EF39-6ECA-1C4B-C5C5F890DD23}"/>
                  </a:ext>
                </a:extLst>
              </p:cNvPr>
              <p:cNvSpPr/>
              <p:nvPr/>
            </p:nvSpPr>
            <p:spPr>
              <a:xfrm>
                <a:off x="5867427" y="2864754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3" name="Text 29">
                <a:extLst>
                  <a:ext uri="{FF2B5EF4-FFF2-40B4-BE49-F238E27FC236}">
                    <a16:creationId xmlns:a16="http://schemas.microsoft.com/office/drawing/2014/main" id="{82B63440-BE5B-BF4C-5F98-742DF765D452}"/>
                  </a:ext>
                </a:extLst>
              </p:cNvPr>
              <p:cNvSpPr/>
              <p:nvPr/>
            </p:nvSpPr>
            <p:spPr>
              <a:xfrm>
                <a:off x="5867427" y="2864754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~15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4" name="Shape 36">
                <a:extLst>
                  <a:ext uri="{FF2B5EF4-FFF2-40B4-BE49-F238E27FC236}">
                    <a16:creationId xmlns:a16="http://schemas.microsoft.com/office/drawing/2014/main" id="{137FADF4-64FC-2B2D-94FE-FBD53BFC9500}"/>
                  </a:ext>
                </a:extLst>
              </p:cNvPr>
              <p:cNvSpPr/>
              <p:nvPr/>
            </p:nvSpPr>
            <p:spPr>
              <a:xfrm>
                <a:off x="5867427" y="3393780"/>
                <a:ext cx="2268000" cy="46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5" name="Text 37">
                <a:extLst>
                  <a:ext uri="{FF2B5EF4-FFF2-40B4-BE49-F238E27FC236}">
                    <a16:creationId xmlns:a16="http://schemas.microsoft.com/office/drawing/2014/main" id="{BA430D8F-1586-0A79-5E43-24B3B5603ADD}"/>
                  </a:ext>
                </a:extLst>
              </p:cNvPr>
              <p:cNvSpPr/>
              <p:nvPr/>
            </p:nvSpPr>
            <p:spPr>
              <a:xfrm>
                <a:off x="5867427" y="3393780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~15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6" name="Shape 44">
                <a:extLst>
                  <a:ext uri="{FF2B5EF4-FFF2-40B4-BE49-F238E27FC236}">
                    <a16:creationId xmlns:a16="http://schemas.microsoft.com/office/drawing/2014/main" id="{35145E1A-42E7-D1F3-8447-9B85536258DB}"/>
                  </a:ext>
                </a:extLst>
              </p:cNvPr>
              <p:cNvSpPr/>
              <p:nvPr/>
            </p:nvSpPr>
            <p:spPr>
              <a:xfrm>
                <a:off x="5867427" y="3922806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7" name="Text 45">
                <a:extLst>
                  <a:ext uri="{FF2B5EF4-FFF2-40B4-BE49-F238E27FC236}">
                    <a16:creationId xmlns:a16="http://schemas.microsoft.com/office/drawing/2014/main" id="{9A186ECF-ED7E-FCB4-C1BC-2E4039433F25}"/>
                  </a:ext>
                </a:extLst>
              </p:cNvPr>
              <p:cNvSpPr/>
              <p:nvPr/>
            </p:nvSpPr>
            <p:spPr>
              <a:xfrm>
                <a:off x="5867427" y="3922806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~45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8" name="Shape 60">
                <a:extLst>
                  <a:ext uri="{FF2B5EF4-FFF2-40B4-BE49-F238E27FC236}">
                    <a16:creationId xmlns:a16="http://schemas.microsoft.com/office/drawing/2014/main" id="{7E037D06-4D49-365C-B74E-4235388C84B3}"/>
                  </a:ext>
                </a:extLst>
              </p:cNvPr>
              <p:cNvSpPr/>
              <p:nvPr/>
            </p:nvSpPr>
            <p:spPr>
              <a:xfrm>
                <a:off x="5867427" y="4451832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9" name="Text 61">
                <a:extLst>
                  <a:ext uri="{FF2B5EF4-FFF2-40B4-BE49-F238E27FC236}">
                    <a16:creationId xmlns:a16="http://schemas.microsoft.com/office/drawing/2014/main" id="{BFD4FD1F-2492-4DD1-A837-6DB10AD60D59}"/>
                  </a:ext>
                </a:extLst>
              </p:cNvPr>
              <p:cNvSpPr/>
              <p:nvPr/>
            </p:nvSpPr>
            <p:spPr>
              <a:xfrm>
                <a:off x="5867427" y="4451832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~45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0" name="Shape 68">
                <a:extLst>
                  <a:ext uri="{FF2B5EF4-FFF2-40B4-BE49-F238E27FC236}">
                    <a16:creationId xmlns:a16="http://schemas.microsoft.com/office/drawing/2014/main" id="{4DADC407-8505-170B-ECB3-99CA49266E81}"/>
                  </a:ext>
                </a:extLst>
              </p:cNvPr>
              <p:cNvSpPr/>
              <p:nvPr/>
            </p:nvSpPr>
            <p:spPr>
              <a:xfrm>
                <a:off x="5867427" y="4980858"/>
                <a:ext cx="2268000" cy="46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1" name="Text 69">
                <a:extLst>
                  <a:ext uri="{FF2B5EF4-FFF2-40B4-BE49-F238E27FC236}">
                    <a16:creationId xmlns:a16="http://schemas.microsoft.com/office/drawing/2014/main" id="{2ABEE9B8-40A2-565A-888E-F95F86135B03}"/>
                  </a:ext>
                </a:extLst>
              </p:cNvPr>
              <p:cNvSpPr/>
              <p:nvPr/>
            </p:nvSpPr>
            <p:spPr>
              <a:xfrm>
                <a:off x="5867427" y="4980858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~120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2" name="Shape 84">
                <a:extLst>
                  <a:ext uri="{FF2B5EF4-FFF2-40B4-BE49-F238E27FC236}">
                    <a16:creationId xmlns:a16="http://schemas.microsoft.com/office/drawing/2014/main" id="{2E1011E3-7099-5B60-45E8-E14C52751589}"/>
                  </a:ext>
                </a:extLst>
              </p:cNvPr>
              <p:cNvSpPr/>
              <p:nvPr/>
            </p:nvSpPr>
            <p:spPr>
              <a:xfrm>
                <a:off x="5867427" y="6038914"/>
                <a:ext cx="2268000" cy="324000"/>
              </a:xfrm>
              <a:prstGeom prst="rect">
                <a:avLst/>
              </a:prstGeom>
              <a:solidFill>
                <a:schemeClr val="accent6">
                  <a:lumMod val="10000"/>
                </a:scheme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 85">
                <a:extLst>
                  <a:ext uri="{FF2B5EF4-FFF2-40B4-BE49-F238E27FC236}">
                    <a16:creationId xmlns:a16="http://schemas.microsoft.com/office/drawing/2014/main" id="{32145EA4-0C44-1D06-0A8D-F399EB8765D3}"/>
                  </a:ext>
                </a:extLst>
              </p:cNvPr>
              <p:cNvSpPr/>
              <p:nvPr/>
            </p:nvSpPr>
            <p:spPr>
              <a:xfrm>
                <a:off x="5867427" y="6038914"/>
                <a:ext cx="2268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>
                        <a:lumMod val="8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~345 seg</a:t>
                </a:r>
                <a:endParaRPr lang="en-US" sz="12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64" name="Shape 76">
                <a:extLst>
                  <a:ext uri="{FF2B5EF4-FFF2-40B4-BE49-F238E27FC236}">
                    <a16:creationId xmlns:a16="http://schemas.microsoft.com/office/drawing/2014/main" id="{C31F1DF2-42B5-A26E-3714-72A088AB0CD3}"/>
                  </a:ext>
                </a:extLst>
              </p:cNvPr>
              <p:cNvSpPr/>
              <p:nvPr/>
            </p:nvSpPr>
            <p:spPr>
              <a:xfrm>
                <a:off x="5867427" y="5509884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5" name="Text 77">
                <a:extLst>
                  <a:ext uri="{FF2B5EF4-FFF2-40B4-BE49-F238E27FC236}">
                    <a16:creationId xmlns:a16="http://schemas.microsoft.com/office/drawing/2014/main" id="{B69C23B3-B257-6013-7ADF-6C446FEC1AE7}"/>
                  </a:ext>
                </a:extLst>
              </p:cNvPr>
              <p:cNvSpPr/>
              <p:nvPr/>
            </p:nvSpPr>
            <p:spPr>
              <a:xfrm>
                <a:off x="5867427" y="5509884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Calibri" pitchFamily="34" charset="-122"/>
                    <a:cs typeface="Calibri" pitchFamily="34" charset="-120"/>
                  </a:rPr>
                  <a:t>~30 seg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5633A87-454D-6898-3CB9-732BA223C564}"/>
                </a:ext>
              </a:extLst>
            </p:cNvPr>
            <p:cNvGrpSpPr/>
            <p:nvPr/>
          </p:nvGrpSpPr>
          <p:grpSpPr>
            <a:xfrm>
              <a:off x="8221855" y="1313676"/>
              <a:ext cx="2268000" cy="5049238"/>
              <a:chOff x="8221855" y="1313676"/>
              <a:chExt cx="2268000" cy="5049238"/>
            </a:xfrm>
          </p:grpSpPr>
          <p:sp>
            <p:nvSpPr>
              <p:cNvPr id="26" name="Shape 6">
                <a:extLst>
                  <a:ext uri="{FF2B5EF4-FFF2-40B4-BE49-F238E27FC236}">
                    <a16:creationId xmlns:a16="http://schemas.microsoft.com/office/drawing/2014/main" id="{ED16204E-95EA-0863-5BE4-29E24883EB10}"/>
                  </a:ext>
                </a:extLst>
              </p:cNvPr>
              <p:cNvSpPr/>
              <p:nvPr/>
            </p:nvSpPr>
            <p:spPr>
              <a:xfrm>
                <a:off x="8221855" y="1313676"/>
                <a:ext cx="2268000" cy="432000"/>
              </a:xfrm>
              <a:prstGeom prst="rect">
                <a:avLst/>
              </a:prstGeom>
              <a:solidFill>
                <a:schemeClr val="bg1"/>
              </a:solidFill>
              <a:ln/>
            </p:spPr>
            <p:txBody>
              <a:bodyPr lIns="432000" rIns="46800" anchor="ctr"/>
              <a:lstStyle/>
              <a:p>
                <a:pPr lvl="0">
                  <a:defRPr/>
                </a:pPr>
                <a:r>
                  <a:rPr lang="en-US" sz="1100" b="1" dirty="0">
                    <a:ea typeface="Calibri" pitchFamily="34" charset="-122"/>
                    <a:cs typeface="Calibri" pitchFamily="34" charset="-120"/>
                  </a:rPr>
                  <a:t>Time on a PC with </a:t>
                </a:r>
                <a:r>
                  <a:rPr lang="en-US" sz="1100" b="1" u="sng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lots of corporate spyware</a:t>
                </a:r>
                <a:endParaRPr lang="en-US" sz="1100" u="sng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27" name="Shape 14">
                <a:extLst>
                  <a:ext uri="{FF2B5EF4-FFF2-40B4-BE49-F238E27FC236}">
                    <a16:creationId xmlns:a16="http://schemas.microsoft.com/office/drawing/2014/main" id="{8874AFBE-0682-3EC7-DE55-F91E80933C71}"/>
                  </a:ext>
                </a:extLst>
              </p:cNvPr>
              <p:cNvSpPr/>
              <p:nvPr/>
            </p:nvSpPr>
            <p:spPr>
              <a:xfrm>
                <a:off x="8221855" y="1806702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28" name="Text 15">
                <a:extLst>
                  <a:ext uri="{FF2B5EF4-FFF2-40B4-BE49-F238E27FC236}">
                    <a16:creationId xmlns:a16="http://schemas.microsoft.com/office/drawing/2014/main" id="{6D6A21BB-92FC-1ED7-DA3D-A622AD9388D8}"/>
                  </a:ext>
                </a:extLst>
              </p:cNvPr>
              <p:cNvSpPr/>
              <p:nvPr/>
            </p:nvSpPr>
            <p:spPr>
              <a:xfrm>
                <a:off x="8221855" y="1806702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~45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29" name="Shape 22">
                <a:extLst>
                  <a:ext uri="{FF2B5EF4-FFF2-40B4-BE49-F238E27FC236}">
                    <a16:creationId xmlns:a16="http://schemas.microsoft.com/office/drawing/2014/main" id="{CB780945-4F9C-CF16-6A27-D1BEBC031854}"/>
                  </a:ext>
                </a:extLst>
              </p:cNvPr>
              <p:cNvSpPr/>
              <p:nvPr/>
            </p:nvSpPr>
            <p:spPr>
              <a:xfrm>
                <a:off x="8221855" y="2335728"/>
                <a:ext cx="2268000" cy="46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30" name="Text 23">
                <a:extLst>
                  <a:ext uri="{FF2B5EF4-FFF2-40B4-BE49-F238E27FC236}">
                    <a16:creationId xmlns:a16="http://schemas.microsoft.com/office/drawing/2014/main" id="{A55A64ED-D979-1030-A104-685712906B17}"/>
                  </a:ext>
                </a:extLst>
              </p:cNvPr>
              <p:cNvSpPr/>
              <p:nvPr/>
            </p:nvSpPr>
            <p:spPr>
              <a:xfrm>
                <a:off x="8221855" y="2335728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~60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31" name="Shape 30">
                <a:extLst>
                  <a:ext uri="{FF2B5EF4-FFF2-40B4-BE49-F238E27FC236}">
                    <a16:creationId xmlns:a16="http://schemas.microsoft.com/office/drawing/2014/main" id="{84FA1F5E-EA34-C846-E445-F45C3A5E0BE7}"/>
                  </a:ext>
                </a:extLst>
              </p:cNvPr>
              <p:cNvSpPr/>
              <p:nvPr/>
            </p:nvSpPr>
            <p:spPr>
              <a:xfrm>
                <a:off x="8221855" y="2864754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32" name="Text 31">
                <a:extLst>
                  <a:ext uri="{FF2B5EF4-FFF2-40B4-BE49-F238E27FC236}">
                    <a16:creationId xmlns:a16="http://schemas.microsoft.com/office/drawing/2014/main" id="{0D79C347-9A6C-AA1F-2C52-B58DE5819526}"/>
                  </a:ext>
                </a:extLst>
              </p:cNvPr>
              <p:cNvSpPr/>
              <p:nvPr/>
            </p:nvSpPr>
            <p:spPr>
              <a:xfrm>
                <a:off x="8221855" y="2864754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~30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33" name="Shape 38">
                <a:extLst>
                  <a:ext uri="{FF2B5EF4-FFF2-40B4-BE49-F238E27FC236}">
                    <a16:creationId xmlns:a16="http://schemas.microsoft.com/office/drawing/2014/main" id="{49C214D3-8875-AF79-15EC-0BB3D3B12326}"/>
                  </a:ext>
                </a:extLst>
              </p:cNvPr>
              <p:cNvSpPr/>
              <p:nvPr/>
            </p:nvSpPr>
            <p:spPr>
              <a:xfrm>
                <a:off x="8221855" y="3393780"/>
                <a:ext cx="2268000" cy="46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34" name="Text 39">
                <a:extLst>
                  <a:ext uri="{FF2B5EF4-FFF2-40B4-BE49-F238E27FC236}">
                    <a16:creationId xmlns:a16="http://schemas.microsoft.com/office/drawing/2014/main" id="{72FEE2E0-423D-8105-3149-7B828278B7DC}"/>
                  </a:ext>
                </a:extLst>
              </p:cNvPr>
              <p:cNvSpPr/>
              <p:nvPr/>
            </p:nvSpPr>
            <p:spPr>
              <a:xfrm>
                <a:off x="8221855" y="3393780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~45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35" name="Shape 46">
                <a:extLst>
                  <a:ext uri="{FF2B5EF4-FFF2-40B4-BE49-F238E27FC236}">
                    <a16:creationId xmlns:a16="http://schemas.microsoft.com/office/drawing/2014/main" id="{228C64C8-161B-D153-FB79-B16486E99382}"/>
                  </a:ext>
                </a:extLst>
              </p:cNvPr>
              <p:cNvSpPr/>
              <p:nvPr/>
            </p:nvSpPr>
            <p:spPr>
              <a:xfrm>
                <a:off x="8221855" y="3922806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36" name="Text 47">
                <a:extLst>
                  <a:ext uri="{FF2B5EF4-FFF2-40B4-BE49-F238E27FC236}">
                    <a16:creationId xmlns:a16="http://schemas.microsoft.com/office/drawing/2014/main" id="{3B26E55E-CBF0-8211-8E48-3E220C640A6A}"/>
                  </a:ext>
                </a:extLst>
              </p:cNvPr>
              <p:cNvSpPr/>
              <p:nvPr/>
            </p:nvSpPr>
            <p:spPr>
              <a:xfrm>
                <a:off x="8221855" y="3922806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~90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37" name="Shape 62">
                <a:extLst>
                  <a:ext uri="{FF2B5EF4-FFF2-40B4-BE49-F238E27FC236}">
                    <a16:creationId xmlns:a16="http://schemas.microsoft.com/office/drawing/2014/main" id="{7238CC01-7199-DB75-F230-7E8A14352D6F}"/>
                  </a:ext>
                </a:extLst>
              </p:cNvPr>
              <p:cNvSpPr/>
              <p:nvPr/>
            </p:nvSpPr>
            <p:spPr>
              <a:xfrm>
                <a:off x="8221855" y="4451832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38" name="Text 63">
                <a:extLst>
                  <a:ext uri="{FF2B5EF4-FFF2-40B4-BE49-F238E27FC236}">
                    <a16:creationId xmlns:a16="http://schemas.microsoft.com/office/drawing/2014/main" id="{A4D825AC-55BD-05A1-206D-4C1B92242682}"/>
                  </a:ext>
                </a:extLst>
              </p:cNvPr>
              <p:cNvSpPr/>
              <p:nvPr/>
            </p:nvSpPr>
            <p:spPr>
              <a:xfrm>
                <a:off x="8221855" y="4451832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~60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39" name="Shape 70">
                <a:extLst>
                  <a:ext uri="{FF2B5EF4-FFF2-40B4-BE49-F238E27FC236}">
                    <a16:creationId xmlns:a16="http://schemas.microsoft.com/office/drawing/2014/main" id="{E895137D-74B7-1482-58AD-0B940BD86CB9}"/>
                  </a:ext>
                </a:extLst>
              </p:cNvPr>
              <p:cNvSpPr/>
              <p:nvPr/>
            </p:nvSpPr>
            <p:spPr>
              <a:xfrm>
                <a:off x="8221855" y="4980858"/>
                <a:ext cx="2268000" cy="46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40" name="Text 71">
                <a:extLst>
                  <a:ext uri="{FF2B5EF4-FFF2-40B4-BE49-F238E27FC236}">
                    <a16:creationId xmlns:a16="http://schemas.microsoft.com/office/drawing/2014/main" id="{B32304A7-BB92-9ED8-888C-2596DFFABB6D}"/>
                  </a:ext>
                </a:extLst>
              </p:cNvPr>
              <p:cNvSpPr/>
              <p:nvPr/>
            </p:nvSpPr>
            <p:spPr>
              <a:xfrm>
                <a:off x="8221855" y="4980858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~200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  <p:sp>
            <p:nvSpPr>
              <p:cNvPr id="41" name="Shape 86">
                <a:extLst>
                  <a:ext uri="{FF2B5EF4-FFF2-40B4-BE49-F238E27FC236}">
                    <a16:creationId xmlns:a16="http://schemas.microsoft.com/office/drawing/2014/main" id="{43F42E6E-DD10-44FF-CC61-13D254DC421C}"/>
                  </a:ext>
                </a:extLst>
              </p:cNvPr>
              <p:cNvSpPr/>
              <p:nvPr/>
            </p:nvSpPr>
            <p:spPr>
              <a:xfrm>
                <a:off x="8221855" y="6038914"/>
                <a:ext cx="2268000" cy="324000"/>
              </a:xfrm>
              <a:prstGeom prst="rect">
                <a:avLst/>
              </a:prstGeom>
              <a:solidFill>
                <a:schemeClr val="accent6">
                  <a:lumMod val="10000"/>
                </a:scheme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 87">
                <a:extLst>
                  <a:ext uri="{FF2B5EF4-FFF2-40B4-BE49-F238E27FC236}">
                    <a16:creationId xmlns:a16="http://schemas.microsoft.com/office/drawing/2014/main" id="{359B5A75-7DB7-D3EA-EE70-E3903EBD0AF1}"/>
                  </a:ext>
                </a:extLst>
              </p:cNvPr>
              <p:cNvSpPr/>
              <p:nvPr/>
            </p:nvSpPr>
            <p:spPr>
              <a:xfrm>
                <a:off x="8221855" y="6038914"/>
                <a:ext cx="2268000" cy="3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EF4444"/>
                    </a:solidFill>
                    <a:ea typeface="Calibri" pitchFamily="34" charset="-122"/>
                    <a:cs typeface="Calibri" pitchFamily="34" charset="-120"/>
                  </a:rPr>
                  <a:t>~570 seg</a:t>
                </a:r>
                <a:endParaRPr lang="en-US" sz="1200" dirty="0"/>
              </a:p>
            </p:txBody>
          </p:sp>
          <p:pic>
            <p:nvPicPr>
              <p:cNvPr id="43" name="Graphic 42" descr="Snail with solid fill">
                <a:extLst>
                  <a:ext uri="{FF2B5EF4-FFF2-40B4-BE49-F238E27FC236}">
                    <a16:creationId xmlns:a16="http://schemas.microsoft.com/office/drawing/2014/main" id="{54E52905-DF4A-51EB-F82B-4D23BC17D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221855" y="1357084"/>
                <a:ext cx="345184" cy="345184"/>
              </a:xfrm>
              <a:prstGeom prst="rect">
                <a:avLst/>
              </a:prstGeom>
            </p:spPr>
          </p:pic>
          <p:sp>
            <p:nvSpPr>
              <p:cNvPr id="44" name="Shape 78">
                <a:extLst>
                  <a:ext uri="{FF2B5EF4-FFF2-40B4-BE49-F238E27FC236}">
                    <a16:creationId xmlns:a16="http://schemas.microsoft.com/office/drawing/2014/main" id="{9FAF47BB-638A-3270-FF1E-D70FB0A153DB}"/>
                  </a:ext>
                </a:extLst>
              </p:cNvPr>
              <p:cNvSpPr/>
              <p:nvPr/>
            </p:nvSpPr>
            <p:spPr>
              <a:xfrm>
                <a:off x="8221855" y="5509884"/>
                <a:ext cx="2268000" cy="46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/>
            </p:spPr>
            <p:txBody>
              <a:bodyPr/>
              <a:lstStyle/>
              <a:p>
                <a:endParaRPr lang="en-US">
                  <a:solidFill>
                    <a:srgbClr val="FF3246"/>
                  </a:solidFill>
                </a:endParaRPr>
              </a:p>
            </p:txBody>
          </p:sp>
          <p:sp>
            <p:nvSpPr>
              <p:cNvPr id="45" name="Text 79">
                <a:extLst>
                  <a:ext uri="{FF2B5EF4-FFF2-40B4-BE49-F238E27FC236}">
                    <a16:creationId xmlns:a16="http://schemas.microsoft.com/office/drawing/2014/main" id="{0A631C61-8963-C247-EA8A-AAEC366649BD}"/>
                  </a:ext>
                </a:extLst>
              </p:cNvPr>
              <p:cNvSpPr/>
              <p:nvPr/>
            </p:nvSpPr>
            <p:spPr>
              <a:xfrm>
                <a:off x="8221855" y="5509884"/>
                <a:ext cx="2268000" cy="46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3246"/>
                    </a:solidFill>
                    <a:ea typeface="Calibri" pitchFamily="34" charset="-122"/>
                    <a:cs typeface="Calibri" pitchFamily="34" charset="-120"/>
                  </a:rPr>
                  <a:t>~40 seg</a:t>
                </a:r>
                <a:endParaRPr lang="en-US" sz="1000" dirty="0">
                  <a:solidFill>
                    <a:srgbClr val="FF3246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778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275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2026-02-26T17:12:24Z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