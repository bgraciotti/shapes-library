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7F9260-19E3-D366-32F4-67D668452C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C7C6D-FB2C-204F-E9AF-2C839E353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99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385AB3-EA77-3D77-13E4-AD24EB4A7C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401E6A-3311-39D3-EC39-E297C605FB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1B2513-4050-B5FA-7CA1-BAC427666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98657"/>
              </p:ext>
            </p:extLst>
          </p:nvPr>
        </p:nvGraphicFramePr>
        <p:xfrm>
          <a:off x="381000" y="1330415"/>
          <a:ext cx="10685267" cy="505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87843">
                  <a:extLst>
                    <a:ext uri="{9D8B030D-6E8A-4147-A177-3AD203B41FA5}">
                      <a16:colId xmlns:a16="http://schemas.microsoft.com/office/drawing/2014/main" val="1201228013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427752208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1791391184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1578203382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2207657124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3809455211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4216219432"/>
                    </a:ext>
                  </a:extLst>
                </a:gridCol>
                <a:gridCol w="1299632">
                  <a:extLst>
                    <a:ext uri="{9D8B030D-6E8A-4147-A177-3AD203B41FA5}">
                      <a16:colId xmlns:a16="http://schemas.microsoft.com/office/drawing/2014/main" val="1075791247"/>
                    </a:ext>
                  </a:extLst>
                </a:gridCol>
              </a:tblGrid>
              <a:tr h="34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Project Phases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4480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Week 0</a:t>
                      </a:r>
                      <a:endParaRPr lang="en-US" sz="10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Week 1</a:t>
                      </a:r>
                      <a:endParaRPr lang="en-US" sz="10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Week 2</a:t>
                      </a:r>
                      <a:endParaRPr lang="en-US" sz="10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Week 3</a:t>
                      </a:r>
                      <a:endParaRPr lang="en-US" sz="10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Week 4</a:t>
                      </a:r>
                      <a:endParaRPr lang="en-US" sz="10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+mn-lt"/>
                        </a:rPr>
                        <a:t>Week 5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>
                          <a:solidFill>
                            <a:schemeClr val="tx1"/>
                          </a:solidFill>
                          <a:latin typeface="+mn-lt"/>
                        </a:rPr>
                        <a:t>Week 6</a:t>
                      </a:r>
                    </a:p>
                  </a:txBody>
                  <a:tcPr marL="72000" marR="7200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58052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Current Situation Analysis</a:t>
                      </a:r>
                    </a:p>
                  </a:txBody>
                  <a:tcPr marL="144000" marR="72000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93484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Scenarios definition &amp; trade-offs</a:t>
                      </a:r>
                    </a:p>
                  </a:txBody>
                  <a:tcPr marL="144000" marR="72000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945460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Valuation &amp; Execution Plan</a:t>
                      </a:r>
                    </a:p>
                  </a:txBody>
                  <a:tcPr marL="144000" marR="72000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1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2880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rtl="0">
                        <a:lnSpc>
                          <a:spcPct val="110000"/>
                        </a:lnSpc>
                      </a:pPr>
                      <a:r>
                        <a:rPr lang="en-US" sz="1000" b="1" baseline="0" noProof="0">
                          <a:solidFill>
                            <a:schemeClr val="tx1"/>
                          </a:solidFill>
                        </a:rPr>
                        <a:t>Milestones</a:t>
                      </a:r>
                    </a:p>
                  </a:txBody>
                  <a:tcPr marL="108000" marR="72000" marT="72000" marB="720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>
                        <a:latin typeface="+mn-lt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rtl="0"/>
                      <a:endParaRPr lang="pt-BR" sz="1100" b="0" noProof="0" dirty="0">
                        <a:latin typeface="+mn-lt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362855"/>
                  </a:ext>
                </a:extLst>
              </a:tr>
            </a:tbl>
          </a:graphicData>
        </a:graphic>
      </p:graphicFrame>
      <p:sp>
        <p:nvSpPr>
          <p:cNvPr id="5" name="Arrow: Chevron 4">
            <a:extLst>
              <a:ext uri="{FF2B5EF4-FFF2-40B4-BE49-F238E27FC236}">
                <a16:creationId xmlns:a16="http://schemas.microsoft.com/office/drawing/2014/main" id="{CE30651D-B785-ED11-6874-668C55FFB18A}"/>
              </a:ext>
            </a:extLst>
          </p:cNvPr>
          <p:cNvSpPr/>
          <p:nvPr/>
        </p:nvSpPr>
        <p:spPr>
          <a:xfrm rot="5400000">
            <a:off x="1118197" y="2355363"/>
            <a:ext cx="114408" cy="15840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383757A-6131-34AA-E3A6-3DE24C979D20}"/>
              </a:ext>
            </a:extLst>
          </p:cNvPr>
          <p:cNvSpPr/>
          <p:nvPr/>
        </p:nvSpPr>
        <p:spPr>
          <a:xfrm rot="5400000">
            <a:off x="1118197" y="3813694"/>
            <a:ext cx="114408" cy="15840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8826A29-92D5-0739-2DDA-3AC9364BF609}"/>
              </a:ext>
            </a:extLst>
          </p:cNvPr>
          <p:cNvSpPr/>
          <p:nvPr/>
        </p:nvSpPr>
        <p:spPr>
          <a:xfrm>
            <a:off x="10883570" y="6039558"/>
            <a:ext cx="182697" cy="1283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BE1E1-231F-3E29-2FD6-E2D40F379657}"/>
              </a:ext>
            </a:extLst>
          </p:cNvPr>
          <p:cNvSpPr txBox="1"/>
          <p:nvPr/>
        </p:nvSpPr>
        <p:spPr>
          <a:xfrm>
            <a:off x="9625822" y="5976770"/>
            <a:ext cx="131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/>
              <a:t>Readout:</a:t>
            </a:r>
            <a:r>
              <a:rPr lang="en-US" sz="900"/>
              <a:t> Valuation &amp; roadmap</a:t>
            </a:r>
          </a:p>
        </p:txBody>
      </p:sp>
      <p:sp>
        <p:nvSpPr>
          <p:cNvPr id="9" name="Pentagon 46">
            <a:extLst>
              <a:ext uri="{FF2B5EF4-FFF2-40B4-BE49-F238E27FC236}">
                <a16:creationId xmlns:a16="http://schemas.microsoft.com/office/drawing/2014/main" id="{692DBE93-2C03-E14E-362A-D9E9B9D41693}"/>
              </a:ext>
            </a:extLst>
          </p:cNvPr>
          <p:cNvSpPr/>
          <p:nvPr/>
        </p:nvSpPr>
        <p:spPr bwMode="gray">
          <a:xfrm>
            <a:off x="3272091" y="1720464"/>
            <a:ext cx="1306347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Strategic ambitions for CAE business</a:t>
            </a:r>
          </a:p>
        </p:txBody>
      </p:sp>
      <p:sp>
        <p:nvSpPr>
          <p:cNvPr id="10" name="Pentagon 46">
            <a:extLst>
              <a:ext uri="{FF2B5EF4-FFF2-40B4-BE49-F238E27FC236}">
                <a16:creationId xmlns:a16="http://schemas.microsoft.com/office/drawing/2014/main" id="{0CA4C6A5-574C-50A7-9D76-7C56DAB06DE0}"/>
              </a:ext>
            </a:extLst>
          </p:cNvPr>
          <p:cNvSpPr/>
          <p:nvPr/>
        </p:nvSpPr>
        <p:spPr bwMode="gray">
          <a:xfrm>
            <a:off x="3272090" y="2297312"/>
            <a:ext cx="2598045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itchFamily="34" charset="0"/>
              </a:rPr>
              <a:t>Internal capabilities assessment </a:t>
            </a:r>
          </a:p>
        </p:txBody>
      </p:sp>
      <p:sp>
        <p:nvSpPr>
          <p:cNvPr id="11" name="Pentagon 46">
            <a:extLst>
              <a:ext uri="{FF2B5EF4-FFF2-40B4-BE49-F238E27FC236}">
                <a16:creationId xmlns:a16="http://schemas.microsoft.com/office/drawing/2014/main" id="{A11E8FB0-40A9-CC21-6CAE-8578726E35D8}"/>
              </a:ext>
            </a:extLst>
          </p:cNvPr>
          <p:cNvSpPr/>
          <p:nvPr/>
        </p:nvSpPr>
        <p:spPr bwMode="gray">
          <a:xfrm>
            <a:off x="3272090" y="2008888"/>
            <a:ext cx="2598045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Dependency mapping</a:t>
            </a:r>
          </a:p>
        </p:txBody>
      </p:sp>
      <p:sp>
        <p:nvSpPr>
          <p:cNvPr id="12" name="Pentagon 46">
            <a:extLst>
              <a:ext uri="{FF2B5EF4-FFF2-40B4-BE49-F238E27FC236}">
                <a16:creationId xmlns:a16="http://schemas.microsoft.com/office/drawing/2014/main" id="{14BE2F53-4AFE-F4E4-ECEE-08ECF46222D5}"/>
              </a:ext>
            </a:extLst>
          </p:cNvPr>
          <p:cNvSpPr/>
          <p:nvPr/>
        </p:nvSpPr>
        <p:spPr bwMode="gray">
          <a:xfrm>
            <a:off x="1967401" y="1720464"/>
            <a:ext cx="1255483" cy="216000"/>
          </a:xfrm>
          <a:prstGeom prst="homePlate">
            <a:avLst>
              <a:gd name="adj" fmla="val 13397"/>
            </a:avLst>
          </a:prstGeom>
          <a:solidFill>
            <a:schemeClr val="bg2">
              <a:lumMod val="9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1983" tIns="71983" rIns="71983" bIns="719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itchFamily="34" charset="0"/>
              </a:rPr>
              <a:t>Setup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5672AA-E03E-454F-A01E-DFD2D7728E0E}"/>
              </a:ext>
            </a:extLst>
          </p:cNvPr>
          <p:cNvSpPr txBox="1"/>
          <p:nvPr/>
        </p:nvSpPr>
        <p:spPr>
          <a:xfrm>
            <a:off x="2026508" y="2006888"/>
            <a:ext cx="1160311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08000" marR="0" lvl="0" indent="-10800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Data Request Submission</a:t>
            </a:r>
          </a:p>
          <a:p>
            <a:pPr marL="108000" marR="0" lvl="0" indent="-10800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Interviews scheduling</a:t>
            </a:r>
          </a:p>
          <a:p>
            <a:pPr marL="108000" marR="0" lvl="0" indent="-108000" algn="l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Preliminary working sessions with Itaú Chile</a:t>
            </a:r>
          </a:p>
        </p:txBody>
      </p:sp>
      <p:sp>
        <p:nvSpPr>
          <p:cNvPr id="14" name="Pentagon 46">
            <a:extLst>
              <a:ext uri="{FF2B5EF4-FFF2-40B4-BE49-F238E27FC236}">
                <a16:creationId xmlns:a16="http://schemas.microsoft.com/office/drawing/2014/main" id="{91AC0D1D-9EA2-047C-7844-7910F9284010}"/>
              </a:ext>
            </a:extLst>
          </p:cNvPr>
          <p:cNvSpPr/>
          <p:nvPr/>
        </p:nvSpPr>
        <p:spPr bwMode="gray">
          <a:xfrm>
            <a:off x="3272091" y="2585736"/>
            <a:ext cx="2598044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Known pain points &amp; limitations of NCG solution</a:t>
            </a:r>
          </a:p>
        </p:txBody>
      </p:sp>
      <p:sp>
        <p:nvSpPr>
          <p:cNvPr id="15" name="Pentagon 46">
            <a:extLst>
              <a:ext uri="{FF2B5EF4-FFF2-40B4-BE49-F238E27FC236}">
                <a16:creationId xmlns:a16="http://schemas.microsoft.com/office/drawing/2014/main" id="{016FD87F-78AF-3FFA-34FB-D39A9CB9DE83}"/>
              </a:ext>
            </a:extLst>
          </p:cNvPr>
          <p:cNvSpPr/>
          <p:nvPr/>
        </p:nvSpPr>
        <p:spPr bwMode="gray">
          <a:xfrm>
            <a:off x="4547184" y="2874159"/>
            <a:ext cx="1291699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Detailed mapping of current cost baseline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359447-B2BA-877C-8922-A1D0E7800666}"/>
              </a:ext>
            </a:extLst>
          </p:cNvPr>
          <p:cNvGrpSpPr/>
          <p:nvPr/>
        </p:nvGrpSpPr>
        <p:grpSpPr>
          <a:xfrm>
            <a:off x="5222789" y="3150411"/>
            <a:ext cx="4507494" cy="1369696"/>
            <a:chOff x="5838881" y="3150411"/>
            <a:chExt cx="3891402" cy="1369696"/>
          </a:xfrm>
        </p:grpSpPr>
        <p:sp>
          <p:nvSpPr>
            <p:cNvPr id="17" name="Pentagon 46">
              <a:extLst>
                <a:ext uri="{FF2B5EF4-FFF2-40B4-BE49-F238E27FC236}">
                  <a16:creationId xmlns:a16="http://schemas.microsoft.com/office/drawing/2014/main" id="{AB4A4491-9E37-A2CF-E844-2572C5A4DE1F}"/>
                </a:ext>
              </a:extLst>
            </p:cNvPr>
            <p:cNvSpPr/>
            <p:nvPr/>
          </p:nvSpPr>
          <p:spPr bwMode="gray">
            <a:xfrm>
              <a:off x="5838881" y="3150412"/>
              <a:ext cx="3358903" cy="216000"/>
            </a:xfrm>
            <a:prstGeom prst="homePlate">
              <a:avLst>
                <a:gd name="adj" fmla="val 1339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 noProof="0">
                  <a:solidFill>
                    <a:srgbClr val="000000"/>
                  </a:solidFill>
                  <a:latin typeface="Graphik"/>
                  <a:cs typeface="Arial" pitchFamily="34" charset="0"/>
                </a:rPr>
                <a:t>Total cost to implement</a:t>
              </a:r>
            </a:p>
          </p:txBody>
        </p:sp>
        <p:sp>
          <p:nvSpPr>
            <p:cNvPr id="18" name="Pentagon 46">
              <a:extLst>
                <a:ext uri="{FF2B5EF4-FFF2-40B4-BE49-F238E27FC236}">
                  <a16:creationId xmlns:a16="http://schemas.microsoft.com/office/drawing/2014/main" id="{0B4C0326-C1B2-E4F5-250D-7F948C87BDF8}"/>
                </a:ext>
              </a:extLst>
            </p:cNvPr>
            <p:cNvSpPr/>
            <p:nvPr/>
          </p:nvSpPr>
          <p:spPr bwMode="gray">
            <a:xfrm>
              <a:off x="5838881" y="3727260"/>
              <a:ext cx="3358903" cy="216000"/>
            </a:xfrm>
            <a:prstGeom prst="homePlate">
              <a:avLst>
                <a:gd name="adj" fmla="val 1339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Arial" pitchFamily="34" charset="0"/>
                </a:rPr>
                <a:t>Technical feasibility &amp; risks</a:t>
              </a:r>
            </a:p>
          </p:txBody>
        </p:sp>
        <p:sp>
          <p:nvSpPr>
            <p:cNvPr id="19" name="Pentagon 46">
              <a:extLst>
                <a:ext uri="{FF2B5EF4-FFF2-40B4-BE49-F238E27FC236}">
                  <a16:creationId xmlns:a16="http://schemas.microsoft.com/office/drawing/2014/main" id="{73CFCD31-908E-174E-664B-AD9CCBD520FD}"/>
                </a:ext>
              </a:extLst>
            </p:cNvPr>
            <p:cNvSpPr/>
            <p:nvPr/>
          </p:nvSpPr>
          <p:spPr bwMode="gray">
            <a:xfrm>
              <a:off x="5838881" y="3438836"/>
              <a:ext cx="3358903" cy="216000"/>
            </a:xfrm>
            <a:prstGeom prst="homePlate">
              <a:avLst>
                <a:gd name="adj" fmla="val 1339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 noProof="0">
                  <a:solidFill>
                    <a:srgbClr val="000000"/>
                  </a:solidFill>
                  <a:latin typeface="Graphik"/>
                  <a:cs typeface="Arial" pitchFamily="34" charset="0"/>
                </a:rPr>
                <a:t>Timeline to full operation</a:t>
              </a:r>
            </a:p>
          </p:txBody>
        </p:sp>
        <p:sp>
          <p:nvSpPr>
            <p:cNvPr id="20" name="Pentagon 46">
              <a:extLst>
                <a:ext uri="{FF2B5EF4-FFF2-40B4-BE49-F238E27FC236}">
                  <a16:creationId xmlns:a16="http://schemas.microsoft.com/office/drawing/2014/main" id="{9AA14849-DACF-6BAB-923B-A6950449E915}"/>
                </a:ext>
              </a:extLst>
            </p:cNvPr>
            <p:cNvSpPr/>
            <p:nvPr/>
          </p:nvSpPr>
          <p:spPr bwMode="gray">
            <a:xfrm>
              <a:off x="5838881" y="4015684"/>
              <a:ext cx="3358903" cy="216000"/>
            </a:xfrm>
            <a:prstGeom prst="homePlate">
              <a:avLst>
                <a:gd name="adj" fmla="val 1339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 noProof="0">
                  <a:solidFill>
                    <a:srgbClr val="000000"/>
                  </a:solidFill>
                  <a:latin typeface="Graphik"/>
                  <a:cs typeface="Arial" pitchFamily="34" charset="0"/>
                </a:rPr>
                <a:t>Required internal capabilities</a:t>
              </a:r>
            </a:p>
          </p:txBody>
        </p:sp>
        <p:sp>
          <p:nvSpPr>
            <p:cNvPr id="21" name="Pentagon 46">
              <a:extLst>
                <a:ext uri="{FF2B5EF4-FFF2-40B4-BE49-F238E27FC236}">
                  <a16:creationId xmlns:a16="http://schemas.microsoft.com/office/drawing/2014/main" id="{BD3EF0CC-6CED-9953-1D6B-F9C41571F43E}"/>
                </a:ext>
              </a:extLst>
            </p:cNvPr>
            <p:cNvSpPr/>
            <p:nvPr/>
          </p:nvSpPr>
          <p:spPr bwMode="gray">
            <a:xfrm>
              <a:off x="5838881" y="4304107"/>
              <a:ext cx="3358903" cy="216000"/>
            </a:xfrm>
            <a:prstGeom prst="homePlate">
              <a:avLst>
                <a:gd name="adj" fmla="val 13397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 noProof="0">
                  <a:solidFill>
                    <a:srgbClr val="000000"/>
                  </a:solidFill>
                  <a:latin typeface="Graphik"/>
                  <a:cs typeface="Arial" pitchFamily="34" charset="0"/>
                </a:rPr>
                <a:t>Benefits vs. current state</a:t>
              </a:r>
            </a:p>
          </p:txBody>
        </p:sp>
        <p:sp>
          <p:nvSpPr>
            <p:cNvPr id="22" name="Pentagon 46">
              <a:extLst>
                <a:ext uri="{FF2B5EF4-FFF2-40B4-BE49-F238E27FC236}">
                  <a16:creationId xmlns:a16="http://schemas.microsoft.com/office/drawing/2014/main" id="{1B176616-20DE-81C1-2461-DC939899D207}"/>
                </a:ext>
              </a:extLst>
            </p:cNvPr>
            <p:cNvSpPr/>
            <p:nvPr/>
          </p:nvSpPr>
          <p:spPr bwMode="gray">
            <a:xfrm>
              <a:off x="9231054" y="3150411"/>
              <a:ext cx="499229" cy="1369695"/>
            </a:xfrm>
            <a:prstGeom prst="homePlate">
              <a:avLst>
                <a:gd name="adj" fmla="val 1728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6350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vert270" wrap="square" lIns="54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kern="0" noProof="0">
                  <a:solidFill>
                    <a:srgbClr val="000000"/>
                  </a:solidFill>
                  <a:latin typeface="Graphik"/>
                  <a:cs typeface="Arial" pitchFamily="34" charset="0"/>
                </a:rPr>
                <a:t>Consolidation</a:t>
              </a:r>
            </a:p>
          </p:txBody>
        </p:sp>
      </p:grpSp>
      <p:sp>
        <p:nvSpPr>
          <p:cNvPr id="23" name="Pentagon 46">
            <a:extLst>
              <a:ext uri="{FF2B5EF4-FFF2-40B4-BE49-F238E27FC236}">
                <a16:creationId xmlns:a16="http://schemas.microsoft.com/office/drawing/2014/main" id="{5E4950FB-BED3-0173-612A-2081DA81CE89}"/>
              </a:ext>
            </a:extLst>
          </p:cNvPr>
          <p:cNvSpPr/>
          <p:nvPr/>
        </p:nvSpPr>
        <p:spPr bwMode="gray">
          <a:xfrm>
            <a:off x="7160455" y="4580360"/>
            <a:ext cx="1923495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Valuation methodologies</a:t>
            </a:r>
          </a:p>
        </p:txBody>
      </p:sp>
      <p:sp>
        <p:nvSpPr>
          <p:cNvPr id="24" name="Pentagon 46">
            <a:extLst>
              <a:ext uri="{FF2B5EF4-FFF2-40B4-BE49-F238E27FC236}">
                <a16:creationId xmlns:a16="http://schemas.microsoft.com/office/drawing/2014/main" id="{F40537A3-1CF4-8274-316D-47B98DCFF4F6}"/>
              </a:ext>
            </a:extLst>
          </p:cNvPr>
          <p:cNvSpPr/>
          <p:nvPr/>
        </p:nvSpPr>
        <p:spPr bwMode="gray">
          <a:xfrm>
            <a:off x="9125111" y="5157208"/>
            <a:ext cx="1941156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pitchFamily="34" charset="0"/>
              </a:rPr>
              <a:t>Negotiation strategy &amp; levers</a:t>
            </a:r>
          </a:p>
        </p:txBody>
      </p:sp>
      <p:sp>
        <p:nvSpPr>
          <p:cNvPr id="25" name="Pentagon 46">
            <a:extLst>
              <a:ext uri="{FF2B5EF4-FFF2-40B4-BE49-F238E27FC236}">
                <a16:creationId xmlns:a16="http://schemas.microsoft.com/office/drawing/2014/main" id="{6E673CF7-6AED-627C-2F7E-538D84CBE965}"/>
              </a:ext>
            </a:extLst>
          </p:cNvPr>
          <p:cNvSpPr/>
          <p:nvPr/>
        </p:nvSpPr>
        <p:spPr bwMode="gray">
          <a:xfrm>
            <a:off x="8465189" y="4868784"/>
            <a:ext cx="2601078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Acceptable price range definition</a:t>
            </a:r>
          </a:p>
        </p:txBody>
      </p:sp>
      <p:sp>
        <p:nvSpPr>
          <p:cNvPr id="26" name="Pentagon 46">
            <a:extLst>
              <a:ext uri="{FF2B5EF4-FFF2-40B4-BE49-F238E27FC236}">
                <a16:creationId xmlns:a16="http://schemas.microsoft.com/office/drawing/2014/main" id="{1C2A1B26-3B51-D0D9-B5EC-B971FD7693F8}"/>
              </a:ext>
            </a:extLst>
          </p:cNvPr>
          <p:cNvSpPr/>
          <p:nvPr/>
        </p:nvSpPr>
        <p:spPr bwMode="gray">
          <a:xfrm>
            <a:off x="9125111" y="5445632"/>
            <a:ext cx="1941156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Risk mitigation actions</a:t>
            </a:r>
          </a:p>
        </p:txBody>
      </p:sp>
      <p:sp>
        <p:nvSpPr>
          <p:cNvPr id="27" name="Pentagon 46">
            <a:extLst>
              <a:ext uri="{FF2B5EF4-FFF2-40B4-BE49-F238E27FC236}">
                <a16:creationId xmlns:a16="http://schemas.microsoft.com/office/drawing/2014/main" id="{3196AC03-F5E2-4957-5517-071B029753AE}"/>
              </a:ext>
            </a:extLst>
          </p:cNvPr>
          <p:cNvSpPr/>
          <p:nvPr/>
        </p:nvSpPr>
        <p:spPr bwMode="gray">
          <a:xfrm>
            <a:off x="9125111" y="5734055"/>
            <a:ext cx="1941156" cy="216000"/>
          </a:xfrm>
          <a:prstGeom prst="homePlate">
            <a:avLst>
              <a:gd name="adj" fmla="val 13397"/>
            </a:avLst>
          </a:prstGeom>
          <a:solidFill>
            <a:schemeClr val="accent3">
              <a:lumMod val="20000"/>
              <a:lumOff val="8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54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noProof="0">
                <a:solidFill>
                  <a:srgbClr val="000000"/>
                </a:solidFill>
                <a:latin typeface="Graphik"/>
                <a:cs typeface="Arial" pitchFamily="34" charset="0"/>
              </a:rPr>
              <a:t>Execution roadmap &amp; next steps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F2073B-D183-C779-054A-A402A8449035}"/>
              </a:ext>
            </a:extLst>
          </p:cNvPr>
          <p:cNvSpPr txBox="1"/>
          <p:nvPr/>
        </p:nvSpPr>
        <p:spPr>
          <a:xfrm>
            <a:off x="4398755" y="3649700"/>
            <a:ext cx="60223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228600">
              <a:spcAft>
                <a:spcPts val="1200"/>
              </a:spcAft>
            </a:pPr>
            <a:r>
              <a:rPr lang="en-US" sz="1050" i="1" noProof="0">
                <a:latin typeface="Palatino Linotype" panose="02040502050505030304" pitchFamily="18" charset="0"/>
              </a:rPr>
              <a:t>For each scenario: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D7943B2-EADE-9982-6040-422A45A10A2D}"/>
              </a:ext>
            </a:extLst>
          </p:cNvPr>
          <p:cNvSpPr/>
          <p:nvPr/>
        </p:nvSpPr>
        <p:spPr>
          <a:xfrm>
            <a:off x="5613502" y="6033054"/>
            <a:ext cx="174314" cy="1283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5C6D60-4B3D-3D81-5F8E-11EC1FF37D24}"/>
              </a:ext>
            </a:extLst>
          </p:cNvPr>
          <p:cNvSpPr txBox="1"/>
          <p:nvPr/>
        </p:nvSpPr>
        <p:spPr>
          <a:xfrm>
            <a:off x="3865122" y="5980092"/>
            <a:ext cx="173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/>
              <a:t>Readout:</a:t>
            </a:r>
            <a:r>
              <a:rPr lang="en-US" sz="900"/>
              <a:t> Critical requirements &amp; constraints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1B38E6F4-87EA-A28F-F076-CCD6664576F8}"/>
              </a:ext>
            </a:extLst>
          </p:cNvPr>
          <p:cNvSpPr/>
          <p:nvPr/>
        </p:nvSpPr>
        <p:spPr>
          <a:xfrm>
            <a:off x="9443126" y="6022478"/>
            <a:ext cx="182697" cy="1283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67D55-BBFF-F655-466E-6E52E5BDFE0D}"/>
              </a:ext>
            </a:extLst>
          </p:cNvPr>
          <p:cNvSpPr txBox="1"/>
          <p:nvPr/>
        </p:nvSpPr>
        <p:spPr>
          <a:xfrm>
            <a:off x="7651696" y="5959690"/>
            <a:ext cx="17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/>
              <a:t>Readout:</a:t>
            </a:r>
            <a:r>
              <a:rPr lang="en-US" sz="900"/>
              <a:t> Scenarios comparison analysis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F9E73CB-079F-F5BB-2238-E89C9D87A547}"/>
              </a:ext>
            </a:extLst>
          </p:cNvPr>
          <p:cNvSpPr/>
          <p:nvPr/>
        </p:nvSpPr>
        <p:spPr>
          <a:xfrm>
            <a:off x="7621846" y="6022478"/>
            <a:ext cx="182697" cy="1283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A763B-8220-2509-860D-4CA0EA2B038D}"/>
              </a:ext>
            </a:extLst>
          </p:cNvPr>
          <p:cNvSpPr txBox="1"/>
          <p:nvPr/>
        </p:nvSpPr>
        <p:spPr>
          <a:xfrm>
            <a:off x="5921765" y="5959690"/>
            <a:ext cx="1731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/>
              <a:t>Checkpoint:</a:t>
            </a:r>
            <a:r>
              <a:rPr lang="en-US" sz="900"/>
              <a:t> Analysis progress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84FECC1E-6EFF-67B3-6FAE-4F1782443DAE}"/>
              </a:ext>
            </a:extLst>
          </p:cNvPr>
          <p:cNvSpPr/>
          <p:nvPr/>
        </p:nvSpPr>
        <p:spPr>
          <a:xfrm>
            <a:off x="3240836" y="6033054"/>
            <a:ext cx="174314" cy="128341"/>
          </a:xfrm>
          <a:prstGeom prst="triangl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AD69B7-892C-5148-E611-B4FA5128EA99}"/>
              </a:ext>
            </a:extLst>
          </p:cNvPr>
          <p:cNvSpPr txBox="1"/>
          <p:nvPr/>
        </p:nvSpPr>
        <p:spPr>
          <a:xfrm>
            <a:off x="1492456" y="5980092"/>
            <a:ext cx="1731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/>
              <a:t>Kick-off</a:t>
            </a:r>
            <a:endParaRPr lang="en-US" sz="900"/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6382F66B-37DF-51EC-4B03-C28E1254B189}"/>
              </a:ext>
            </a:extLst>
          </p:cNvPr>
          <p:cNvSpPr/>
          <p:nvPr/>
        </p:nvSpPr>
        <p:spPr>
          <a:xfrm>
            <a:off x="5039523" y="3147363"/>
            <a:ext cx="121893" cy="1369695"/>
          </a:xfrm>
          <a:prstGeom prst="leftBrace">
            <a:avLst>
              <a:gd name="adj1" fmla="val 86475"/>
              <a:gd name="adj2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7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148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Semibold</vt:lpstr>
      <vt:lpstr>Palatino Linotype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2026-01-18T14:01:00Z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