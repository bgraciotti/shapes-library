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2A3FE97-3E09-75A1-3099-9C5ADC1464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6A8AA6-320A-E68E-5CFD-A99B2DEADB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691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85DDDA-9CC4-38D1-A807-2C0DAB3F80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DB8A98-EC96-EC11-AC69-88FFF3C09A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B652C4D-24E4-84E7-98BC-D161FE538349}"/>
              </a:ext>
            </a:extLst>
          </p:cNvPr>
          <p:cNvGrpSpPr/>
          <p:nvPr/>
        </p:nvGrpSpPr>
        <p:grpSpPr>
          <a:xfrm>
            <a:off x="438873" y="525932"/>
            <a:ext cx="11314254" cy="5463520"/>
            <a:chOff x="438873" y="525932"/>
            <a:chExt cx="11314254" cy="546352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C234128-EEED-0848-C722-A862042F2500}"/>
                </a:ext>
              </a:extLst>
            </p:cNvPr>
            <p:cNvGrpSpPr/>
            <p:nvPr/>
          </p:nvGrpSpPr>
          <p:grpSpPr>
            <a:xfrm>
              <a:off x="438873" y="525932"/>
              <a:ext cx="5760001" cy="5463520"/>
              <a:chOff x="438873" y="525932"/>
              <a:chExt cx="5760001" cy="5463520"/>
            </a:xfrm>
          </p:grpSpPr>
          <p:sp>
            <p:nvSpPr>
              <p:cNvPr id="12" name="Text Placeholder 18">
                <a:extLst>
                  <a:ext uri="{FF2B5EF4-FFF2-40B4-BE49-F238E27FC236}">
                    <a16:creationId xmlns:a16="http://schemas.microsoft.com/office/drawing/2014/main" id="{952890FE-2F8B-BDCF-15C0-C089FF1978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8874" y="525932"/>
                <a:ext cx="5760000" cy="315520"/>
              </a:xfrm>
              <a:prstGeom prst="rect">
                <a:avLst/>
              </a:prstGeom>
            </p:spPr>
            <p:txBody>
              <a:bodyPr wrap="square" lIns="46800" tIns="46800" rIns="46800" bIns="46800" anchor="t"/>
              <a:lstStyle>
                <a:lvl1pPr marL="0" indent="0" algn="l" defTabSz="2286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2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28600" indent="-228600" algn="l" defTabSz="2286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57200" indent="-228600" algn="l" defTabSz="2286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System Font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685800" indent="-228600" algn="l" defTabSz="2286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14400" indent="-228600" algn="l" defTabSz="2286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System Font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1113" indent="0" algn="l" defTabSz="2286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Graphik" panose="020B0503030202060203" pitchFamily="34" charset="0"/>
                  <a:buNone/>
                  <a:tabLst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2286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2286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2286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28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BR" sz="16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Graphik Semibold" panose="020B0703030202060203" pitchFamily="34" charset="0"/>
                    <a:ea typeface="+mn-ea"/>
                    <a:cs typeface="+mn-cs"/>
                  </a:rPr>
                  <a:t>Informação Confidencial</a:t>
                </a:r>
              </a:p>
            </p:txBody>
          </p:sp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65B705A3-0F76-5722-F2F4-9CE530F8DA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8873" y="841452"/>
                <a:ext cx="5760000" cy="514800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6800" tIns="46800" rIns="46800" bIns="46800" numCol="1" spcCol="360000" anchor="t" anchorCtr="0">
                <a:noAutofit/>
              </a:bodyPr>
              <a:lstStyle>
                <a:lvl1pPr defTabSz="914400">
                  <a:lnSpc>
                    <a:spcPct val="90000"/>
                  </a:lnSpc>
                  <a:defRPr sz="3200" b="1">
                    <a:solidFill>
                      <a:srgbClr val="653296"/>
                    </a:solidFill>
                    <a:latin typeface="Officina Serif ITC TT"/>
                    <a:ea typeface="Officina Serif ITC TT"/>
                    <a:cs typeface="Officina Serif ITC TT"/>
                    <a:sym typeface="Officina Serif ITC TT"/>
                  </a:defRPr>
                </a:lvl1pPr>
              </a:lstStyle>
              <a:p>
                <a:pPr marL="0" marR="0" lvl="0" indent="0" algn="just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400" b="0" i="0" u="none" strike="noStrik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 Light" panose="020B0403030202060203" pitchFamily="34" charset="0"/>
                    <a:cs typeface="Calibri" panose="020F0502020204030204" pitchFamily="34" charset="0"/>
                    <a:sym typeface="Officina Serif ITC TT"/>
                  </a:rPr>
                  <a:t>O conteúdo desta Proposta Técnica e Comercial (“Proposta”) é estritamente confidencial e inclui ideias e materiais de propriedade da Accenture do Brasil Ltda. inscrita no CNPJ/MF sob o No. 96.534.094/0001-58 (“Accenture”), devendo ser usado única e exclusivamente para avaliar a nossa capacitação técnica em assessorar o </a:t>
                </a:r>
                <a:r>
                  <a:rPr kumimoji="0" lang="pt-BR" sz="1400" b="0" i="0" u="none" strike="noStrik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Graphik Light" panose="020B0403030202060203" pitchFamily="34" charset="0"/>
                    <a:cs typeface="Calibri" panose="020F0502020204030204" pitchFamily="34" charset="0"/>
                    <a:sym typeface="Officina Serif ITC TT"/>
                  </a:rPr>
                  <a:t>Itaú Unibanco Holding S.A.</a:t>
                </a:r>
                <a:r>
                  <a:rPr kumimoji="0" lang="pt-BR" sz="1400" b="0" i="0" u="none" strike="noStrik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 Light" panose="020B0403030202060203" pitchFamily="34" charset="0"/>
                    <a:cs typeface="Calibri" panose="020F0502020204030204" pitchFamily="34" charset="0"/>
                    <a:sym typeface="Officina Serif ITC TT"/>
                  </a:rPr>
                  <a:t> inscrito no CNPJ/MF sob o No. </a:t>
                </a:r>
                <a:r>
                  <a:rPr kumimoji="0" lang="pt-BR" sz="1400" b="0" i="0" u="none" strike="noStrik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Graphik Light" panose="020B0403030202060203" pitchFamily="34" charset="0"/>
                    <a:cs typeface="Calibri" panose="020F0502020204030204" pitchFamily="34" charset="0"/>
                    <a:sym typeface="Officina Serif ITC TT"/>
                  </a:rPr>
                  <a:t>60.872.504/0001-23 (“Itaú”</a:t>
                </a:r>
                <a:r>
                  <a:rPr kumimoji="0" lang="pt-BR" sz="1400" b="0" i="0" u="none" strike="noStrik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 Light" panose="020B0403030202060203" pitchFamily="34" charset="0"/>
                    <a:cs typeface="Calibri" panose="020F0502020204030204" pitchFamily="34" charset="0"/>
                    <a:sym typeface="Officina Serif ITC TT"/>
                  </a:rPr>
                  <a:t> ou “Cliente”) na prestação dos serviços ora propostos no âmbito do projeto nomeado “</a:t>
                </a:r>
                <a:r>
                  <a:rPr kumimoji="0" lang="pt-BR" sz="1400" b="0" i="0" u="none" strike="noStrik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Graphik Light" panose="020B0403030202060203" pitchFamily="34" charset="0"/>
                    <a:cs typeface="Calibri" panose="020F0502020204030204" pitchFamily="34" charset="0"/>
                    <a:sym typeface="Officina Serif ITC TT"/>
                  </a:rPr>
                  <a:t>xxxx</a:t>
                </a:r>
                <a:r>
                  <a:rPr kumimoji="0" lang="pt-BR" sz="1400" b="0" i="0" u="none" strike="noStrik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 Light" panose="020B0403030202060203" pitchFamily="34" charset="0"/>
                    <a:cs typeface="Calibri" panose="020F0502020204030204" pitchFamily="34" charset="0"/>
                    <a:sym typeface="Officina Serif ITC TT"/>
                  </a:rPr>
                  <a:t>” (“Projeto”). </a:t>
                </a:r>
              </a:p>
              <a:p>
                <a:pPr marL="0" marR="0" lvl="0" indent="0" algn="l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400" b="0" i="0" u="none" strike="noStrike" kern="120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 panose="020B0403030202060203" pitchFamily="34" charset="0"/>
                  <a:cs typeface="Calibri" panose="020F0502020204030204" pitchFamily="34" charset="0"/>
                  <a:sym typeface="Officina Serif ITC TT"/>
                </a:endParaRPr>
              </a:p>
              <a:p>
                <a:pPr marL="0" marR="0" lvl="0" indent="0" algn="l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400" b="0" i="0" u="none" strike="noStrik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 Light" panose="020B0403030202060203" pitchFamily="34" charset="0"/>
                    <a:cs typeface="Calibri" panose="020F0502020204030204" pitchFamily="34" charset="0"/>
                    <a:sym typeface="Officina Serif ITC TT"/>
                  </a:rPr>
                  <a:t>Este material é estritamente confidencial e não poderá ser acessado por pessoas, dentro ou fora do Cliente que não estejam diretamente ligadas ao processo de avaliação ou ser utilizado para outros fins que não a própria avaliação.</a:t>
                </a:r>
              </a:p>
              <a:p>
                <a:pPr marL="0" marR="0" lvl="0" indent="0" algn="l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400" b="0" i="0" u="none" strike="noStrike" kern="120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 panose="020B0403030202060203" pitchFamily="34" charset="0"/>
                  <a:cs typeface="Calibri" panose="020F0502020204030204" pitchFamily="34" charset="0"/>
                  <a:sym typeface="Officina Serif ITC TT"/>
                </a:endParaRPr>
              </a:p>
              <a:p>
                <a:pPr marL="0" marR="0" lvl="0" indent="0" algn="l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400" b="0" i="0" u="none" strike="noStrik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 Light" panose="020B0403030202060203" pitchFamily="34" charset="0"/>
                    <a:cs typeface="Calibri" panose="020F0502020204030204" pitchFamily="34" charset="0"/>
                    <a:sym typeface="Officina Serif ITC TT"/>
                  </a:rPr>
                  <a:t>Sob nenhuma hipótese outra empresa que não o Cliente pode ter acesso a estes materiais sem a autorização prévia e explícita da Accenture.</a:t>
                </a:r>
              </a:p>
              <a:p>
                <a:pPr marL="0" marR="0" lvl="0" indent="0" algn="l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400" b="0" i="0" u="none" strike="noStrike" kern="120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 panose="020B0403030202060203" pitchFamily="34" charset="0"/>
                  <a:cs typeface="Calibri" panose="020F0502020204030204" pitchFamily="34" charset="0"/>
                  <a:sym typeface="Officina Serif ITC TT"/>
                </a:endParaRPr>
              </a:p>
              <a:p>
                <a:pPr marL="0" marR="0" lvl="0" indent="0" algn="l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400" b="0" i="0" u="none" strike="noStrik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 Light" panose="020B0403030202060203" pitchFamily="34" charset="0"/>
                    <a:cs typeface="Calibri" panose="020F0502020204030204" pitchFamily="34" charset="0"/>
                    <a:sym typeface="Officina Serif ITC TT"/>
                  </a:rPr>
                  <a:t>Ao final do processo de avaliação, e caso nossa Proposta não seja aceita pelo Cliente, ela deverá ser retornada à Contratada ou destruída em sua totalidade pelo Cliente.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B19D1C0-7677-E290-833D-1A07E5F0B970}"/>
                </a:ext>
              </a:extLst>
            </p:cNvPr>
            <p:cNvGrpSpPr/>
            <p:nvPr/>
          </p:nvGrpSpPr>
          <p:grpSpPr>
            <a:xfrm>
              <a:off x="6749127" y="525932"/>
              <a:ext cx="5004000" cy="2835520"/>
              <a:chOff x="6749127" y="525932"/>
              <a:chExt cx="5004000" cy="2835520"/>
            </a:xfrm>
          </p:grpSpPr>
          <p:sp>
            <p:nvSpPr>
              <p:cNvPr id="10" name="Text Placeholder 18">
                <a:extLst>
                  <a:ext uri="{FF2B5EF4-FFF2-40B4-BE49-F238E27FC236}">
                    <a16:creationId xmlns:a16="http://schemas.microsoft.com/office/drawing/2014/main" id="{BBE127D4-F5AF-F2AE-43BF-5EF1E9B323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49127" y="525932"/>
                <a:ext cx="5004000" cy="315520"/>
              </a:xfrm>
              <a:prstGeom prst="rect">
                <a:avLst/>
              </a:prstGeom>
            </p:spPr>
            <p:txBody>
              <a:bodyPr wrap="square" lIns="46800" tIns="46800" rIns="46800" bIns="46800" anchor="t"/>
              <a:lstStyle>
                <a:lvl1pPr marL="0" indent="0" algn="l" defTabSz="2286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2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28600" indent="-228600" algn="l" defTabSz="2286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57200" indent="-228600" algn="l" defTabSz="2286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System Font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685800" indent="-228600" algn="l" defTabSz="2286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14400" indent="-228600" algn="l" defTabSz="2286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System Font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1113" indent="0" algn="l" defTabSz="2286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Graphik" panose="020B0503030202060203" pitchFamily="34" charset="0"/>
                  <a:buNone/>
                  <a:tabLst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2286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2286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2286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28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BR" sz="1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Graphik Semibold" panose="020B0703030202060203" pitchFamily="34" charset="0"/>
                    <a:ea typeface="+mn-ea"/>
                    <a:cs typeface="+mn-cs"/>
                  </a:rPr>
                  <a:t>Termos e condições</a:t>
                </a:r>
              </a:p>
            </p:txBody>
          </p:sp>
          <p:sp>
            <p:nvSpPr>
              <p:cNvPr id="11" name="Title 1">
                <a:extLst>
                  <a:ext uri="{FF2B5EF4-FFF2-40B4-BE49-F238E27FC236}">
                    <a16:creationId xmlns:a16="http://schemas.microsoft.com/office/drawing/2014/main" id="{208A32D2-9C30-F896-8214-C3C4481BF0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49127" y="841452"/>
                <a:ext cx="5004000" cy="252000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6800" tIns="46800" rIns="46800" bIns="46800" numCol="1" spcCol="360000" anchor="t" anchorCtr="0">
                <a:noAutofit/>
              </a:bodyPr>
              <a:lstStyle>
                <a:lvl1pPr defTabSz="914400">
                  <a:lnSpc>
                    <a:spcPct val="90000"/>
                  </a:lnSpc>
                  <a:defRPr sz="3200" b="1">
                    <a:solidFill>
                      <a:srgbClr val="653296"/>
                    </a:solidFill>
                    <a:latin typeface="Officina Serif ITC TT"/>
                    <a:ea typeface="Officina Serif ITC TT"/>
                    <a:cs typeface="Officina Serif ITC TT"/>
                    <a:sym typeface="Officina Serif ITC TT"/>
                  </a:defRPr>
                </a:lvl1pPr>
              </a:lstStyle>
              <a:p>
                <a:pPr marL="0" marR="0" lvl="0" indent="0" algn="l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100" b="0" i="0" u="non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raphik Light" panose="020B0403030202060203" pitchFamily="34" charset="0"/>
                    <a:cs typeface="Calibri" panose="020F0502020204030204" pitchFamily="34" charset="0"/>
                    <a:sym typeface="Officina Serif ITC TT"/>
                  </a:rPr>
                  <a:t>Os serviços objeto dessa Proposta serão regidos pelas disposições constantes neste documento e pelos Termos e Condições Gerais de Prestação de Serviços da Accenture e/ou suas Coligadas acessíveis pelo seguinte link (https://www.accenture.com/br-pt/about/legal/prestacao-de-servicos) (“Termos e Condições”). </a:t>
                </a:r>
              </a:p>
              <a:p>
                <a:pPr marL="0" marR="0" lvl="0" indent="0" algn="l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0" i="0" u="non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raphik Light" panose="020B0403030202060203" pitchFamily="34" charset="0"/>
                  <a:cs typeface="Calibri" panose="020F0502020204030204" pitchFamily="34" charset="0"/>
                  <a:sym typeface="Officina Serif ITC TT"/>
                </a:endParaRPr>
              </a:p>
              <a:p>
                <a:pPr marL="0" marR="0" lvl="0" indent="0" algn="l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100" b="0" i="0" u="non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raphik Light" panose="020B0403030202060203" pitchFamily="34" charset="0"/>
                    <a:cs typeface="Calibri" panose="020F0502020204030204" pitchFamily="34" charset="0"/>
                    <a:sym typeface="Officina Serif ITC TT"/>
                  </a:rPr>
                  <a:t>Caso as Partes entendam necessária a celebração de um “Contrato de Prestação de Serviços”, este deverá ser negociado com base nos referidos Termos e Condições e nas premissas constantes desta Proposta. </a:t>
                </a:r>
              </a:p>
              <a:p>
                <a:pPr marL="0" marR="0" lvl="0" indent="0" algn="l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0" i="0" u="non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raphik Light" panose="020B0403030202060203" pitchFamily="34" charset="0"/>
                  <a:cs typeface="Calibri" panose="020F0502020204030204" pitchFamily="34" charset="0"/>
                  <a:sym typeface="Officina Serif ITC TT"/>
                </a:endParaRPr>
              </a:p>
              <a:p>
                <a:pPr marL="0" marR="0" lvl="0" indent="0" algn="l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100" b="0" i="0" u="non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raphik Light" panose="020B0403030202060203" pitchFamily="34" charset="0"/>
                    <a:cs typeface="Calibri" panose="020F0502020204030204" pitchFamily="34" charset="0"/>
                    <a:sym typeface="Officina Serif ITC TT"/>
                  </a:rPr>
                  <a:t>Entretanto, em caso de conflito entre os Termos e Condições e as condições específicas contidas na Proposta, estas últimas prevalecerão e caso as Partes decidam firmar um contrato específico para a prestação dos Serviços após a aprovação da Proposta, as disposições do Contrato prevalecerão.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1ECDBF-8924-76DD-7522-334A5CDB66C3}"/>
                </a:ext>
              </a:extLst>
            </p:cNvPr>
            <p:cNvGrpSpPr/>
            <p:nvPr/>
          </p:nvGrpSpPr>
          <p:grpSpPr>
            <a:xfrm>
              <a:off x="6749127" y="3657931"/>
              <a:ext cx="5004000" cy="2331520"/>
              <a:chOff x="6749127" y="3618479"/>
              <a:chExt cx="5004000" cy="2331520"/>
            </a:xfrm>
          </p:grpSpPr>
          <p:sp>
            <p:nvSpPr>
              <p:cNvPr id="8" name="Text Placeholder 18">
                <a:extLst>
                  <a:ext uri="{FF2B5EF4-FFF2-40B4-BE49-F238E27FC236}">
                    <a16:creationId xmlns:a16="http://schemas.microsoft.com/office/drawing/2014/main" id="{CC9FCD52-3D82-43BC-38D0-8E84618F9E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49127" y="3618479"/>
                <a:ext cx="5004000" cy="315520"/>
              </a:xfrm>
              <a:prstGeom prst="rect">
                <a:avLst/>
              </a:prstGeom>
            </p:spPr>
            <p:txBody>
              <a:bodyPr wrap="square" lIns="46800" tIns="46800" rIns="46800" bIns="46800" anchor="t"/>
              <a:lstStyle>
                <a:lvl1pPr marL="0" indent="0" algn="l" defTabSz="2286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2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28600" indent="-228600" algn="l" defTabSz="2286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57200" indent="-228600" algn="l" defTabSz="2286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System Font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685800" indent="-228600" algn="l" defTabSz="2286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14400" indent="-228600" algn="l" defTabSz="2286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System Font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1113" indent="0" algn="l" defTabSz="2286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Graphik" panose="020B0503030202060203" pitchFamily="34" charset="0"/>
                  <a:buNone/>
                  <a:tabLst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2286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2286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2286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28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BR" sz="1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Graphik Semibold" panose="020B0703030202060203" pitchFamily="34" charset="0"/>
                    <a:ea typeface="+mn-ea"/>
                    <a:cs typeface="+mn-cs"/>
                  </a:rPr>
                  <a:t>Non-</a:t>
                </a:r>
                <a:r>
                  <a:rPr kumimoji="0" lang="pt-BR" sz="1400" b="0" i="0" u="none" strike="noStrike" kern="1200" cap="none" spc="0" normalizeH="0" baseline="0" noProof="0" err="1">
                    <a:ln>
                      <a:noFill/>
                    </a:ln>
                    <a:effectLst/>
                    <a:uLnTx/>
                    <a:uFillTx/>
                    <a:latin typeface="Graphik Semibold" panose="020B0703030202060203" pitchFamily="34" charset="0"/>
                    <a:ea typeface="+mn-ea"/>
                    <a:cs typeface="+mn-cs"/>
                  </a:rPr>
                  <a:t>Binding</a:t>
                </a:r>
                <a:r>
                  <a:rPr kumimoji="0" lang="pt-BR" sz="1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Graphik Semibold" panose="020B0703030202060203" pitchFamily="34" charset="0"/>
                    <a:ea typeface="+mn-ea"/>
                    <a:cs typeface="+mn-cs"/>
                  </a:rPr>
                  <a:t> </a:t>
                </a:r>
                <a:r>
                  <a:rPr kumimoji="0" lang="pt-BR" sz="1400" b="0" i="0" u="none" strike="noStrike" kern="1200" cap="none" spc="0" normalizeH="0" baseline="0" noProof="0" err="1">
                    <a:ln>
                      <a:noFill/>
                    </a:ln>
                    <a:effectLst/>
                    <a:uLnTx/>
                    <a:uFillTx/>
                    <a:latin typeface="Graphik Semibold" panose="020B0703030202060203" pitchFamily="34" charset="0"/>
                    <a:ea typeface="+mn-ea"/>
                    <a:cs typeface="+mn-cs"/>
                  </a:rPr>
                  <a:t>Disclaimer</a:t>
                </a:r>
                <a:endParaRPr kumimoji="0" lang="pt-BR" sz="1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BB597F22-F94F-B1D9-A63A-494A85885F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49127" y="3933999"/>
                <a:ext cx="5004000" cy="201600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wrap="square" lIns="46800" tIns="46800" rIns="46800" bIns="46800" numCol="1" spcCol="360000" anchor="t" anchorCtr="0">
                <a:noAutofit/>
              </a:bodyPr>
              <a:lstStyle>
                <a:lvl1pPr defTabSz="914400">
                  <a:lnSpc>
                    <a:spcPct val="90000"/>
                  </a:lnSpc>
                  <a:defRPr sz="3200" b="1">
                    <a:solidFill>
                      <a:srgbClr val="653296"/>
                    </a:solidFill>
                    <a:latin typeface="Officina Serif ITC TT"/>
                    <a:ea typeface="Officina Serif ITC TT"/>
                    <a:cs typeface="Officina Serif ITC TT"/>
                    <a:sym typeface="Officina Serif ITC TT"/>
                  </a:defRPr>
                </a:lvl1pPr>
              </a:lstStyle>
              <a:p>
                <a:pPr marL="0" marR="0" lvl="0" indent="0" algn="l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100" b="0" i="0" u="non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 Light" panose="020B0403030202060203" pitchFamily="34" charset="0"/>
                    <a:cs typeface="Calibri" panose="020F0502020204030204" pitchFamily="34" charset="0"/>
                    <a:sym typeface="Officina Serif ITC TT"/>
                  </a:rPr>
                  <a:t>Ressaltamos que essa Proposta está sendo avaliada pela Accenture e ainda não foi aprovada. </a:t>
                </a:r>
              </a:p>
              <a:p>
                <a:pPr marL="0" marR="0" lvl="0" indent="0" algn="l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0" i="0" u="none" kern="120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 panose="020B0403030202060203" pitchFamily="34" charset="0"/>
                  <a:cs typeface="Calibri" panose="020F0502020204030204" pitchFamily="34" charset="0"/>
                  <a:sym typeface="Officina Serif ITC TT"/>
                </a:endParaRPr>
              </a:p>
              <a:p>
                <a:pPr marL="0" marR="0" lvl="0" indent="0" algn="l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100" b="0" i="0" u="non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 Light" panose="020B0403030202060203" pitchFamily="34" charset="0"/>
                    <a:cs typeface="Calibri" panose="020F0502020204030204" pitchFamily="34" charset="0"/>
                    <a:sym typeface="Officina Serif ITC TT"/>
                  </a:rPr>
                  <a:t>Assim, fica desde já ressalvado que se, por qualquer razão, esta Proposta não for aprovada, ou for determinada alguma alteração a Accenture se reserva no direito de proceder com os ajustes necessários na Proposta e a submeterá à nova apreciação do Cliente. </a:t>
                </a:r>
              </a:p>
              <a:p>
                <a:pPr marL="0" marR="0" lvl="0" indent="0" algn="l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100" b="0" i="0" u="none" kern="120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 panose="020B0403030202060203" pitchFamily="34" charset="0"/>
                  <a:cs typeface="Calibri" panose="020F0502020204030204" pitchFamily="34" charset="0"/>
                  <a:sym typeface="Officina Serif ITC TT"/>
                </a:endParaRPr>
              </a:p>
              <a:p>
                <a:pPr marL="0" marR="0" lvl="0" indent="0" algn="l" defTabSz="96837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100" b="0" i="0" u="non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 Light" panose="020B0403030202060203" pitchFamily="34" charset="0"/>
                    <a:cs typeface="Calibri" panose="020F0502020204030204" pitchFamily="34" charset="0"/>
                    <a:sym typeface="Officina Serif ITC TT"/>
                  </a:rPr>
                  <a:t>Caso as alterações não sejam aceitas pelo Cliente, esta Proposta perderá todos os seus efeitos, não sendo devida nenhuma indenização entre as Partes.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7217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441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Graphik</vt:lpstr>
      <vt:lpstr>Graphik Light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2026-02-10T20:01:21Z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